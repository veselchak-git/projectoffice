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305" r:id="rId12"/>
    <p:sldId id="274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8" r:id="rId21"/>
    <p:sldId id="302" r:id="rId22"/>
    <p:sldId id="300" r:id="rId23"/>
    <p:sldId id="301" r:id="rId24"/>
    <p:sldId id="291" r:id="rId25"/>
    <p:sldId id="292" r:id="rId26"/>
    <p:sldId id="293" r:id="rId27"/>
    <p:sldId id="297" r:id="rId28"/>
    <p:sldId id="304" r:id="rId29"/>
    <p:sldId id="299" r:id="rId30"/>
    <p:sldId id="303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2" autoAdjust="0"/>
    <p:restoredTop sz="82603"/>
  </p:normalViewPr>
  <p:slideViewPr>
    <p:cSldViewPr snapToGrid="0">
      <p:cViewPr varScale="1">
        <p:scale>
          <a:sx n="104" d="100"/>
          <a:sy n="104" d="100"/>
        </p:scale>
        <p:origin x="3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Прототипно</a:t>
            </a:r>
            <a:r>
              <a:rPr lang="ru-RU" dirty="0"/>
              <a:t> </a:t>
            </a:r>
            <a:r>
              <a:rPr lang="ru-RU" dirty="0" err="1"/>
              <a:t>ориентирвоанный</a:t>
            </a:r>
            <a:r>
              <a:rPr lang="ru-RU" dirty="0"/>
              <a:t> – базовая единица это </a:t>
            </a:r>
            <a:r>
              <a:rPr lang="ru-RU" dirty="0" err="1"/>
              <a:t>обьект</a:t>
            </a:r>
            <a:r>
              <a:rPr lang="ru-RU" dirty="0"/>
              <a:t> (а не класс как в </a:t>
            </a:r>
            <a:r>
              <a:rPr lang="en-US" dirty="0"/>
              <a:t>java)</a:t>
            </a:r>
            <a:r>
              <a:rPr lang="ru-RU" dirty="0"/>
              <a:t>.</a:t>
            </a:r>
          </a:p>
          <a:p>
            <a:r>
              <a:rPr lang="ru-RU" dirty="0"/>
              <a:t>Слабо типизированный – есть приведение типов</a:t>
            </a:r>
          </a:p>
          <a:p>
            <a:r>
              <a:rPr lang="ru-RU" dirty="0"/>
              <a:t>Динамическая </a:t>
            </a:r>
            <a:r>
              <a:rPr lang="ru-RU" dirty="0" err="1"/>
              <a:t>типизиация</a:t>
            </a:r>
            <a:r>
              <a:rPr lang="ru-RU" dirty="0"/>
              <a:t>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определяется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не объявлением (</a:t>
            </a:r>
            <a:r>
              <a:rPr lang="ru-RU" b="1" dirty="0">
                <a:effectLst/>
              </a:rPr>
              <a:t>Тип привязан к значению в момент выполнения</a:t>
            </a:r>
            <a:r>
              <a:rPr lang="ru-RU" dirty="0">
                <a:effectLst/>
              </a:rPr>
              <a:t>, а не к переменной на этапе компиляции)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Статическая типизация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наоборот: тип известен заранее и зафиксирован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Интерпретируемый – нужен движок для выполнения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Мультипарадигменный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несколько парадигм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ооп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функциональный, императивный, процедурный, событийный</a:t>
            </a:r>
          </a:p>
          <a:p>
            <a:r>
              <a:rPr lang="ru-RU" sz="1200" dirty="0">
                <a:solidFill>
                  <a:schemeClr val="bg1"/>
                </a:solidFill>
              </a:rPr>
              <a:t>Функции как </a:t>
            </a:r>
            <a:r>
              <a:rPr lang="ru-RU" sz="1200" dirty="0" err="1">
                <a:solidFill>
                  <a:schemeClr val="bg1"/>
                </a:solidFill>
              </a:rPr>
              <a:t>обьекты</a:t>
            </a:r>
            <a:r>
              <a:rPr lang="ru-RU" sz="1200" dirty="0">
                <a:solidFill>
                  <a:schemeClr val="bg1"/>
                </a:solidFill>
              </a:rPr>
              <a:t> первого класса – функция может возвращать другую функцию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40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E40C-224D-C456-BF2C-14B7E1C7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03AC17-E3F8-9119-5B22-086EF304F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246FEB-A139-5A38-9007-B8A7CE706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Показать проект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3ACEFB-4867-6DA4-8EC1-E8543CDCB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730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9D3B5-C082-4C73-A049-E57A2C46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59D681-B441-D6CB-72F9-7C11CA647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2F843C-BE81-BA62-EB68-ED53DD139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614E86-350A-FF94-C28C-5D693E99A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74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3F52-8739-0FC4-A007-04B0C9C2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32CCAA-CABC-F4CB-32BA-DD5D234EB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C35319-C70E-9C95-E757-F023ABA0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196F9F-437B-9120-ADF3-5DE1E58B5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267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77F1-779F-0290-7928-84857969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AB1251-3732-55BC-E4F4-3475DE532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6A6E030-EA72-9027-53EF-D2D5FA365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891AFF-977B-25EC-DE9A-A02C3D845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902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1669-2ABB-5AFD-DAF9-593F1442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F6F2A5-74E8-3ADD-3DB2-3D7945693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8484E5F-8645-782F-A7BE-3BA0FCB3C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DA2B-89AF-19CB-018A-401394815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54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6DDA-A08B-8885-2946-6A2179F0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1121DC-79EE-CD0C-0275-63D727F2A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EEB1300-7C2A-F3AF-1FFF-EEC052786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EFE51-E26B-DD04-F662-7BBD64E4F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315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EE5C-ACF9-CB56-A360-22CE9466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C1AC32-1796-FFB0-56AF-3E7A87975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21E2E2F-113A-FE74-FC9F-862EC1289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DA6ACF-3F1D-374B-2C65-112056464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163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BA53-ECE5-DCC1-22E8-FC38E364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58F0F2-BEDF-38D1-6BCD-5BB0976ED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070F89-4563-13E3-4909-EB9B9B624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DA8AFF-F736-5872-B403-23B507C2C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755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0C5E-6459-D24A-B20D-96CAF77D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41E2E5-3FA7-DC83-C5A7-B50175758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78D07D9-8BFB-7DE4-154D-DD0DD733D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BB9983-81F5-2209-5E50-B9766C39E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406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F3083-5B7F-2DC5-C447-34005E4D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8B50B7-CFB3-75A5-3C4B-8938BCBF8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F1FE37-F6F5-692E-0D6E-3ACF015BC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402AD6-A2EA-B2BD-7D73-D09C627DF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908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F1A27-D149-4D0B-42D3-00AFA742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8FF730-5020-B559-DD4E-EABC5ABF1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646923-8647-E295-5802-82F005A1B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9C26AD-36F3-A23E-ECB8-34EA21434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788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A3E8-08CD-690B-139B-5FCC51B84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FE683F-143D-C33F-4E2D-31BC7B6CC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C5645D-0DF4-219A-2083-0C88AAF1B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B44D2F-8E7E-C7D3-E94C-510D86582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022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D741-8BFF-6848-A1A6-5E895B39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8B77A3-53DF-CFB5-7806-2D62E1B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00DD53-56F6-8417-13C8-13858EA25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E3A4A4-622C-0068-C325-EBC24F4E2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380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6385-D58F-18C5-8B62-5707D86C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0B5254-C37F-85D1-1BB8-B2CF8F3E7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840EF3-01C9-9A66-3C7F-2D446FC3E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024990-397A-D842-CE67-C4124AECB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288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B94A-97AF-9791-9986-F27F5A6A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29776A-4FD4-944D-B81C-C376C7ECD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A9A6A78-5909-499C-5ED0-6F093EDF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044020-C5F2-15AE-C5B7-9D798FDBB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5306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013A-664D-E693-E5A7-76AAF9A8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4A35F27-CCAF-7AAF-7D59-1852B2E92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61B703-0DAD-EFBF-94A9-9BB965352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BFA20F-B9E4-15A0-3956-3C2B8C9E7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595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5FDDC-E416-C1FC-B44B-E366931A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D17B584-61BA-AECB-6E58-79474EC1E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0CCEB-2820-6159-3EFF-3C0C5D0A8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183BFB-C900-7BC3-04E7-5AD4B51B7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85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DajDASxn-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playlist?list=PLcvhF2Wqh7DNVy1OCUpG3i5lyxyBWhGZ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6311728" cy="2086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1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Знакомство с проектом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Основы </a:t>
            </a:r>
            <a:r>
              <a:rPr lang="en-US" sz="4800" dirty="0">
                <a:solidFill>
                  <a:schemeClr val="bg1"/>
                </a:solidFill>
              </a:rPr>
              <a:t>React</a:t>
            </a:r>
            <a:endParaRPr lang="ru-RU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8C615-A1C8-14AC-FF41-8F6C3C60655F}"/>
              </a:ext>
            </a:extLst>
          </p:cNvPr>
          <p:cNvSpPr txBox="1"/>
          <p:nvPr/>
        </p:nvSpPr>
        <p:spPr>
          <a:xfrm>
            <a:off x="485191" y="584717"/>
            <a:ext cx="659985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История </a:t>
            </a:r>
            <a:r>
              <a:rPr lang="en-US" sz="6600" dirty="0">
                <a:solidFill>
                  <a:schemeClr val="bg1"/>
                </a:solidFill>
              </a:rPr>
              <a:t>JavaScript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168D2-72F0-B0CA-4725-E3BE325B2FD5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3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EA2BA-EA1C-5E4A-197A-173A25A4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132445-0881-DB7A-84C4-89EA4BD7456F}"/>
              </a:ext>
            </a:extLst>
          </p:cNvPr>
          <p:cNvSpPr txBox="1"/>
          <p:nvPr/>
        </p:nvSpPr>
        <p:spPr>
          <a:xfrm>
            <a:off x="485190" y="584717"/>
            <a:ext cx="11340225" cy="557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chemeClr val="bg1"/>
                </a:solidFill>
              </a:rPr>
              <a:t>JavaScript </a:t>
            </a:r>
            <a:r>
              <a:rPr lang="ru-RU" sz="6000" dirty="0">
                <a:solidFill>
                  <a:schemeClr val="bg1"/>
                </a:solidFill>
              </a:rPr>
              <a:t>– это </a:t>
            </a:r>
          </a:p>
          <a:p>
            <a:pPr>
              <a:lnSpc>
                <a:spcPct val="90000"/>
              </a:lnSpc>
            </a:pPr>
            <a:r>
              <a:rPr lang="ru-RU" sz="4800" dirty="0" err="1">
                <a:solidFill>
                  <a:schemeClr val="bg1"/>
                </a:solidFill>
              </a:rPr>
              <a:t>Прототипно</a:t>
            </a:r>
            <a:r>
              <a:rPr lang="ru-RU" sz="4800" dirty="0">
                <a:solidFill>
                  <a:schemeClr val="bg1"/>
                </a:solidFill>
              </a:rPr>
              <a:t>-ориентированный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Слабо (типизированный) 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Динамически типизированный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Интерпретируемый </a:t>
            </a:r>
          </a:p>
          <a:p>
            <a:pPr>
              <a:lnSpc>
                <a:spcPct val="90000"/>
              </a:lnSpc>
            </a:pPr>
            <a:r>
              <a:rPr lang="ru-RU" sz="4800" dirty="0" err="1">
                <a:solidFill>
                  <a:schemeClr val="bg1"/>
                </a:solidFill>
              </a:rPr>
              <a:t>Мультипарадигменный</a:t>
            </a:r>
            <a:endParaRPr lang="ru-RU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Язык программирования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Функции как </a:t>
            </a:r>
            <a:r>
              <a:rPr lang="ru-RU" sz="4800" dirty="0" err="1">
                <a:solidFill>
                  <a:schemeClr val="bg1"/>
                </a:solidFill>
              </a:rPr>
              <a:t>обьекты</a:t>
            </a:r>
            <a:r>
              <a:rPr lang="ru-RU" sz="4800" dirty="0">
                <a:solidFill>
                  <a:schemeClr val="bg1"/>
                </a:solidFill>
              </a:rPr>
              <a:t> первого класса</a:t>
            </a:r>
          </a:p>
        </p:txBody>
      </p:sp>
    </p:spTree>
    <p:extLst>
      <p:ext uri="{BB962C8B-B14F-4D97-AF65-F5344CB8AC3E}">
        <p14:creationId xmlns:p14="http://schemas.microsoft.com/office/powerpoint/2010/main" val="108590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C230E-23CC-0466-64DA-AC5169C1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04E9C6-D9B9-8AD5-7341-09021C5D9C08}"/>
              </a:ext>
            </a:extLst>
          </p:cNvPr>
          <p:cNvSpPr txBox="1"/>
          <p:nvPr/>
        </p:nvSpPr>
        <p:spPr>
          <a:xfrm>
            <a:off x="485191" y="584717"/>
            <a:ext cx="6599854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Что делаем в рамках курсовой работы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75ADE-CE2D-9ED1-A892-D07C4B8F6326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228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2" y="380010"/>
            <a:ext cx="415511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Helpdesk-portal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70B05-EBC3-3A34-5696-C197D7A98261}"/>
              </a:ext>
            </a:extLst>
          </p:cNvPr>
          <p:cNvSpPr txBox="1"/>
          <p:nvPr/>
        </p:nvSpPr>
        <p:spPr>
          <a:xfrm>
            <a:off x="470912" y="1137140"/>
            <a:ext cx="4548957" cy="40318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C1B1B"/>
                </a:solidFill>
                <a:cs typeface="Arial" panose="020B0604020202020204" pitchFamily="34" charset="0"/>
              </a:rPr>
              <a:t>Система предназначена для регистрации, учёта, классификации, назначения и отслеживания жизненного цикла дефектов (багов), задач и запросов на доработку программного обеспечения в рамках проектной деятельности организации.</a:t>
            </a:r>
            <a:endParaRPr lang="en-US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C1B1B"/>
                </a:solidFill>
                <a:cs typeface="Arial" panose="020B0604020202020204" pitchFamily="34" charset="0"/>
              </a:rPr>
              <a:t>Аналог </a:t>
            </a:r>
            <a:r>
              <a:rPr lang="en" sz="1600" dirty="0" err="1">
                <a:solidFill>
                  <a:srgbClr val="1C1B1B"/>
                </a:solidFill>
                <a:cs typeface="Arial" panose="020B0604020202020204" pitchFamily="34" charset="0"/>
              </a:rPr>
              <a:t>MantisBT</a:t>
            </a:r>
            <a:r>
              <a:rPr lang="en" sz="1600" dirty="0">
                <a:solidFill>
                  <a:srgbClr val="1C1B1B"/>
                </a:solidFill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1C1B1B"/>
                </a:solidFill>
                <a:cs typeface="Arial" panose="020B0604020202020204" pitchFamily="34" charset="0"/>
              </a:rPr>
              <a:t>открытая веб-система баг-трекинга.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1B1B"/>
                </a:solidFill>
                <a:cs typeface="Arial" panose="020B0604020202020204" pitchFamily="34" charset="0"/>
              </a:rPr>
              <a:t>Backend – </a:t>
            </a:r>
            <a:r>
              <a:rPr lang="en-US" sz="1600" dirty="0" err="1">
                <a:solidFill>
                  <a:srgbClr val="1C1B1B"/>
                </a:solidFill>
                <a:cs typeface="Arial" panose="020B0604020202020204" pitchFamily="34" charset="0"/>
              </a:rPr>
              <a:t>Fastify</a:t>
            </a:r>
            <a:r>
              <a:rPr lang="en-US" sz="16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C1B1B"/>
                </a:solidFill>
                <a:cs typeface="Arial" panose="020B0604020202020204" pitchFamily="34" charset="0"/>
              </a:rPr>
              <a:t>nodejs</a:t>
            </a:r>
            <a:endParaRPr lang="ru-RU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1B1B"/>
                </a:solidFill>
                <a:cs typeface="Arial" panose="020B0604020202020204" pitchFamily="34" charset="0"/>
              </a:rPr>
              <a:t>Frontend – SPA React</a:t>
            </a:r>
            <a:endParaRPr lang="ru-RU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1C1B1B"/>
                </a:solidFill>
                <a:cs typeface="Arial" panose="020B0604020202020204" pitchFamily="34" charset="0"/>
              </a:rPr>
              <a:t>docs/requirements/</a:t>
            </a:r>
            <a:r>
              <a:rPr lang="en" sz="1600" dirty="0" err="1">
                <a:solidFill>
                  <a:srgbClr val="1C1B1B"/>
                </a:solidFill>
                <a:cs typeface="Arial" panose="020B0604020202020204" pitchFamily="34" charset="0"/>
              </a:rPr>
              <a:t>README.md</a:t>
            </a:r>
            <a:r>
              <a:rPr lang="ru-RU" sz="1600" dirty="0">
                <a:solidFill>
                  <a:srgbClr val="1C1B1B"/>
                </a:solidFill>
                <a:cs typeface="Arial" panose="020B0604020202020204" pitchFamily="34" charset="0"/>
              </a:rPr>
              <a:t> – требования к проекту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8A20F4-7361-A427-91B3-69D41D097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37140"/>
            <a:ext cx="3888259" cy="8578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3176DA-652F-BCA5-3BA1-EC1AA85F5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051829"/>
            <a:ext cx="3888259" cy="37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E7B1A-7805-0B88-8EA8-44817532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94DA87-73B0-B6DD-5811-033D3566E5DD}"/>
              </a:ext>
            </a:extLst>
          </p:cNvPr>
          <p:cNvSpPr txBox="1"/>
          <p:nvPr/>
        </p:nvSpPr>
        <p:spPr>
          <a:xfrm>
            <a:off x="470912" y="380010"/>
            <a:ext cx="375827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Что в проекте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045118-E59F-BF7B-3E79-6A8CB209BFF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7FBAF-CF75-C482-4773-A073607EC7D8}"/>
              </a:ext>
            </a:extLst>
          </p:cNvPr>
          <p:cNvSpPr txBox="1"/>
          <p:nvPr/>
        </p:nvSpPr>
        <p:spPr>
          <a:xfrm>
            <a:off x="470912" y="1137140"/>
            <a:ext cx="5373834" cy="31700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Монорепозиторий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на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lerna</a:t>
            </a:r>
            <a:endParaRPr lang="ru-RU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Версионирование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nodejs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через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voltash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Husky, lint-staged,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eslint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, prettier,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vite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, typescript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настроены и готовы к работе в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tooling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Переиспользуемые пакеты в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Бекенд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и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фронтент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в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apps +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что то еще)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Документация, лекции, требования в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README.md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с краткими инструкциями в каждом проекте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D5BE3C-0DB0-4B08-597A-AC7E55C15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079" y="380010"/>
            <a:ext cx="2363475" cy="566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97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C5CFC-7701-6540-B4D4-0C63DD68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56E967-100B-3986-9334-4B9F86504326}"/>
              </a:ext>
            </a:extLst>
          </p:cNvPr>
          <p:cNvSpPr txBox="1"/>
          <p:nvPr/>
        </p:nvSpPr>
        <p:spPr>
          <a:xfrm>
            <a:off x="470912" y="380010"/>
            <a:ext cx="246913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Frontend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A4878F-701B-38C3-722F-382E35E353F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D969FF-D9C4-2D29-6EB4-A7633F1706AD}"/>
              </a:ext>
            </a:extLst>
          </p:cNvPr>
          <p:cNvSpPr txBox="1"/>
          <p:nvPr/>
        </p:nvSpPr>
        <p:spPr>
          <a:xfrm>
            <a:off x="470912" y="1137140"/>
            <a:ext cx="5373834" cy="43704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Typescript React SPA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FSD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методология с упрощениями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u="sng" dirty="0">
                <a:latin typeface="FiraCode NF"/>
              </a:rPr>
              <a:t>/</a:t>
            </a:r>
            <a:r>
              <a:rPr lang="ru-RU" sz="2000" u="sng" dirty="0" err="1">
                <a:latin typeface="FiraCode NF"/>
              </a:rPr>
              <a:t>docs</a:t>
            </a:r>
            <a:r>
              <a:rPr lang="ru-RU" sz="2000" u="sng" dirty="0">
                <a:latin typeface="FiraCode NF"/>
              </a:rPr>
              <a:t>/</a:t>
            </a:r>
            <a:r>
              <a:rPr lang="ru-RU" sz="2000" u="sng" dirty="0" err="1">
                <a:latin typeface="FiraCode NF"/>
              </a:rPr>
              <a:t>architecture</a:t>
            </a:r>
            <a:r>
              <a:rPr lang="ru-RU" sz="2000" u="sng" dirty="0">
                <a:latin typeface="FiraCode NF"/>
              </a:rPr>
              <a:t>/</a:t>
            </a:r>
            <a:r>
              <a:rPr lang="ru-RU" sz="2000" u="sng" dirty="0" err="1">
                <a:latin typeface="FiraCode NF"/>
              </a:rPr>
              <a:t>frontend-fsd.md</a:t>
            </a:r>
            <a:endParaRPr lang="ru-RU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vite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– сборщик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Vitest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– test runner + testing-library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Обязательные библиотеки к использованию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Redux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I18n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React-router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Base-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ui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+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css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/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css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modules</a:t>
            </a:r>
            <a:endParaRPr lang="ru-RU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9909F1-1C1D-352B-BAC1-25523FBCA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805" y="648926"/>
            <a:ext cx="3362399" cy="507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55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672C2-7DBE-D00F-42C3-0AF2E51A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35C618-732C-DB27-BD70-2D123FC08346}"/>
              </a:ext>
            </a:extLst>
          </p:cNvPr>
          <p:cNvSpPr txBox="1"/>
          <p:nvPr/>
        </p:nvSpPr>
        <p:spPr>
          <a:xfrm>
            <a:off x="470912" y="380010"/>
            <a:ext cx="228883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Backend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DD8AA-AAFE-D410-3204-A098B299FCC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DCD254-50D8-2464-9581-DF2DDC0A4B62}"/>
              </a:ext>
            </a:extLst>
          </p:cNvPr>
          <p:cNvSpPr txBox="1"/>
          <p:nvPr/>
        </p:nvSpPr>
        <p:spPr>
          <a:xfrm>
            <a:off x="470912" y="1137140"/>
            <a:ext cx="5373834" cy="37856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Typescript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Fastify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Модульная структура на основе плагинов и контроллеров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Prisma-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orm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+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postgress</a:t>
            </a:r>
            <a:endParaRPr lang="ru-RU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tsx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–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dev runner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Tsc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-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сборщик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endParaRPr lang="ru-RU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Vitest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– test runner</a:t>
            </a:r>
          </a:p>
          <a:p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Обязательные библиотеки к использованию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Fastify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pg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prisma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17F2D6-34F1-495B-4150-DE6EE1134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437" y="380010"/>
            <a:ext cx="3320906" cy="562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16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D5A29-1184-26F4-B0E6-FD78F5E1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BD0CA8-806D-C2BA-E5F6-98A0B522F321}"/>
              </a:ext>
            </a:extLst>
          </p:cNvPr>
          <p:cNvSpPr txBox="1"/>
          <p:nvPr/>
        </p:nvSpPr>
        <p:spPr>
          <a:xfrm>
            <a:off x="470912" y="380010"/>
            <a:ext cx="153760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Ui-kit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9ADDB-CDDD-7495-D12B-55594960C6ED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3387E5-451E-2012-C4A1-4167F42EA8F0}"/>
              </a:ext>
            </a:extLst>
          </p:cNvPr>
          <p:cNvSpPr txBox="1"/>
          <p:nvPr/>
        </p:nvSpPr>
        <p:spPr>
          <a:xfrm>
            <a:off x="470912" y="1137140"/>
            <a:ext cx="5373834" cy="3477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Библиотека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React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компонентов и утилиты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Vite -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сборщик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Vitest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-  test-runner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Base-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ui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как основа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Storybook</a:t>
            </a:r>
            <a:endParaRPr lang="ru-RU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Обязательные библиотеки к использованию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Base-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ui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Native </a:t>
            </a:r>
            <a:r>
              <a:rPr lang="en-US" sz="2000" dirty="0" err="1">
                <a:solidFill>
                  <a:srgbClr val="1C1B1B"/>
                </a:solidFill>
                <a:cs typeface="Arial" panose="020B0604020202020204" pitchFamily="34" charset="0"/>
              </a:rPr>
              <a:t>css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FFCDCE-6EEA-7AB0-2ABF-42F6BF5C5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052" y="380010"/>
            <a:ext cx="3120434" cy="556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4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F04D5-A47C-6E73-0EF5-CE2D2BB9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ECB79-D876-1811-BF5C-EE977BA41407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React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2E115-4A9F-E110-912B-553A9A72A7E7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8450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DFB8-CC57-846F-E45F-5F77F57B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A4BA32-470B-398C-6B30-6C864C833489}"/>
              </a:ext>
            </a:extLst>
          </p:cNvPr>
          <p:cNvSpPr txBox="1"/>
          <p:nvPr/>
        </p:nvSpPr>
        <p:spPr>
          <a:xfrm>
            <a:off x="470912" y="380010"/>
            <a:ext cx="331052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Зачем </a:t>
            </a:r>
            <a:r>
              <a:rPr lang="en-US" sz="4800" dirty="0">
                <a:solidFill>
                  <a:srgbClr val="1C1B1B"/>
                </a:solidFill>
              </a:rPr>
              <a:t>React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8B37FF-CDDD-902D-CEBF-CE5822561895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B8317-A5BE-CC58-428E-738F338D7945}"/>
              </a:ext>
            </a:extLst>
          </p:cNvPr>
          <p:cNvSpPr txBox="1"/>
          <p:nvPr/>
        </p:nvSpPr>
        <p:spPr>
          <a:xfrm>
            <a:off x="470912" y="1137140"/>
            <a:ext cx="5373834" cy="37548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интерфейс — это </a:t>
            </a:r>
            <a:r>
              <a:rPr lang="ru-RU" b="1" dirty="0"/>
              <a:t>состояние + разметка</a:t>
            </a:r>
            <a:r>
              <a:rPr lang="ru-RU" dirty="0"/>
              <a:t>: при изменении данных нужно обновлять экран;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«чистом» JS приходится вручную искать элементы в DOM и менять их;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чем больше экранов и кнопок, тем сложнее следить, что и когда обновить;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React</a:t>
            </a:r>
            <a:r>
              <a:rPr lang="ru-RU" dirty="0"/>
              <a:t> описывает UI как </a:t>
            </a:r>
            <a:r>
              <a:rPr lang="ru-RU" b="1" dirty="0"/>
              <a:t>функцию от данных</a:t>
            </a:r>
            <a:r>
              <a:rPr lang="ru-RU" dirty="0"/>
              <a:t>: изменили данные → UI </a:t>
            </a:r>
            <a:r>
              <a:rPr lang="ru-RU" dirty="0" err="1"/>
              <a:t>пересчитался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компоненты помогают </a:t>
            </a:r>
            <a:r>
              <a:rPr lang="ru-RU" b="1" dirty="0"/>
              <a:t>разбить интерфейс на части</a:t>
            </a:r>
            <a:r>
              <a:rPr lang="ru-RU" dirty="0"/>
              <a:t> и переиспользовать их;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React</a:t>
            </a:r>
            <a:r>
              <a:rPr lang="ru-RU" dirty="0"/>
              <a:t> сам обновляет только нужные куски 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5CB55A-BCD1-1704-4C26-01EB87CC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256" y="603740"/>
            <a:ext cx="3479800" cy="1066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D3E9DF-1E77-8320-C727-C53DE3066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256" y="1845026"/>
            <a:ext cx="5120467" cy="456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99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A0AC-6D87-2FA2-2A9D-7B3380DC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69C349-7BF6-DD4E-B961-B206775D39D5}"/>
              </a:ext>
            </a:extLst>
          </p:cNvPr>
          <p:cNvSpPr txBox="1"/>
          <p:nvPr/>
        </p:nvSpPr>
        <p:spPr>
          <a:xfrm>
            <a:off x="470912" y="380010"/>
            <a:ext cx="459805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Принцип работы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890CD8-2A3D-4D3B-F394-910F90E6191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DFAF4-01FF-5FBB-1E53-7E838C046824}"/>
              </a:ext>
            </a:extLst>
          </p:cNvPr>
          <p:cNvSpPr txBox="1"/>
          <p:nvPr/>
        </p:nvSpPr>
        <p:spPr>
          <a:xfrm>
            <a:off x="470912" y="1137140"/>
            <a:ext cx="5373834" cy="43704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Браузер загружает HTML с пустым контейнером </a:t>
            </a:r>
            <a:r>
              <a:rPr lang="ru-RU" dirty="0"/>
              <a:t>&lt;</a:t>
            </a:r>
            <a:r>
              <a:rPr lang="ru-RU" dirty="0" err="1"/>
              <a:t>div</a:t>
            </a:r>
            <a:r>
              <a:rPr lang="ru-RU" dirty="0"/>
              <a:t> </a:t>
            </a:r>
            <a:r>
              <a:rPr lang="ru-RU" dirty="0" err="1"/>
              <a:t>id</a:t>
            </a:r>
            <a:r>
              <a:rPr lang="ru-RU" dirty="0"/>
              <a:t>="</a:t>
            </a:r>
            <a:r>
              <a:rPr lang="ru-RU" dirty="0" err="1"/>
              <a:t>root</a:t>
            </a:r>
            <a:r>
              <a:rPr lang="ru-RU" dirty="0"/>
              <a:t>"&gt;&lt;/</a:t>
            </a:r>
            <a:r>
              <a:rPr lang="ru-RU" dirty="0" err="1"/>
              <a:t>div</a:t>
            </a:r>
            <a:r>
              <a:rPr lang="ru-RU" dirty="0"/>
              <a:t>&gt;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/>
              <a:t>React</a:t>
            </a:r>
            <a:r>
              <a:rPr lang="ru-RU" sz="2000" dirty="0"/>
              <a:t> подключается к этому контейнеру через </a:t>
            </a:r>
            <a:r>
              <a:rPr lang="ru-RU" dirty="0" err="1"/>
              <a:t>createRoot</a:t>
            </a:r>
            <a:r>
              <a:rPr lang="ru-RU" dirty="0"/>
              <a:t>(...).</a:t>
            </a:r>
            <a:r>
              <a:rPr lang="ru-RU" dirty="0" err="1"/>
              <a:t>render</a:t>
            </a:r>
            <a:r>
              <a:rPr lang="ru-RU" dirty="0"/>
              <a:t>(...)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JSX описывает, какой интерфейс мы хотим получить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JSX компилируется в вызовы функций, которые создают </a:t>
            </a:r>
            <a:r>
              <a:rPr lang="ru-RU" sz="2000" dirty="0" err="1"/>
              <a:t>React</a:t>
            </a:r>
            <a:r>
              <a:rPr lang="ru-RU" sz="2000" dirty="0"/>
              <a:t>-элементы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/>
              <a:t>React</a:t>
            </a:r>
            <a:r>
              <a:rPr lang="ru-RU" sz="2000" dirty="0"/>
              <a:t> строит дерево компонентов, сравнивает изменения и обновляет DOM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итоге пользователь видит обычный HTML, созданный из компонентов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91968D-CFD2-7043-F978-394DE67BB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746" y="380010"/>
            <a:ext cx="4139513" cy="191644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9BA334-FDFA-A6F7-32DE-83C9D7A7C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745" y="2418118"/>
            <a:ext cx="4139513" cy="14584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B74785-474B-3CF6-8FF2-8A907844B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745" y="3998266"/>
            <a:ext cx="4139513" cy="213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01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985A-248B-0DCB-54F0-92C400A7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4B7E5D-C214-9151-008C-21B20103609E}"/>
              </a:ext>
            </a:extLst>
          </p:cNvPr>
          <p:cNvSpPr txBox="1"/>
          <p:nvPr/>
        </p:nvSpPr>
        <p:spPr>
          <a:xfrm>
            <a:off x="470912" y="380010"/>
            <a:ext cx="97744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JSX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581AC5-0038-224C-4234-DB930ABE954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9C6EB-23AD-1DA3-5D2C-087851FBAFB6}"/>
              </a:ext>
            </a:extLst>
          </p:cNvPr>
          <p:cNvSpPr txBox="1"/>
          <p:nvPr/>
        </p:nvSpPr>
        <p:spPr>
          <a:xfrm>
            <a:off x="470912" y="1137140"/>
            <a:ext cx="5373834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50E67-BF44-5772-03AF-65811C29A228}"/>
              </a:ext>
            </a:extLst>
          </p:cNvPr>
          <p:cNvSpPr txBox="1"/>
          <p:nvPr/>
        </p:nvSpPr>
        <p:spPr>
          <a:xfrm>
            <a:off x="470911" y="1137140"/>
            <a:ext cx="100694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JSX — </a:t>
            </a:r>
            <a:r>
              <a:rPr lang="ru-RU" sz="2400" dirty="0"/>
              <a:t>синтаксис для описания </a:t>
            </a:r>
            <a:r>
              <a:rPr lang="en" sz="2400" dirty="0"/>
              <a:t>UI </a:t>
            </a:r>
            <a:r>
              <a:rPr lang="ru-RU" sz="2400" dirty="0"/>
              <a:t>внутри </a:t>
            </a:r>
            <a:r>
              <a:rPr lang="en" sz="2400" dirty="0"/>
              <a:t>JavaScript/TypeScript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Визуально похож на </a:t>
            </a:r>
            <a:r>
              <a:rPr lang="en" sz="2400" dirty="0"/>
              <a:t>HTML, </a:t>
            </a:r>
            <a:r>
              <a:rPr lang="ru-RU" sz="2400" dirty="0"/>
              <a:t>но это не </a:t>
            </a:r>
            <a:r>
              <a:rPr lang="en" sz="2400" dirty="0"/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JSX </a:t>
            </a:r>
            <a:r>
              <a:rPr lang="ru-RU" sz="2400" dirty="0"/>
              <a:t>компилируется в </a:t>
            </a:r>
            <a:r>
              <a:rPr lang="en" sz="2400" dirty="0"/>
              <a:t>JavaScript-</a:t>
            </a:r>
            <a:r>
              <a:rPr lang="ru-RU" sz="2400" dirty="0"/>
              <a:t>вызовы, которые создают </a:t>
            </a:r>
            <a:r>
              <a:rPr lang="en" sz="2400" dirty="0"/>
              <a:t>React-</a:t>
            </a:r>
            <a:r>
              <a:rPr lang="ru-RU" sz="2400" dirty="0"/>
              <a:t>элементы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 </a:t>
            </a:r>
            <a:r>
              <a:rPr lang="en" sz="2400" dirty="0"/>
              <a:t>JSX </a:t>
            </a:r>
            <a:r>
              <a:rPr lang="ru-RU" sz="2400" dirty="0"/>
              <a:t>можно вставлять </a:t>
            </a:r>
            <a:r>
              <a:rPr lang="en" sz="2400" dirty="0"/>
              <a:t>JavaScript-</a:t>
            </a:r>
            <a:r>
              <a:rPr lang="ru-RU" sz="2400" dirty="0"/>
              <a:t>выражения через {}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Атрибуты пишутся в </a:t>
            </a:r>
            <a:r>
              <a:rPr lang="en" sz="2400" dirty="0"/>
              <a:t>camelCase: </a:t>
            </a:r>
            <a:r>
              <a:rPr lang="en" sz="2400" dirty="0" err="1"/>
              <a:t>className</a:t>
            </a:r>
            <a:r>
              <a:rPr lang="en" sz="2400" dirty="0"/>
              <a:t>, </a:t>
            </a:r>
            <a:r>
              <a:rPr lang="en" sz="2400" dirty="0" err="1"/>
              <a:t>onClick</a:t>
            </a:r>
            <a:r>
              <a:rPr lang="en" sz="2400" dirty="0"/>
              <a:t>, </a:t>
            </a:r>
            <a:r>
              <a:rPr lang="en" sz="2400" dirty="0" err="1"/>
              <a:t>htmlFor</a:t>
            </a:r>
            <a:endParaRPr lang="e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Компоненты в </a:t>
            </a:r>
            <a:r>
              <a:rPr lang="en" sz="2400" dirty="0"/>
              <a:t>JSX </a:t>
            </a:r>
            <a:r>
              <a:rPr lang="ru-RU" sz="2400" dirty="0"/>
              <a:t>пишутся с большой буквы: &lt;</a:t>
            </a:r>
            <a:r>
              <a:rPr lang="en" sz="2400" dirty="0" err="1"/>
              <a:t>UserCard</a:t>
            </a:r>
            <a:r>
              <a:rPr lang="en" sz="2400" dirty="0"/>
              <a:t> /&gt;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JSX </a:t>
            </a:r>
            <a:r>
              <a:rPr lang="ru-RU" sz="2400" dirty="0"/>
              <a:t>должен возвращать один корневой элемент или </a:t>
            </a:r>
            <a:r>
              <a:rPr lang="en" sz="2400" dirty="0"/>
              <a:t>fragment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Условный рендеринг и списки тоже описываются через </a:t>
            </a:r>
            <a:r>
              <a:rPr lang="en" sz="2400" dirty="0"/>
              <a:t>JavaScript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38811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4679-9D93-3340-75CB-8117B6C7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87B075-4BBF-7FB6-5A3F-825B0C980BE7}"/>
              </a:ext>
            </a:extLst>
          </p:cNvPr>
          <p:cNvSpPr txBox="1"/>
          <p:nvPr/>
        </p:nvSpPr>
        <p:spPr>
          <a:xfrm>
            <a:off x="470912" y="380010"/>
            <a:ext cx="159357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Props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01BA40-1B46-64D4-2885-609C461A1D8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C51852-1AC1-14B9-A058-2C9C0C2831B4}"/>
              </a:ext>
            </a:extLst>
          </p:cNvPr>
          <p:cNvSpPr txBox="1"/>
          <p:nvPr/>
        </p:nvSpPr>
        <p:spPr>
          <a:xfrm>
            <a:off x="470912" y="1137140"/>
            <a:ext cx="5373834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64A2A-9893-1823-7179-834419E09D70}"/>
              </a:ext>
            </a:extLst>
          </p:cNvPr>
          <p:cNvSpPr txBox="1"/>
          <p:nvPr/>
        </p:nvSpPr>
        <p:spPr>
          <a:xfrm>
            <a:off x="470912" y="1137140"/>
            <a:ext cx="60980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props</a:t>
            </a:r>
            <a:r>
              <a:rPr lang="ru-RU" dirty="0"/>
              <a:t> — входные данные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Родительский компонент передает </a:t>
            </a:r>
            <a:r>
              <a:rPr lang="ru-RU" dirty="0" err="1"/>
              <a:t>props</a:t>
            </a:r>
            <a:r>
              <a:rPr lang="ru-RU" dirty="0"/>
              <a:t> дочернему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Дочерний компонент использует </a:t>
            </a:r>
            <a:r>
              <a:rPr lang="ru-RU" dirty="0" err="1"/>
              <a:t>props</a:t>
            </a:r>
            <a:r>
              <a:rPr lang="ru-RU" dirty="0"/>
              <a:t>, чтобы отрисовать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props</a:t>
            </a:r>
            <a:r>
              <a:rPr lang="ru-RU" dirty="0"/>
              <a:t> нельзя изменять внутри дочернего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данные изменились у родителя, </a:t>
            </a:r>
            <a:r>
              <a:rPr lang="ru-RU" dirty="0" err="1"/>
              <a:t>React</a:t>
            </a:r>
            <a:r>
              <a:rPr lang="ru-RU" dirty="0"/>
              <a:t> заново рендерит ребенка с новыми </a:t>
            </a:r>
            <a:r>
              <a:rPr lang="ru-RU" dirty="0" err="1"/>
              <a:t>props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Через </a:t>
            </a:r>
            <a:r>
              <a:rPr lang="ru-RU" dirty="0" err="1"/>
              <a:t>props</a:t>
            </a:r>
            <a:r>
              <a:rPr lang="ru-RU" dirty="0"/>
              <a:t> можно передавать строки, числа, объекты, массивы, JSX и функции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09D02B-FC14-7A25-E03E-D5E160DBD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810" y="538900"/>
            <a:ext cx="5535861" cy="44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5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DF9D-F112-2D41-E46E-3142D954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042739-B023-C4F5-9B4B-350A480D86BD}"/>
              </a:ext>
            </a:extLst>
          </p:cNvPr>
          <p:cNvSpPr txBox="1"/>
          <p:nvPr/>
        </p:nvSpPr>
        <p:spPr>
          <a:xfrm>
            <a:off x="470912" y="380010"/>
            <a:ext cx="173387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Hooks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1FC72-41DC-6796-6D9C-9E4FFB4FD31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5465F3-82EA-5CB9-411C-B118AB45CD3B}"/>
              </a:ext>
            </a:extLst>
          </p:cNvPr>
          <p:cNvSpPr txBox="1"/>
          <p:nvPr/>
        </p:nvSpPr>
        <p:spPr>
          <a:xfrm>
            <a:off x="470912" y="1137140"/>
            <a:ext cx="5373834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56CC9-9A47-4FA8-AFED-8C4F81C6E2B3}"/>
              </a:ext>
            </a:extLst>
          </p:cNvPr>
          <p:cNvSpPr txBox="1"/>
          <p:nvPr/>
        </p:nvSpPr>
        <p:spPr>
          <a:xfrm>
            <a:off x="470911" y="1137140"/>
            <a:ext cx="1125017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Hooks </a:t>
            </a:r>
            <a:r>
              <a:rPr lang="ru-RU" sz="2400" dirty="0"/>
              <a:t>позволяют использовать состояние и возможности </a:t>
            </a:r>
            <a:r>
              <a:rPr lang="en" sz="2400" dirty="0"/>
              <a:t>React </a:t>
            </a:r>
            <a:r>
              <a:rPr lang="ru-RU" sz="2400" dirty="0"/>
              <a:t>внутри </a:t>
            </a:r>
            <a:r>
              <a:rPr lang="en" sz="2400" dirty="0"/>
              <a:t>function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Hook — </a:t>
            </a:r>
            <a:r>
              <a:rPr lang="ru-RU" sz="2400" dirty="0"/>
              <a:t>это функция </a:t>
            </a:r>
            <a:r>
              <a:rPr lang="en" sz="2400" dirty="0"/>
              <a:t>React, </a:t>
            </a:r>
            <a:r>
              <a:rPr lang="ru-RU" sz="2400" dirty="0"/>
              <a:t>которая начинается с </a:t>
            </a:r>
            <a:r>
              <a:rPr lang="en" sz="2400" dirty="0"/>
              <a:t>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Базовые </a:t>
            </a:r>
            <a:r>
              <a:rPr lang="en" sz="2400" dirty="0"/>
              <a:t>hooks: </a:t>
            </a:r>
            <a:r>
              <a:rPr lang="en" sz="2400" dirty="0" err="1"/>
              <a:t>useState</a:t>
            </a:r>
            <a:r>
              <a:rPr lang="en" sz="2400" dirty="0"/>
              <a:t>, </a:t>
            </a:r>
            <a:r>
              <a:rPr lang="en" sz="2400" dirty="0" err="1"/>
              <a:t>useEffect</a:t>
            </a:r>
            <a:r>
              <a:rPr lang="en" sz="2400" dirty="0"/>
              <a:t>, </a:t>
            </a:r>
            <a:r>
              <a:rPr lang="en" sz="2400" dirty="0" err="1"/>
              <a:t>useContext</a:t>
            </a:r>
            <a:endParaRPr lang="e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 err="1"/>
              <a:t>useState</a:t>
            </a:r>
            <a:r>
              <a:rPr lang="en" sz="2400" dirty="0"/>
              <a:t> </a:t>
            </a:r>
            <a:r>
              <a:rPr lang="ru-RU" sz="2400" dirty="0"/>
              <a:t>хранит локальное состояние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 err="1"/>
              <a:t>useEffect</a:t>
            </a:r>
            <a:r>
              <a:rPr lang="en" sz="2400" dirty="0"/>
              <a:t> </a:t>
            </a:r>
            <a:r>
              <a:rPr lang="ru-RU" sz="2400" dirty="0"/>
              <a:t>запускает побочные действия после рендера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 err="1"/>
              <a:t>useContext</a:t>
            </a:r>
            <a:r>
              <a:rPr lang="en" sz="2400" dirty="0"/>
              <a:t> </a:t>
            </a:r>
            <a:r>
              <a:rPr lang="ru-RU" sz="2400" dirty="0"/>
              <a:t>читает данные из </a:t>
            </a:r>
            <a:r>
              <a:rPr lang="en" sz="2400" dirty="0"/>
              <a:t>React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Дополнительные </a:t>
            </a:r>
            <a:r>
              <a:rPr lang="en" sz="2400" dirty="0"/>
              <a:t>hooks: </a:t>
            </a:r>
            <a:r>
              <a:rPr lang="en" sz="2400" dirty="0" err="1"/>
              <a:t>useReducer</a:t>
            </a:r>
            <a:r>
              <a:rPr lang="en" sz="2400" dirty="0"/>
              <a:t>, </a:t>
            </a:r>
            <a:r>
              <a:rPr lang="en" sz="2400" dirty="0" err="1"/>
              <a:t>useMemo</a:t>
            </a:r>
            <a:r>
              <a:rPr lang="en" sz="2400" dirty="0"/>
              <a:t>, </a:t>
            </a:r>
            <a:r>
              <a:rPr lang="en" sz="2400" dirty="0" err="1"/>
              <a:t>useCallback</a:t>
            </a:r>
            <a:r>
              <a:rPr lang="en" sz="2400" dirty="0"/>
              <a:t>, </a:t>
            </a:r>
            <a:r>
              <a:rPr lang="en" sz="2400" dirty="0" err="1"/>
              <a:t>useRef</a:t>
            </a:r>
            <a:r>
              <a:rPr lang="en" sz="2400" dirty="0"/>
              <a:t>, </a:t>
            </a:r>
            <a:r>
              <a:rPr lang="en" sz="2400" dirty="0" err="1"/>
              <a:t>useId</a:t>
            </a:r>
            <a:r>
              <a:rPr lang="en" sz="2400" dirty="0"/>
              <a:t>, </a:t>
            </a:r>
            <a:r>
              <a:rPr lang="en" sz="2400" dirty="0" err="1"/>
              <a:t>useLayoutEffect</a:t>
            </a:r>
            <a:r>
              <a:rPr lang="en" sz="2400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Для внешних хранилищ и сложной интеграции есть </a:t>
            </a:r>
            <a:r>
              <a:rPr lang="en" sz="2400" dirty="0" err="1"/>
              <a:t>useSyncExternalStore</a:t>
            </a:r>
            <a:endParaRPr lang="e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Для </a:t>
            </a:r>
            <a:r>
              <a:rPr lang="en" sz="2400" dirty="0"/>
              <a:t>UI-</a:t>
            </a:r>
            <a:r>
              <a:rPr lang="ru-RU" sz="2400" dirty="0"/>
              <a:t>переходов и конкурентного рендера есть </a:t>
            </a:r>
            <a:r>
              <a:rPr lang="en" sz="2400" dirty="0" err="1"/>
              <a:t>useTransition</a:t>
            </a:r>
            <a:r>
              <a:rPr lang="en" sz="2400" dirty="0"/>
              <a:t>, </a:t>
            </a:r>
            <a:r>
              <a:rPr lang="en" sz="2400" dirty="0" err="1"/>
              <a:t>useDeferredValue</a:t>
            </a:r>
            <a:endParaRPr lang="e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Новую логику можно выносить в </a:t>
            </a:r>
            <a:r>
              <a:rPr lang="en" sz="2400" dirty="0"/>
              <a:t>custom hooks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Хуки можно вызывать только внутри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Хуки НЕЛЬЗЯ вызывать внутри циклов и условий</a:t>
            </a:r>
          </a:p>
        </p:txBody>
      </p:sp>
    </p:spTree>
    <p:extLst>
      <p:ext uri="{BB962C8B-B14F-4D97-AF65-F5344CB8AC3E}">
        <p14:creationId xmlns:p14="http://schemas.microsoft.com/office/powerpoint/2010/main" val="2601348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1B03A-9E1B-8574-3402-7388C7D5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04100C-97A7-9489-E4FA-C154200A0868}"/>
              </a:ext>
            </a:extLst>
          </p:cNvPr>
          <p:cNvSpPr txBox="1"/>
          <p:nvPr/>
        </p:nvSpPr>
        <p:spPr>
          <a:xfrm>
            <a:off x="470912" y="380010"/>
            <a:ext cx="377757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Custom Hooks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5FDAA-2795-39CE-0CC7-1FD1C19133D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1C7C2D-52A3-D34F-53C6-9CAEE1F93ECF}"/>
              </a:ext>
            </a:extLst>
          </p:cNvPr>
          <p:cNvSpPr txBox="1"/>
          <p:nvPr/>
        </p:nvSpPr>
        <p:spPr>
          <a:xfrm>
            <a:off x="470912" y="1137140"/>
            <a:ext cx="5373834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F8F60-15D0-DAE4-BFFE-90A25B3DF066}"/>
              </a:ext>
            </a:extLst>
          </p:cNvPr>
          <p:cNvSpPr txBox="1"/>
          <p:nvPr/>
        </p:nvSpPr>
        <p:spPr>
          <a:xfrm>
            <a:off x="470911" y="1137140"/>
            <a:ext cx="105389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Custom hook — </a:t>
            </a:r>
            <a:r>
              <a:rPr lang="ru-RU" sz="2400" dirty="0"/>
              <a:t>обычная функция, имя которой начинается с </a:t>
            </a:r>
            <a:r>
              <a:rPr lang="en" sz="2400" dirty="0"/>
              <a:t>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Внутри </a:t>
            </a:r>
            <a:r>
              <a:rPr lang="en" sz="2400" dirty="0"/>
              <a:t>custom hook </a:t>
            </a:r>
            <a:r>
              <a:rPr lang="ru-RU" sz="2400" dirty="0"/>
              <a:t>можно использовать другие </a:t>
            </a:r>
            <a:r>
              <a:rPr lang="en" sz="2400" dirty="0"/>
              <a:t>hooks: </a:t>
            </a:r>
            <a:r>
              <a:rPr lang="en" sz="2400" dirty="0" err="1"/>
              <a:t>useState</a:t>
            </a:r>
            <a:r>
              <a:rPr lang="en" sz="2400" dirty="0"/>
              <a:t>, </a:t>
            </a:r>
            <a:r>
              <a:rPr lang="en" sz="2400" dirty="0" err="1"/>
              <a:t>useEffect</a:t>
            </a:r>
            <a:r>
              <a:rPr lang="en" sz="2400" dirty="0"/>
              <a:t>, </a:t>
            </a:r>
            <a:r>
              <a:rPr lang="en" sz="2400" dirty="0" err="1"/>
              <a:t>useContext</a:t>
            </a:r>
            <a:endParaRPr lang="e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Custom hook </a:t>
            </a:r>
            <a:r>
              <a:rPr lang="ru-RU" sz="2400" dirty="0"/>
              <a:t>выносит логику из компонента, но оставляет компонент декларативным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Удобно выносить работу с формами, фильтрами, </a:t>
            </a:r>
            <a:r>
              <a:rPr lang="en" sz="2400" dirty="0"/>
              <a:t>API, </a:t>
            </a:r>
            <a:r>
              <a:rPr lang="ru-RU" sz="2400" dirty="0"/>
              <a:t>таймерами, </a:t>
            </a:r>
            <a:r>
              <a:rPr lang="en" sz="2400" dirty="0" err="1"/>
              <a:t>localStorage</a:t>
            </a:r>
            <a:r>
              <a:rPr lang="en" sz="2400" dirty="0"/>
              <a:t>,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Один </a:t>
            </a:r>
            <a:r>
              <a:rPr lang="en" sz="2400" dirty="0"/>
              <a:t>custom hook </a:t>
            </a:r>
            <a:r>
              <a:rPr lang="ru-RU" sz="2400" dirty="0"/>
              <a:t>можно переиспользовать в разных компонентах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Hook </a:t>
            </a:r>
            <a:r>
              <a:rPr lang="ru-RU" sz="2400" dirty="0"/>
              <a:t>возвращает данные и действия: например { </a:t>
            </a:r>
            <a:r>
              <a:rPr lang="en" sz="2400" dirty="0"/>
              <a:t>value, </a:t>
            </a:r>
            <a:r>
              <a:rPr lang="en" sz="2400" dirty="0" err="1"/>
              <a:t>setValue</a:t>
            </a:r>
            <a:r>
              <a:rPr lang="en" sz="2400" dirty="0"/>
              <a:t>, reset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Custom hook </a:t>
            </a:r>
            <a:r>
              <a:rPr lang="ru-RU" sz="2400" dirty="0"/>
              <a:t>не рендерит </a:t>
            </a:r>
            <a:r>
              <a:rPr lang="en" sz="2400" dirty="0"/>
              <a:t>UI, </a:t>
            </a:r>
            <a:r>
              <a:rPr lang="ru-RU" sz="2400" dirty="0"/>
              <a:t>он только управляет логикой и состоянием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Правила </a:t>
            </a:r>
            <a:r>
              <a:rPr lang="en" sz="2400" dirty="0"/>
              <a:t>hooks </a:t>
            </a:r>
            <a:r>
              <a:rPr lang="ru-RU" sz="2400" dirty="0"/>
              <a:t>сохраняются: вызывать только на верхнем уровне компонента или другого </a:t>
            </a:r>
            <a:r>
              <a:rPr lang="en" sz="2400" dirty="0"/>
              <a:t>hook-</a:t>
            </a:r>
            <a:r>
              <a:rPr lang="ru-RU" sz="2400" dirty="0"/>
              <a:t>а</a:t>
            </a:r>
          </a:p>
        </p:txBody>
      </p:sp>
    </p:spTree>
    <p:extLst>
      <p:ext uri="{BB962C8B-B14F-4D97-AF65-F5344CB8AC3E}">
        <p14:creationId xmlns:p14="http://schemas.microsoft.com/office/powerpoint/2010/main" val="4123721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7EA80-0C0A-B765-1CCD-ECFB00287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DF6449-368B-870D-3213-9BC5A4CDAA67}"/>
              </a:ext>
            </a:extLst>
          </p:cNvPr>
          <p:cNvSpPr txBox="1"/>
          <p:nvPr/>
        </p:nvSpPr>
        <p:spPr>
          <a:xfrm>
            <a:off x="470912" y="380010"/>
            <a:ext cx="291567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Состояние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9F01B0-2727-6E1A-B13C-9E42D5E9CD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C6A91-4103-B04F-7ECD-6212FE5076FC}"/>
              </a:ext>
            </a:extLst>
          </p:cNvPr>
          <p:cNvSpPr txBox="1"/>
          <p:nvPr/>
        </p:nvSpPr>
        <p:spPr>
          <a:xfrm>
            <a:off x="470912" y="1137140"/>
            <a:ext cx="5373834" cy="40934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state —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данные, которые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React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хранит между рендерами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При изменении состояния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React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заново вызывает компонент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Компонент возвращает новый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JSX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на основе актуального 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React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сравнивает старый и новый результат рендера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В </a:t>
            </a:r>
            <a:r>
              <a:rPr lang="en-US" sz="2000" dirty="0">
                <a:solidFill>
                  <a:srgbClr val="1C1B1B"/>
                </a:solidFill>
                <a:cs typeface="Arial" panose="020B0604020202020204" pitchFamily="34" charset="0"/>
              </a:rPr>
              <a:t>DOM 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обновляются только изменившиеся части интерфейса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Состояние нельзя менять напрямую: нужно использовать функцию-сеттер</a:t>
            </a:r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1C1B1B"/>
              </a:solidFill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54B0AC-A44A-48DC-E761-024D93B6D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499" y="469557"/>
            <a:ext cx="4929863" cy="54246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280A49-6AD6-EC05-8104-E2EBA93FC046}"/>
              </a:ext>
            </a:extLst>
          </p:cNvPr>
          <p:cNvSpPr txBox="1"/>
          <p:nvPr/>
        </p:nvSpPr>
        <p:spPr>
          <a:xfrm>
            <a:off x="1628002" y="6090191"/>
            <a:ext cx="84921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click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-&gt;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setCount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-&gt; </a:t>
            </a:r>
            <a:r>
              <a:rPr lang="ru-RU" sz="2000" dirty="0" err="1">
                <a:solidFill>
                  <a:srgbClr val="1C1B1B"/>
                </a:solidFill>
                <a:cs typeface="Arial" panose="020B0604020202020204" pitchFamily="34" charset="0"/>
              </a:rPr>
              <a:t>render</a:t>
            </a:r>
            <a:r>
              <a:rPr lang="ru-RU" sz="2000" dirty="0">
                <a:solidFill>
                  <a:srgbClr val="1C1B1B"/>
                </a:solidFill>
                <a:cs typeface="Arial" panose="020B0604020202020204" pitchFamily="34" charset="0"/>
              </a:rPr>
              <a:t> -&gt; новый JSX -&gt; обновление DOM</a:t>
            </a:r>
          </a:p>
        </p:txBody>
      </p:sp>
    </p:spTree>
    <p:extLst>
      <p:ext uri="{BB962C8B-B14F-4D97-AF65-F5344CB8AC3E}">
        <p14:creationId xmlns:p14="http://schemas.microsoft.com/office/powerpoint/2010/main" val="1225538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0E6D-6787-57BF-321D-D57CD49E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86C7CF-408B-B1E6-57F3-AC851C22BD8F}"/>
              </a:ext>
            </a:extLst>
          </p:cNvPr>
          <p:cNvSpPr txBox="1"/>
          <p:nvPr/>
        </p:nvSpPr>
        <p:spPr>
          <a:xfrm>
            <a:off x="470912" y="380010"/>
            <a:ext cx="471315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Жизненный цикл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EC4BBF-297F-4400-41F9-F32C07C4E01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B4D197-41FF-0A65-D3BD-CDB8AA7F2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323309"/>
            <a:ext cx="7772400" cy="4211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21FD57-EA9B-D338-7F0C-AB799540F5AE}"/>
              </a:ext>
            </a:extLst>
          </p:cNvPr>
          <p:cNvSpPr txBox="1"/>
          <p:nvPr/>
        </p:nvSpPr>
        <p:spPr>
          <a:xfrm>
            <a:off x="1062681" y="1606378"/>
            <a:ext cx="34722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Монтирование – первое появление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изменении пропсов – обновиться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изменении состояния – обновиться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удалении из дерева – размонтирование компонента</a:t>
            </a:r>
          </a:p>
        </p:txBody>
      </p:sp>
    </p:spTree>
    <p:extLst>
      <p:ext uri="{BB962C8B-B14F-4D97-AF65-F5344CB8AC3E}">
        <p14:creationId xmlns:p14="http://schemas.microsoft.com/office/powerpoint/2010/main" val="713996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E2A4-5721-EFF7-4412-FF36EF04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32A273-219E-47DA-808D-D40A803D4AB1}"/>
              </a:ext>
            </a:extLst>
          </p:cNvPr>
          <p:cNvSpPr txBox="1"/>
          <p:nvPr/>
        </p:nvSpPr>
        <p:spPr>
          <a:xfrm>
            <a:off x="470912" y="380010"/>
            <a:ext cx="159319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Effect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89BF16-5E03-22B7-087B-D76FD59B25F5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91A05-CB25-CBB3-8EC8-0D2F808F7D7E}"/>
              </a:ext>
            </a:extLst>
          </p:cNvPr>
          <p:cNvSpPr txBox="1"/>
          <p:nvPr/>
        </p:nvSpPr>
        <p:spPr>
          <a:xfrm>
            <a:off x="470912" y="1120676"/>
            <a:ext cx="59688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Рендер отвечает за </a:t>
            </a:r>
            <a:r>
              <a:rPr lang="en" dirty="0"/>
              <a:t>UI, </a:t>
            </a:r>
            <a:r>
              <a:rPr lang="ru-RU" dirty="0"/>
              <a:t>а </a:t>
            </a:r>
            <a:r>
              <a:rPr lang="en" dirty="0" err="1"/>
              <a:t>useEffect</a:t>
            </a:r>
            <a:r>
              <a:rPr lang="en" dirty="0"/>
              <a:t> — </a:t>
            </a:r>
            <a:r>
              <a:rPr lang="ru-RU" dirty="0"/>
              <a:t>за побочные действия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Побочные действия: запросы, таймеры, подписки, работа с </a:t>
            </a:r>
            <a:r>
              <a:rPr lang="en" dirty="0"/>
              <a:t>DOM/API </a:t>
            </a:r>
            <a:r>
              <a:rPr lang="ru-RU" dirty="0"/>
              <a:t>браузера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Эффект выполняется после рендера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[] — выполнить один раз при появлении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[</a:t>
            </a:r>
            <a:r>
              <a:rPr lang="en" dirty="0"/>
              <a:t>value] — </a:t>
            </a:r>
            <a:r>
              <a:rPr lang="ru-RU" dirty="0"/>
              <a:t>выполнить при изменении </a:t>
            </a:r>
            <a:r>
              <a:rPr lang="en" dirty="0"/>
              <a:t>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return () =&gt; ... — </a:t>
            </a:r>
            <a:r>
              <a:rPr lang="ru-RU" dirty="0"/>
              <a:t>очистка при удалении компонента или перед новым запуском эффекта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040818-F051-262A-386F-39AA38640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758" y="758575"/>
            <a:ext cx="42799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45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AC1A-9682-4C6E-CE84-D47940C5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61DB29-449E-E0A7-42FE-259AF17A9139}"/>
              </a:ext>
            </a:extLst>
          </p:cNvPr>
          <p:cNvSpPr txBox="1"/>
          <p:nvPr/>
        </p:nvSpPr>
        <p:spPr>
          <a:xfrm>
            <a:off x="470912" y="380010"/>
            <a:ext cx="212853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Context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974303-9309-E1B9-DF33-0E9EA3D604F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8A7F3C-C04E-58DC-62A6-A2C918E6D689}"/>
              </a:ext>
            </a:extLst>
          </p:cNvPr>
          <p:cNvSpPr txBox="1"/>
          <p:nvPr/>
        </p:nvSpPr>
        <p:spPr>
          <a:xfrm>
            <a:off x="644006" y="1137140"/>
            <a:ext cx="46461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Context </a:t>
            </a:r>
            <a:r>
              <a:rPr lang="ru-RU" dirty="0"/>
              <a:t>позволяет передавать данные через дерево компонентов без </a:t>
            </a:r>
            <a:r>
              <a:rPr lang="en" dirty="0"/>
              <a:t>props drilling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Подходит для данных, которые нужны многим частям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Частые примеры: текущий пользователь, тема, язык, настройки, права доступа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кладутся в </a:t>
            </a:r>
            <a:r>
              <a:rPr lang="en" dirty="0"/>
              <a:t>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Компоненты внутри дерева читают их через </a:t>
            </a:r>
            <a:r>
              <a:rPr lang="en" dirty="0" err="1"/>
              <a:t>useContext</a:t>
            </a:r>
            <a:endParaRPr lang="e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Context </a:t>
            </a:r>
            <a:r>
              <a:rPr lang="ru-RU" dirty="0"/>
              <a:t>не заменяет полноценный </a:t>
            </a:r>
            <a:r>
              <a:rPr lang="en" dirty="0"/>
              <a:t>state-manager </a:t>
            </a:r>
            <a:r>
              <a:rPr lang="ru-RU" dirty="0"/>
              <a:t>для сложной бизнес-логики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изменении значения </a:t>
            </a:r>
            <a:r>
              <a:rPr lang="en" dirty="0"/>
              <a:t>Context </a:t>
            </a:r>
            <a:r>
              <a:rPr lang="ru-RU" dirty="0"/>
              <a:t>обновляются </a:t>
            </a:r>
            <a:r>
              <a:rPr lang="ru-RU" b="1" dirty="0"/>
              <a:t>все компоненты</a:t>
            </a:r>
            <a:r>
              <a:rPr lang="ru-RU" dirty="0"/>
              <a:t>, которые его используют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изменении значения обновляются </a:t>
            </a:r>
            <a:r>
              <a:rPr lang="ru-RU" b="1" dirty="0"/>
              <a:t>все</a:t>
            </a:r>
            <a:r>
              <a:rPr lang="ru-RU" dirty="0"/>
              <a:t> дети провайдера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214BA4-417C-FC9D-D0D6-8B875527E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58575"/>
            <a:ext cx="4754276" cy="513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94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25AE-0183-0C6E-892B-93475CCC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8D8C9E-97B9-EC8D-BECC-F52055C7C369}"/>
              </a:ext>
            </a:extLst>
          </p:cNvPr>
          <p:cNvSpPr txBox="1"/>
          <p:nvPr/>
        </p:nvSpPr>
        <p:spPr>
          <a:xfrm>
            <a:off x="470912" y="380010"/>
            <a:ext cx="808727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Условный рендеринг и списки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8147B-C9DA-A12E-FDD3-F8F1504C8FC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DCB3DA-C401-4B6B-6F32-FDF1D6432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6" y="1238250"/>
            <a:ext cx="6197600" cy="4381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98428F-2F2B-26D1-D396-2E0E17179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688" y="2197918"/>
            <a:ext cx="6160207" cy="428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29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CFEC-CE81-8E3E-FF23-45CC83F7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644778-E395-258A-A646-4E78939B471C}"/>
              </a:ext>
            </a:extLst>
          </p:cNvPr>
          <p:cNvSpPr txBox="1"/>
          <p:nvPr/>
        </p:nvSpPr>
        <p:spPr>
          <a:xfrm>
            <a:off x="470912" y="380010"/>
            <a:ext cx="452162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Важное в </a:t>
            </a:r>
            <a:r>
              <a:rPr lang="ru-RU" sz="4800" dirty="0" err="1">
                <a:solidFill>
                  <a:srgbClr val="1C1B1B"/>
                </a:solidFill>
              </a:rPr>
              <a:t>реакте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A336F-137C-A2D8-4999-6B2D8295DE45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4D211E-C0F6-604F-C3ED-4B9DBB3248A7}"/>
              </a:ext>
            </a:extLst>
          </p:cNvPr>
          <p:cNvSpPr txBox="1"/>
          <p:nvPr/>
        </p:nvSpPr>
        <p:spPr>
          <a:xfrm>
            <a:off x="1099751" y="1482811"/>
            <a:ext cx="81431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Изменение состояния = </a:t>
            </a:r>
            <a:r>
              <a:rPr lang="ru-RU" dirty="0" err="1"/>
              <a:t>перерендеры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Чем более атомарные компоненты, тем меньше </a:t>
            </a:r>
            <a:r>
              <a:rPr lang="ru-RU" dirty="0" err="1"/>
              <a:t>перерендеров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Чем меньше </a:t>
            </a:r>
            <a:r>
              <a:rPr lang="ru-RU" dirty="0" err="1"/>
              <a:t>перерендеров</a:t>
            </a:r>
            <a:r>
              <a:rPr lang="ru-RU" dirty="0"/>
              <a:t> – тем лучше работает приложение и тратит меньше памяти.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Эффекты – для синхронизации с внешним миром, не надо использовать эффекты для взаимодействия с самим </a:t>
            </a:r>
            <a:r>
              <a:rPr lang="ru-RU" dirty="0" err="1"/>
              <a:t>реактом</a:t>
            </a:r>
            <a:r>
              <a:rPr lang="ru-RU" dirty="0"/>
              <a:t> (к примеру не надо выставлять дефолтные значения состояния на основе пропсов)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Весь </a:t>
            </a:r>
            <a:r>
              <a:rPr lang="ru-RU" dirty="0" err="1"/>
              <a:t>реакт</a:t>
            </a:r>
            <a:r>
              <a:rPr lang="ru-RU" dirty="0"/>
              <a:t> направлен от родителя к ребенку – это нужно учитывать.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Компонент </a:t>
            </a:r>
            <a:r>
              <a:rPr lang="ru-RU" dirty="0" err="1"/>
              <a:t>реакта</a:t>
            </a:r>
            <a:r>
              <a:rPr lang="ru-RU" dirty="0"/>
              <a:t> – функция для рендера – вызывается на каждый рендер – не надо делать какие то вычисления в теле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Правила хуков надо соблюдать (не вызывать в цикле, не вызывать по условию)</a:t>
            </a:r>
          </a:p>
        </p:txBody>
      </p:sp>
    </p:spTree>
    <p:extLst>
      <p:ext uri="{BB962C8B-B14F-4D97-AF65-F5344CB8AC3E}">
        <p14:creationId xmlns:p14="http://schemas.microsoft.com/office/powerpoint/2010/main" val="2641550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A7BD-5BDA-24CA-7A03-78A78DB66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8F8145-4C00-D2D4-86CA-868C4C3D5EAB}"/>
              </a:ext>
            </a:extLst>
          </p:cNvPr>
          <p:cNvSpPr txBox="1"/>
          <p:nvPr/>
        </p:nvSpPr>
        <p:spPr>
          <a:xfrm>
            <a:off x="470912" y="380010"/>
            <a:ext cx="682135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Имеет смысл посмотреть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7F6CA-7619-D3EC-4B1E-941F0C586D1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479BF-62C7-F3DE-4E98-51C2A771A08D}"/>
              </a:ext>
            </a:extLst>
          </p:cNvPr>
          <p:cNvSpPr txBox="1"/>
          <p:nvPr/>
        </p:nvSpPr>
        <p:spPr>
          <a:xfrm>
            <a:off x="1099751" y="1482811"/>
            <a:ext cx="8847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hlinkClick r:id="rId3"/>
              </a:rPr>
              <a:t>Yandex - </a:t>
            </a:r>
            <a:r>
              <a:rPr lang="ru-RU" dirty="0">
                <a:hlinkClick r:id="rId3"/>
              </a:rPr>
              <a:t>Продвинуты реакт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hlinkClick r:id="rId4"/>
              </a:rPr>
              <a:t>IT-KAMASUTRA - </a:t>
            </a:r>
            <a:r>
              <a:rPr lang="ru-RU" dirty="0">
                <a:hlinkClick r:id="rId4"/>
              </a:rPr>
              <a:t>Путь самурая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35461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3711</TotalTime>
  <Words>1190</Words>
  <Application>Microsoft Macintosh PowerPoint</Application>
  <PresentationFormat>Широкоэкранный</PresentationFormat>
  <Paragraphs>206</Paragraphs>
  <Slides>30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FiraCode NF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46</cp:revision>
  <dcterms:created xsi:type="dcterms:W3CDTF">2025-12-16T07:08:32Z</dcterms:created>
  <dcterms:modified xsi:type="dcterms:W3CDTF">2026-06-19T08:40:10Z</dcterms:modified>
</cp:coreProperties>
</file>