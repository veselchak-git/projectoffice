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74" r:id="rId4"/>
    <p:sldId id="334" r:id="rId5"/>
    <p:sldId id="324" r:id="rId6"/>
    <p:sldId id="335" r:id="rId7"/>
    <p:sldId id="347" r:id="rId8"/>
    <p:sldId id="336" r:id="rId9"/>
    <p:sldId id="337" r:id="rId10"/>
    <p:sldId id="338" r:id="rId11"/>
    <p:sldId id="343" r:id="rId12"/>
    <p:sldId id="340" r:id="rId13"/>
    <p:sldId id="341" r:id="rId14"/>
    <p:sldId id="345" r:id="rId15"/>
    <p:sldId id="346" r:id="rId16"/>
    <p:sldId id="342" r:id="rId17"/>
    <p:sldId id="344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B1B"/>
    <a:srgbClr val="4E26FA"/>
    <a:srgbClr val="19191A"/>
    <a:srgbClr val="F6F6F6"/>
    <a:srgbClr val="D9D9D9"/>
    <a:srgbClr val="A692FC"/>
    <a:srgbClr val="323131"/>
    <a:srgbClr val="C5C5C5"/>
    <a:srgbClr val="A9A9A9"/>
    <a:srgbClr val="3921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38" autoAdjust="0"/>
    <p:restoredTop sz="82603"/>
  </p:normalViewPr>
  <p:slideViewPr>
    <p:cSldViewPr snapToGrid="0">
      <p:cViewPr varScale="1">
        <p:scale>
          <a:sx n="104" d="100"/>
          <a:sy n="104" d="100"/>
        </p:scale>
        <p:origin x="3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DFBA31-585B-4D2B-A560-AD3613F6F5E3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9CE8D3-2344-4F0F-BC9A-302BB8DB5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4528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D0DC2-B488-C6C7-403F-78AA3540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D46033A-9B6D-C3B1-49F8-E0BC7AE7B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CD77DD3-4E4B-F9A2-B566-191796C1C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Контракт описывает все, что относится к определенному </a:t>
            </a:r>
            <a:r>
              <a:rPr lang="ru-RU" dirty="0" err="1"/>
              <a:t>роуту</a:t>
            </a:r>
            <a:r>
              <a:rPr lang="ru-RU" dirty="0"/>
              <a:t>, включая статусы параметры методы и </a:t>
            </a:r>
            <a:r>
              <a:rPr lang="ru-RU" dirty="0" err="1"/>
              <a:t>тд</a:t>
            </a:r>
            <a:r>
              <a:rPr lang="ru-RU" dirty="0"/>
              <a:t> и </a:t>
            </a:r>
            <a:r>
              <a:rPr lang="ru-RU" dirty="0" err="1"/>
              <a:t>тп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994E26-989B-AFE6-F105-589F949E5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665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B388E-0FB1-7CBA-35CC-1B67601DB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D11CA36-763C-1362-AADA-3B55590B46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AFBEDB4-7B45-C757-75F4-AF7D284AF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4ACB70-CEB7-38D3-5E3C-F0B5B762C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787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6FABD-9BA4-FEC7-5A87-638F47889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34386F0-1FC3-1F68-1F76-48320BC35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A803BF9-02D3-CCBF-781E-E3C1E0BA8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 разносить зоны ответственности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3D1ED8-D5C0-5B29-881A-92056C9A1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7439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6BC96-FB0D-7033-E3F2-9DD95B728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5FB5F2B-8EA9-80A2-3C1E-0EB43F0ED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D1AC4F7-E304-0038-8B23-3AB28054D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Свагер</a:t>
            </a:r>
            <a:r>
              <a:rPr lang="ru-RU" dirty="0"/>
              <a:t> позволяет одновременно и видеть документацию на основе схемы и делать запросы к серверу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CE5FDA-5D1E-133D-A418-C4279DF9BA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8943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7FBE8-35AD-2123-BCFE-59487EC94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6A65D30-507D-7E46-3103-683077C02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EE4E02D-FF1F-A0DC-B46F-B3339DC17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Свагер</a:t>
            </a:r>
            <a:r>
              <a:rPr lang="ru-RU" dirty="0"/>
              <a:t> позволяет одновременно и видеть документацию на основе схемы и делать запросы к серверу</a:t>
            </a:r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Вы можете самостоятельно подключить к проекту </a:t>
            </a:r>
            <a:r>
              <a:rPr lang="en-US" dirty="0"/>
              <a:t> 2</a:t>
            </a:r>
            <a:r>
              <a:rPr lang="ru-RU" dirty="0"/>
              <a:t> библиотеки через плагин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fastify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swagger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@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fastify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swagger-ui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получите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свагер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вашем приложении – важный момент про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onReady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забудьте его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Однако вам нужно учитывать 3 важных момента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проекте будут запросы скрытые под авторизацией –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свагере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это будет на так удобно и просто, как хотелось бы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корректной работы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свагера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нужно регистрировать схемы правильно – об этом мы поговорим в следующих слайдах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Нужно учитывать настройку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свагера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продакшена – вы либо тянете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свагенр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продакшен (а он особо не нужен), либо нужны динамические импорты в плагине чтобы все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корретно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запускать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3D91B9-8D89-2010-24E8-EE0F775662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288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CADC4-E097-7C1F-83C8-D9916527E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7308F45-4F9F-9747-093A-82DFA1891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F1E82E-AB2A-902C-8962-523CB12CE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Существует несколько стандартов для описания </a:t>
            </a:r>
            <a:r>
              <a:rPr lang="ru-RU" dirty="0" err="1"/>
              <a:t>апи</a:t>
            </a:r>
            <a:r>
              <a:rPr lang="ru-RU" dirty="0"/>
              <a:t> – </a:t>
            </a:r>
            <a:r>
              <a:rPr lang="ru-RU" dirty="0" err="1"/>
              <a:t>опенапи</a:t>
            </a:r>
            <a:r>
              <a:rPr lang="ru-RU" dirty="0"/>
              <a:t> один из них</a:t>
            </a:r>
          </a:p>
          <a:p>
            <a:r>
              <a:rPr lang="ru-RU" dirty="0"/>
              <a:t>Еще раз разграничим что есть что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8529DC-3A21-4133-3E78-796B4A7202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9494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3543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FD9E2-D368-557D-FC56-A086A8F3F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3D30E0F-8194-C42C-236D-FED01CF8D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560970F-4B9D-E44D-6853-D4EEA7EA3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C3EBCA-B767-6DD7-9061-A6DF45706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3519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E7F66-4A96-84FF-6A84-0C14DF288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F90CE5C-7E14-D836-F945-AB98324B9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B1DA7E5-7086-0485-B61E-B1286BFD4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Идеальный мир, но к сожалению так почти никто не работает т.к. это очень медленный вариант реализации.</a:t>
            </a:r>
          </a:p>
          <a:p>
            <a:r>
              <a:rPr lang="ru-RU" dirty="0"/>
              <a:t>Чаще всего идут по пути код </a:t>
            </a:r>
            <a:r>
              <a:rPr lang="ru-RU" dirty="0" err="1"/>
              <a:t>фирст</a:t>
            </a:r>
            <a:r>
              <a:rPr lang="ru-RU" dirty="0"/>
              <a:t> – сначала делают </a:t>
            </a:r>
            <a:r>
              <a:rPr lang="ru-RU" dirty="0" err="1"/>
              <a:t>бекенд</a:t>
            </a:r>
            <a:r>
              <a:rPr lang="ru-RU" dirty="0"/>
              <a:t>, потом на основе </a:t>
            </a:r>
            <a:r>
              <a:rPr lang="ru-RU" dirty="0" err="1"/>
              <a:t>бекенда</a:t>
            </a:r>
            <a:r>
              <a:rPr lang="ru-RU" dirty="0"/>
              <a:t> делают либо </a:t>
            </a:r>
            <a:r>
              <a:rPr lang="ru-RU" dirty="0" err="1"/>
              <a:t>свагер</a:t>
            </a:r>
            <a:r>
              <a:rPr lang="ru-RU" dirty="0"/>
              <a:t> либо </a:t>
            </a:r>
            <a:r>
              <a:rPr lang="ru-RU" dirty="0" err="1"/>
              <a:t>опенапи</a:t>
            </a:r>
            <a:r>
              <a:rPr lang="ru-RU" dirty="0"/>
              <a:t> спек и дальше если надо генерируют код для фронтенда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F83F83-256B-3097-2D0F-3ABB195D0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7455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3A094-777C-DD68-B00C-BD1CB4CD3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E686997-2BE5-1AC8-78C9-E12E22152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6762F17-B79E-9A61-34CC-6803F18A1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чем проблема голого подхода </a:t>
            </a:r>
            <a:r>
              <a:rPr lang="en" dirty="0"/>
              <a:t>JSON Schema</a:t>
            </a:r>
            <a:r>
              <a:rPr lang="ru-RU" dirty="0"/>
              <a:t> – нет </a:t>
            </a:r>
            <a:r>
              <a:rPr lang="en-US" dirty="0" err="1"/>
              <a:t>ts</a:t>
            </a:r>
            <a:endParaRPr lang="en-US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EA0EDAC-1913-B841-47CC-DF0862C192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57076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06C52-C2B8-B461-A682-B6D9BF860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AC3FF46-9819-E857-7465-2A40CE9F48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F2ABC61-261F-8ACA-EDB3-98832CA0D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B90A04-D3D2-9B55-82A1-F8E4D1287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2444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69A57-2A94-9DC6-B48E-79BA699FE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658664B-4C73-F561-6ABC-419A80E6D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CB415C1-77A9-9F8A-105E-15B25F8EB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FE34A6-A38B-EE7A-C84C-9BB7A1060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57413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D25A3-85D2-B70C-4D7F-9ECC39EF5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50C610B-67D2-723B-15D0-B61E6ECC6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AB0BDDC-C8A9-17D2-930D-5E2BB4BCA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D111B5-A92E-3578-F0DC-CDD6E0747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63691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8B51C-6673-422C-3D15-B92DBB7F5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73528F4-29D5-7D4A-CE76-200FD854D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953DB22-E4E6-A948-C492-F3B3389A6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Вот тут вспоминаем </a:t>
            </a:r>
            <a:r>
              <a:rPr lang="ru-RU" dirty="0" err="1"/>
              <a:t>свагер</a:t>
            </a:r>
            <a:r>
              <a:rPr lang="ru-RU" dirty="0"/>
              <a:t> – если схемы зарегистрированы неверно – </a:t>
            </a:r>
            <a:r>
              <a:rPr lang="ru-RU" dirty="0" err="1"/>
              <a:t>свагер</a:t>
            </a:r>
            <a:r>
              <a:rPr lang="ru-RU" dirty="0"/>
              <a:t> не заведется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43BDF1-BC3A-B629-1A65-36C577B1C6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9266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5BACE7-9428-2AF1-3EA5-2FF007EA9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7B4D34-82B2-DC39-44D3-02E379D8F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21286F-92E3-8AE4-EFC6-C5A615423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3A2ABA-8726-E288-442F-148E963F6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CDCB54-7BB4-FFB5-3B62-7B431DFF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2140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7685AC-7CD5-207F-A2C5-1BC3CA6A6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E82F9E-6302-B5BF-9CEF-107AD45DA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74855C-BF6E-4ABB-27E2-0F71A4877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22882D-F15E-81B4-DDE2-34A809127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791136-C9B9-85FC-EDED-3DC2CDF57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4104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07EA2E-84A6-EDDF-A654-2A14DFC06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0BEAF6-3CE3-8A59-834F-872854F5F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B00CFB-CC2D-3A8A-8CCB-8E51E0BE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6A229E-A3CE-1D30-98C4-8A510D2C9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F257B9-ADE2-07FF-B407-E72CE7690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07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DE618E-6198-865A-56FF-9958526A9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7C8A33-FFA4-4CD5-4E31-1BFC5E0D2C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527F2C-211A-A479-951C-36955BCE4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F9FBBA-E24A-BFFA-9EDE-ADEB0108E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99AF02-9A93-201E-3DE9-32C67CD71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DD4888-EEFA-E9BE-1315-41A4F3729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6273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673D4E-697B-E3A2-DF91-307A24E13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888E54-4FE1-E53A-1C54-9F79CBEAA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97CC55-6C44-E68A-5F02-545ED0BA4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4F37106-1AA3-3472-5779-15DB329EA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5503F18-AE90-3517-668E-97B3FB6F65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9BABB44-7238-2787-D68B-D7411F5D4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0B9ADAB-AB91-8A08-09D9-6B7D27316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D150C27-065A-4F31-E0DA-C7A6CB894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499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93DF74-EDD1-1F99-1231-F97554999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974E8B6-0EE2-C5B6-0AF6-1A1D1E42E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6218CA-D861-0BEA-F182-C742F5608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F1624C-0C2D-E631-EC86-62111111A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981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6BFA212-3BA0-0DA8-932F-198B80D8F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3004B47-9C30-21D9-1D88-1C0AAFA6F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BCF6953-E26C-E099-AD49-0ED985C0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759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19F35B-62D7-B889-CA0D-081205064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887404-DED5-0FCE-D7CB-5B4CFABE6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1C19F2-EB93-EAB7-DD52-70012E04D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38A145-70D4-68EE-1333-EAD5E743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4DD476-D381-85D3-C181-10B6D4480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2D3A2A-3A38-BB8F-2427-3415A0B1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658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F16ACF-46DF-CE16-0F96-DB58A00BC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7F54011-85DB-B9A9-323D-ED8A89375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596D56-A821-B247-57D3-87F567AEB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8AD66F-F8E9-BD27-BB00-2D95388DE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9CC595-B741-DBBE-9800-554292157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31AB64-1B6A-9718-DE33-1E0E6A501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9010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95F309-5A48-FFFB-D914-F02C26B64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0832717-A1C5-E77E-EC58-913A52884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E2949A-1053-51A3-6D97-4128FE0C6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9DB074-1677-5FA6-6CAE-E7FC55A1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27F633-A0BE-3EE8-4E8D-4262A119F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0145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05F80B-5FD5-342C-5360-C9C1DCC0F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5057294-2D6E-632F-8280-F1A255532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C4FFC8-0D80-F9E0-D1D4-0C9AFA8B2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85525C-37E1-6A7F-9562-6589D94F9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46354A-4D92-4701-5152-687D31C3D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848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5426D-6C08-B5C5-4141-E2403A706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256F41-34FC-C563-F59F-5BB4939F6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F407CD-A116-4711-EC69-7038CD40AE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3D51-AA56-4D0B-BE5E-8435701EB57A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26FD68-587F-A48B-A7CE-1B26A674B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C9E4CD-5013-6699-97B9-16BC8AD1A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46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B22E659-EE2B-00AB-B918-D55C0947EB2F}"/>
              </a:ext>
            </a:extLst>
          </p:cNvPr>
          <p:cNvSpPr txBox="1"/>
          <p:nvPr/>
        </p:nvSpPr>
        <p:spPr>
          <a:xfrm>
            <a:off x="692585" y="1509155"/>
            <a:ext cx="6556282" cy="1421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chemeClr val="bg1"/>
                </a:solidFill>
              </a:rPr>
              <a:t>Лекция 5</a:t>
            </a:r>
            <a:endParaRPr lang="en-US" sz="48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4800" dirty="0">
                <a:solidFill>
                  <a:schemeClr val="bg1"/>
                </a:solidFill>
              </a:rPr>
              <a:t>Schemas, validation, spec</a:t>
            </a:r>
            <a:endParaRPr lang="ru-RU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161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18C615-A1C8-14AC-FF41-8F6C3C60655F}"/>
              </a:ext>
            </a:extLst>
          </p:cNvPr>
          <p:cNvSpPr txBox="1"/>
          <p:nvPr/>
        </p:nvSpPr>
        <p:spPr>
          <a:xfrm>
            <a:off x="485191" y="584717"/>
            <a:ext cx="6599854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6600" dirty="0">
                <a:solidFill>
                  <a:schemeClr val="bg1"/>
                </a:solidFill>
              </a:rPr>
              <a:t>Контракт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1168D2-72F0-B0CA-4725-E3BE325B2FD5}"/>
              </a:ext>
            </a:extLst>
          </p:cNvPr>
          <p:cNvSpPr txBox="1"/>
          <p:nvPr/>
        </p:nvSpPr>
        <p:spPr>
          <a:xfrm>
            <a:off x="7464060" y="-1555992"/>
            <a:ext cx="4603531" cy="100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5000" dirty="0">
                <a:gradFill>
                  <a:gsLst>
                    <a:gs pos="22000">
                      <a:srgbClr val="39219E"/>
                    </a:gs>
                    <a:gs pos="78000">
                      <a:srgbClr val="19191A"/>
                    </a:gs>
                  </a:gsLst>
                  <a:lin ang="5400000" scaled="1"/>
                </a:gra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24321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35120C-07F4-C411-78C7-642D706CD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A2C39C-9C03-CEFD-63E4-12284B00F64A}"/>
              </a:ext>
            </a:extLst>
          </p:cNvPr>
          <p:cNvSpPr txBox="1"/>
          <p:nvPr/>
        </p:nvSpPr>
        <p:spPr>
          <a:xfrm>
            <a:off x="470913" y="353287"/>
            <a:ext cx="3221331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" sz="4800" dirty="0">
                <a:solidFill>
                  <a:srgbClr val="1C1B1B"/>
                </a:solidFill>
              </a:rPr>
              <a:t>API contract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446840-1BC1-EC59-61E9-13C27F0EACE0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8E008A-30A1-67C7-ACA3-9208E28B6E60}"/>
              </a:ext>
            </a:extLst>
          </p:cNvPr>
          <p:cNvSpPr txBox="1"/>
          <p:nvPr/>
        </p:nvSpPr>
        <p:spPr>
          <a:xfrm>
            <a:off x="470913" y="1120676"/>
            <a:ext cx="322133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2400" dirty="0"/>
              <a:t>- URL;</a:t>
            </a:r>
          </a:p>
          <a:p>
            <a:r>
              <a:rPr lang="en" sz="2400" dirty="0"/>
              <a:t>- method;</a:t>
            </a:r>
          </a:p>
          <a:p>
            <a:r>
              <a:rPr lang="en" sz="2400" dirty="0"/>
              <a:t>- params;</a:t>
            </a:r>
          </a:p>
          <a:p>
            <a:r>
              <a:rPr lang="en" sz="2400" dirty="0"/>
              <a:t>- query;</a:t>
            </a:r>
          </a:p>
          <a:p>
            <a:r>
              <a:rPr lang="en" sz="2400" dirty="0"/>
              <a:t>- request body;</a:t>
            </a:r>
          </a:p>
          <a:p>
            <a:r>
              <a:rPr lang="en" sz="2400" dirty="0"/>
              <a:t>- response body;</a:t>
            </a:r>
          </a:p>
          <a:p>
            <a:r>
              <a:rPr lang="en" sz="2400" dirty="0"/>
              <a:t>- status codes;</a:t>
            </a:r>
          </a:p>
          <a:p>
            <a:r>
              <a:rPr lang="en" sz="2400" dirty="0"/>
              <a:t>- errors.</a:t>
            </a:r>
            <a:endParaRPr lang="ru-RU" sz="24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741736C-9C9A-7EED-FF2C-126A2C3244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815" y="986996"/>
            <a:ext cx="52197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399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BDAA58-B8EC-3659-B80A-6C8AB058A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D8A2764-F726-50BA-030E-A66033B7EF6A}"/>
              </a:ext>
            </a:extLst>
          </p:cNvPr>
          <p:cNvSpPr txBox="1"/>
          <p:nvPr/>
        </p:nvSpPr>
        <p:spPr>
          <a:xfrm>
            <a:off x="470913" y="353287"/>
            <a:ext cx="2143536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Schema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E7D3C9-41FC-0F31-C7D1-F609CCEE535F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DA8647-046C-2C76-5068-A8D90CE805E1}"/>
              </a:ext>
            </a:extLst>
          </p:cNvPr>
          <p:cNvSpPr txBox="1"/>
          <p:nvPr/>
        </p:nvSpPr>
        <p:spPr>
          <a:xfrm>
            <a:off x="470913" y="1120676"/>
            <a:ext cx="32213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Описывает формат данных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Из коробки поддерживается </a:t>
            </a:r>
            <a:r>
              <a:rPr lang="en-US" sz="2000" dirty="0" err="1"/>
              <a:t>Fastify</a:t>
            </a:r>
            <a:r>
              <a:rPr lang="ru-RU" sz="2000" dirty="0"/>
              <a:t> (</a:t>
            </a:r>
            <a:r>
              <a:rPr lang="en-US" sz="2000" dirty="0"/>
              <a:t>JSON Schema)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Runtime validation </a:t>
            </a:r>
            <a:r>
              <a:rPr lang="ru-RU" sz="2000" dirty="0"/>
              <a:t>– при неверной схеме мы получим ошибку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C149E2A-1806-AE35-DE93-20E223789C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8687" y="1110417"/>
            <a:ext cx="7772400" cy="295740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F245682-10DF-900C-0CB1-100645A285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687" y="4058404"/>
            <a:ext cx="7772400" cy="153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962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D9B518-5EA9-04F4-AB74-EFF3C19AC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36C451C-4AE6-796F-5B38-765F7BAF1FF4}"/>
              </a:ext>
            </a:extLst>
          </p:cNvPr>
          <p:cNvSpPr txBox="1"/>
          <p:nvPr/>
        </p:nvSpPr>
        <p:spPr>
          <a:xfrm>
            <a:off x="470913" y="353287"/>
            <a:ext cx="6578660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Схема и бизнес-правила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2C5970-F1AD-A2DD-55A8-0CCDB6BF5799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784776-C2A7-A69F-93BA-EE9F967563CB}"/>
              </a:ext>
            </a:extLst>
          </p:cNvPr>
          <p:cNvSpPr txBox="1"/>
          <p:nvPr/>
        </p:nvSpPr>
        <p:spPr>
          <a:xfrm>
            <a:off x="644006" y="1110417"/>
            <a:ext cx="481778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Schema </a:t>
            </a:r>
            <a:r>
              <a:rPr lang="ru-RU" sz="2400" dirty="0"/>
              <a:t>проверяет форму: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- поле есть;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- тип правильный;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- </a:t>
            </a:r>
            <a:r>
              <a:rPr lang="en" sz="2400" dirty="0" err="1"/>
              <a:t>enum</a:t>
            </a:r>
            <a:r>
              <a:rPr lang="en" sz="2400" dirty="0"/>
              <a:t> </a:t>
            </a:r>
            <a:r>
              <a:rPr lang="ru-RU" sz="2400" dirty="0"/>
              <a:t>допустимый;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- строка не пустая.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Service </a:t>
            </a:r>
            <a:r>
              <a:rPr lang="ru-RU" sz="2400" dirty="0"/>
              <a:t>проверяет смысл: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- пользователь имеет право;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- проект активен;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- переход статуса разрешен.</a:t>
            </a:r>
          </a:p>
        </p:txBody>
      </p:sp>
    </p:spTree>
    <p:extLst>
      <p:ext uri="{BB962C8B-B14F-4D97-AF65-F5344CB8AC3E}">
        <p14:creationId xmlns:p14="http://schemas.microsoft.com/office/powerpoint/2010/main" val="1069714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E20DDD-6B7D-9F98-D341-109DB8751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CB77AFA-AE99-B3F3-FE0C-BB58669C89B4}"/>
              </a:ext>
            </a:extLst>
          </p:cNvPr>
          <p:cNvSpPr txBox="1"/>
          <p:nvPr/>
        </p:nvSpPr>
        <p:spPr>
          <a:xfrm>
            <a:off x="470913" y="353287"/>
            <a:ext cx="2292359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Swagger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78144F-8A32-131A-E4ED-35C1908AC4AF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9EF2D0E-7AE7-8701-9401-379D4EBD6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06" y="1110417"/>
            <a:ext cx="6776101" cy="381992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EF01F8-D891-9927-1B0F-DF23A3F4AB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107" y="753761"/>
            <a:ext cx="4475055" cy="510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933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AC04E3-C3D0-1324-0837-B6A4E8384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69C618E-BBE2-02FB-674E-B6435E2266B0}"/>
              </a:ext>
            </a:extLst>
          </p:cNvPr>
          <p:cNvSpPr txBox="1"/>
          <p:nvPr/>
        </p:nvSpPr>
        <p:spPr>
          <a:xfrm>
            <a:off x="470913" y="353287"/>
            <a:ext cx="2292359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Swagger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3523F4-D963-4413-2BE8-0C6015C42F20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F5009F-B0DA-1A30-19AD-31AF940E9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3" y="1008642"/>
            <a:ext cx="7772400" cy="44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989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A6A71D-309F-6CD1-30F5-45846A1E5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8EDE6EC-FFB6-469A-B6A7-325BA25BF626}"/>
              </a:ext>
            </a:extLst>
          </p:cNvPr>
          <p:cNvSpPr txBox="1"/>
          <p:nvPr/>
        </p:nvSpPr>
        <p:spPr>
          <a:xfrm>
            <a:off x="470913" y="353287"/>
            <a:ext cx="6367449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 err="1">
                <a:solidFill>
                  <a:srgbClr val="1C1B1B"/>
                </a:solidFill>
              </a:rPr>
              <a:t>OpenAPI</a:t>
            </a:r>
            <a:r>
              <a:rPr lang="en-US" sz="4800" dirty="0">
                <a:solidFill>
                  <a:srgbClr val="1C1B1B"/>
                </a:solidFill>
              </a:rPr>
              <a:t> </a:t>
            </a:r>
            <a:r>
              <a:rPr lang="ru-RU" sz="4800" dirty="0">
                <a:solidFill>
                  <a:srgbClr val="1C1B1B"/>
                </a:solidFill>
              </a:rPr>
              <a:t>и </a:t>
            </a:r>
            <a:r>
              <a:rPr lang="en-US" sz="4800" dirty="0">
                <a:solidFill>
                  <a:srgbClr val="1C1B1B"/>
                </a:solidFill>
              </a:rPr>
              <a:t>JSON Schema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612656-D6DA-F163-8507-FEB378187DE4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D1B558-95AF-0503-7C32-302BB5849DAD}"/>
              </a:ext>
            </a:extLst>
          </p:cNvPr>
          <p:cNvSpPr txBox="1"/>
          <p:nvPr/>
        </p:nvSpPr>
        <p:spPr>
          <a:xfrm>
            <a:off x="766120" y="1322173"/>
            <a:ext cx="399123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OpenAPI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какие есть </a:t>
            </a:r>
            <a:r>
              <a:rPr lang="en" dirty="0"/>
              <a:t>URL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какие </a:t>
            </a:r>
            <a:r>
              <a:rPr lang="en" dirty="0"/>
              <a:t>HTTP-</a:t>
            </a:r>
            <a:r>
              <a:rPr lang="ru-RU" dirty="0"/>
              <a:t>методы поддерживаются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какие </a:t>
            </a:r>
            <a:r>
              <a:rPr lang="en" dirty="0"/>
              <a:t>path/query/header </a:t>
            </a:r>
            <a:r>
              <a:rPr lang="ru-RU" dirty="0"/>
              <a:t>параметры есть у запроса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какое тело запроса ожидается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какие </a:t>
            </a:r>
            <a:r>
              <a:rPr lang="en" dirty="0"/>
              <a:t>status codes </a:t>
            </a:r>
            <a:r>
              <a:rPr lang="ru-RU" dirty="0"/>
              <a:t>может вернуть сервер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какие тела ответов возвращаются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какие схемы данных используются внутри этих запросов и ответов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Может содержать </a:t>
            </a:r>
            <a:r>
              <a:rPr lang="en-US" dirty="0"/>
              <a:t>JSON Schema</a:t>
            </a:r>
            <a:r>
              <a:rPr lang="ru-RU" dirty="0"/>
              <a:t> или близкий формат внутри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23E9BE-2112-7CB1-30CB-C52A7EFCED1C}"/>
              </a:ext>
            </a:extLst>
          </p:cNvPr>
          <p:cNvSpPr txBox="1"/>
          <p:nvPr/>
        </p:nvSpPr>
        <p:spPr>
          <a:xfrm>
            <a:off x="5439034" y="1322173"/>
            <a:ext cx="39912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JSON Schema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это объект или массив?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какие поля есть внутри?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какие поля обязательные?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какие у полей типы?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какие есть ограничения: </a:t>
            </a:r>
            <a:r>
              <a:rPr lang="en" dirty="0" err="1"/>
              <a:t>minLength</a:t>
            </a:r>
            <a:r>
              <a:rPr lang="en" dirty="0"/>
              <a:t>, minimum, </a:t>
            </a:r>
            <a:r>
              <a:rPr lang="en" dirty="0" err="1"/>
              <a:t>enum</a:t>
            </a:r>
            <a:r>
              <a:rPr lang="en" dirty="0"/>
              <a:t>,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какие вложенные объекты допустимы?</a:t>
            </a:r>
          </a:p>
        </p:txBody>
      </p:sp>
    </p:spTree>
    <p:extLst>
      <p:ext uri="{BB962C8B-B14F-4D97-AF65-F5344CB8AC3E}">
        <p14:creationId xmlns:p14="http://schemas.microsoft.com/office/powerpoint/2010/main" val="3891277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5FFFD8-4F00-32DE-06C8-CC71D01F1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AB578B-A22F-DBED-DDE4-0E10AFC94CD7}"/>
              </a:ext>
            </a:extLst>
          </p:cNvPr>
          <p:cNvSpPr txBox="1"/>
          <p:nvPr/>
        </p:nvSpPr>
        <p:spPr>
          <a:xfrm>
            <a:off x="485191" y="584717"/>
            <a:ext cx="6599854" cy="2834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6600" dirty="0">
                <a:solidFill>
                  <a:schemeClr val="bg1"/>
                </a:solidFill>
              </a:rPr>
              <a:t>2 подхода</a:t>
            </a:r>
          </a:p>
          <a:p>
            <a:pPr>
              <a:lnSpc>
                <a:spcPct val="90000"/>
              </a:lnSpc>
            </a:pPr>
            <a:r>
              <a:rPr lang="en-US" sz="6600" dirty="0">
                <a:solidFill>
                  <a:schemeClr val="bg1"/>
                </a:solidFill>
              </a:rPr>
              <a:t>Code-first</a:t>
            </a:r>
          </a:p>
          <a:p>
            <a:pPr>
              <a:lnSpc>
                <a:spcPct val="90000"/>
              </a:lnSpc>
            </a:pPr>
            <a:r>
              <a:rPr lang="en-US" sz="6600" dirty="0">
                <a:solidFill>
                  <a:schemeClr val="bg1"/>
                </a:solidFill>
              </a:rPr>
              <a:t>Contract-first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FE9368-C637-8777-921F-A663175CC876}"/>
              </a:ext>
            </a:extLst>
          </p:cNvPr>
          <p:cNvSpPr txBox="1"/>
          <p:nvPr/>
        </p:nvSpPr>
        <p:spPr>
          <a:xfrm>
            <a:off x="7464060" y="-1555992"/>
            <a:ext cx="4603531" cy="100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0" dirty="0">
                <a:gradFill>
                  <a:gsLst>
                    <a:gs pos="22000">
                      <a:srgbClr val="39219E"/>
                    </a:gs>
                    <a:gs pos="78000">
                      <a:srgbClr val="19191A"/>
                    </a:gs>
                  </a:gsLst>
                  <a:lin ang="5400000" scaled="1"/>
                </a:gradFill>
              </a:rPr>
              <a:t>2</a:t>
            </a:r>
            <a:endParaRPr lang="ru-RU" sz="65000" dirty="0">
              <a:gradFill>
                <a:gsLst>
                  <a:gs pos="22000">
                    <a:srgbClr val="39219E"/>
                  </a:gs>
                  <a:gs pos="78000">
                    <a:srgbClr val="19191A"/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789534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872FBA-06EF-6893-2EF3-36C9EA59F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E1ADF2-74ED-87AE-E29A-EBCFD415D6A7}"/>
              </a:ext>
            </a:extLst>
          </p:cNvPr>
          <p:cNvSpPr txBox="1"/>
          <p:nvPr/>
        </p:nvSpPr>
        <p:spPr>
          <a:xfrm>
            <a:off x="473126" y="1559806"/>
            <a:ext cx="2625655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Code-first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ECAF98-7B02-5D51-75F8-316C116FA6F7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FCF28D-A2F4-ECBE-983D-09C7E1A9B5C6}"/>
              </a:ext>
            </a:extLst>
          </p:cNvPr>
          <p:cNvSpPr txBox="1"/>
          <p:nvPr/>
        </p:nvSpPr>
        <p:spPr>
          <a:xfrm>
            <a:off x="768333" y="2528692"/>
            <a:ext cx="5329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1. пишем </a:t>
            </a:r>
            <a:r>
              <a:rPr lang="ru-RU" dirty="0" err="1"/>
              <a:t>route</a:t>
            </a:r>
            <a:r>
              <a:rPr lang="ru-RU" dirty="0"/>
              <a:t> и </a:t>
            </a:r>
            <a:r>
              <a:rPr lang="ru-RU" dirty="0" err="1"/>
              <a:t>schemas</a:t>
            </a:r>
            <a:r>
              <a:rPr lang="ru-RU" dirty="0"/>
              <a:t> в коде;</a:t>
            </a:r>
          </a:p>
          <a:p>
            <a:r>
              <a:rPr lang="ru-RU" dirty="0"/>
              <a:t>2. </a:t>
            </a:r>
            <a:r>
              <a:rPr lang="ru-RU" dirty="0" err="1"/>
              <a:t>backend</a:t>
            </a:r>
            <a:r>
              <a:rPr lang="ru-RU" dirty="0"/>
              <a:t> работает;</a:t>
            </a:r>
          </a:p>
          <a:p>
            <a:r>
              <a:rPr lang="ru-RU" dirty="0"/>
              <a:t>3. из кода получаем</a:t>
            </a:r>
            <a:r>
              <a:rPr lang="en-US" dirty="0"/>
              <a:t> </a:t>
            </a:r>
            <a:r>
              <a:rPr lang="ru-RU" dirty="0"/>
              <a:t>документацию/</a:t>
            </a:r>
            <a:r>
              <a:rPr lang="ru-RU" dirty="0" err="1"/>
              <a:t>spec</a:t>
            </a:r>
            <a:r>
              <a:rPr lang="ru-RU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67D697-B4B9-1DB1-6995-B8427AE85BB8}"/>
              </a:ext>
            </a:extLst>
          </p:cNvPr>
          <p:cNvSpPr txBox="1"/>
          <p:nvPr/>
        </p:nvSpPr>
        <p:spPr>
          <a:xfrm>
            <a:off x="7183395" y="2528692"/>
            <a:ext cx="5329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1. сначала описываем </a:t>
            </a:r>
            <a:r>
              <a:rPr lang="en" dirty="0"/>
              <a:t>API contract;</a:t>
            </a:r>
          </a:p>
          <a:p>
            <a:r>
              <a:rPr lang="en" dirty="0"/>
              <a:t>2. frontend </a:t>
            </a:r>
            <a:r>
              <a:rPr lang="ru-RU" dirty="0"/>
              <a:t>и </a:t>
            </a:r>
            <a:r>
              <a:rPr lang="en" dirty="0"/>
              <a:t>backend </a:t>
            </a:r>
            <a:r>
              <a:rPr lang="ru-RU" dirty="0"/>
              <a:t>согласуют его;</a:t>
            </a:r>
          </a:p>
          <a:p>
            <a:r>
              <a:rPr lang="ru-RU" dirty="0"/>
              <a:t>3. затем пишем реализацию.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29EC91-2BA3-977A-6B18-7FE30E68BCDE}"/>
              </a:ext>
            </a:extLst>
          </p:cNvPr>
          <p:cNvSpPr txBox="1"/>
          <p:nvPr/>
        </p:nvSpPr>
        <p:spPr>
          <a:xfrm>
            <a:off x="7183395" y="1559806"/>
            <a:ext cx="3465244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Contract-first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E6B70A-607C-4704-F88F-46DEC237F5B5}"/>
              </a:ext>
            </a:extLst>
          </p:cNvPr>
          <p:cNvSpPr txBox="1"/>
          <p:nvPr/>
        </p:nvSpPr>
        <p:spPr>
          <a:xfrm>
            <a:off x="976184" y="3867665"/>
            <a:ext cx="378033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Плюсы: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Быстро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Проще рефакторинг и изменения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dirty="0"/>
              <a:t>Минусы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Frontend </a:t>
            </a:r>
            <a:r>
              <a:rPr lang="ru-RU" dirty="0"/>
              <a:t>ждет </a:t>
            </a:r>
            <a:r>
              <a:rPr lang="en-US" dirty="0"/>
              <a:t>backend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DA7D35-9CE5-71CD-A61A-2FB1508D8037}"/>
              </a:ext>
            </a:extLst>
          </p:cNvPr>
          <p:cNvSpPr txBox="1"/>
          <p:nvPr/>
        </p:nvSpPr>
        <p:spPr>
          <a:xfrm>
            <a:off x="7183395" y="3867665"/>
            <a:ext cx="423558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Плюсы: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команды могут работать параллельно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dirty="0"/>
              <a:t>Минусы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Contract </a:t>
            </a:r>
            <a:r>
              <a:rPr lang="ru-RU" dirty="0"/>
              <a:t>нужно поддерживать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795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B8FE34-CFCA-1347-66EF-2A95FB9DA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334B3F-D4CA-9719-45EF-70490D901712}"/>
              </a:ext>
            </a:extLst>
          </p:cNvPr>
          <p:cNvSpPr txBox="1"/>
          <p:nvPr/>
        </p:nvSpPr>
        <p:spPr>
          <a:xfrm>
            <a:off x="473126" y="385914"/>
            <a:ext cx="6538585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Идеальный </a:t>
            </a:r>
            <a:r>
              <a:rPr lang="en-US" sz="4800" dirty="0">
                <a:solidFill>
                  <a:srgbClr val="1C1B1B"/>
                </a:solidFill>
              </a:rPr>
              <a:t>contract-first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D8A095-922D-2B9A-0CBE-65123A6E9873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B51D32-8C08-6AD7-F818-241FFE66BA6A}"/>
              </a:ext>
            </a:extLst>
          </p:cNvPr>
          <p:cNvSpPr txBox="1"/>
          <p:nvPr/>
        </p:nvSpPr>
        <p:spPr>
          <a:xfrm>
            <a:off x="644006" y="1143044"/>
            <a:ext cx="78203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Хранится в отдельном пакете под </a:t>
            </a:r>
            <a:r>
              <a:rPr lang="en-US" dirty="0"/>
              <a:t>git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Формат </a:t>
            </a:r>
            <a:r>
              <a:rPr lang="en-US" dirty="0" err="1"/>
              <a:t>openapi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Валидируется как </a:t>
            </a:r>
            <a:r>
              <a:rPr lang="ru-RU" dirty="0" err="1"/>
              <a:t>бекендом</a:t>
            </a:r>
            <a:r>
              <a:rPr lang="ru-RU" dirty="0"/>
              <a:t> так и фронтендом</a:t>
            </a:r>
            <a:r>
              <a:rPr lang="en-US" dirty="0"/>
              <a:t> </a:t>
            </a:r>
            <a:r>
              <a:rPr lang="ru-RU" dirty="0"/>
              <a:t>на этапе МР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На основе контракта генерируются </a:t>
            </a:r>
            <a:r>
              <a:rPr lang="en-US" dirty="0"/>
              <a:t>controller</a:t>
            </a:r>
            <a:r>
              <a:rPr lang="ru-RU" dirty="0"/>
              <a:t> (сам контроллер и нужные </a:t>
            </a:r>
            <a:r>
              <a:rPr lang="en-US" dirty="0"/>
              <a:t>type provider) </a:t>
            </a:r>
            <a:r>
              <a:rPr lang="ru-RU" dirty="0"/>
              <a:t>на </a:t>
            </a:r>
            <a:r>
              <a:rPr lang="ru-RU" dirty="0" err="1"/>
              <a:t>бекенде</a:t>
            </a:r>
            <a:r>
              <a:rPr lang="ru-RU" dirty="0"/>
              <a:t> и сервис для запроса с фронтенда</a:t>
            </a:r>
            <a:r>
              <a:rPr lang="en-US" dirty="0"/>
              <a:t> (</a:t>
            </a:r>
            <a:r>
              <a:rPr lang="ru-RU" dirty="0"/>
              <a:t>сам сервис, делающий запрос и </a:t>
            </a:r>
            <a:r>
              <a:rPr lang="en-US" dirty="0"/>
              <a:t>typescript </a:t>
            </a:r>
            <a:r>
              <a:rPr lang="ru-RU" dirty="0"/>
              <a:t>интерфейсы)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Единый источник истины для всех</a:t>
            </a:r>
          </a:p>
        </p:txBody>
      </p:sp>
    </p:spTree>
    <p:extLst>
      <p:ext uri="{BB962C8B-B14F-4D97-AF65-F5344CB8AC3E}">
        <p14:creationId xmlns:p14="http://schemas.microsoft.com/office/powerpoint/2010/main" val="319989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14CF2B-C298-60DA-A03D-A178BE238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30D2F5-0809-D3B6-6A61-72F653A4F9D4}"/>
              </a:ext>
            </a:extLst>
          </p:cNvPr>
          <p:cNvSpPr txBox="1"/>
          <p:nvPr/>
        </p:nvSpPr>
        <p:spPr>
          <a:xfrm>
            <a:off x="485191" y="584717"/>
            <a:ext cx="6599854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6600" dirty="0" err="1">
                <a:solidFill>
                  <a:schemeClr val="bg1"/>
                </a:solidFill>
              </a:rPr>
              <a:t>Fastify</a:t>
            </a:r>
            <a:r>
              <a:rPr lang="en-US" sz="6600" dirty="0">
                <a:solidFill>
                  <a:schemeClr val="bg1"/>
                </a:solidFill>
              </a:rPr>
              <a:t> + Schema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38F4BA-587F-7C39-DF11-BDA71028C8DC}"/>
              </a:ext>
            </a:extLst>
          </p:cNvPr>
          <p:cNvSpPr txBox="1"/>
          <p:nvPr/>
        </p:nvSpPr>
        <p:spPr>
          <a:xfrm>
            <a:off x="7464060" y="-1555992"/>
            <a:ext cx="4603531" cy="100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0" dirty="0">
                <a:gradFill>
                  <a:gsLst>
                    <a:gs pos="22000">
                      <a:srgbClr val="39219E"/>
                    </a:gs>
                    <a:gs pos="78000">
                      <a:srgbClr val="19191A"/>
                    </a:gs>
                  </a:gsLst>
                  <a:lin ang="5400000" scaled="1"/>
                </a:gradFill>
              </a:rPr>
              <a:t>3</a:t>
            </a:r>
            <a:endParaRPr lang="ru-RU" sz="65000" dirty="0">
              <a:gradFill>
                <a:gsLst>
                  <a:gs pos="22000">
                    <a:srgbClr val="39219E"/>
                  </a:gs>
                  <a:gs pos="78000">
                    <a:srgbClr val="19191A"/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271212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CF5107-9BE8-46BD-C26E-156B15D50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D91E22E-A0F8-2C2D-0CBC-C702538D0E95}"/>
              </a:ext>
            </a:extLst>
          </p:cNvPr>
          <p:cNvSpPr txBox="1"/>
          <p:nvPr/>
        </p:nvSpPr>
        <p:spPr>
          <a:xfrm>
            <a:off x="470913" y="353287"/>
            <a:ext cx="2733056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 err="1">
                <a:solidFill>
                  <a:srgbClr val="1C1B1B"/>
                </a:solidFill>
              </a:rPr>
              <a:t>Schema.ts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F19091-C7E6-BBB2-FE14-99AB00ADFD7A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2D67E5-5B8A-F499-8E87-D8137B9AD2F1}"/>
              </a:ext>
            </a:extLst>
          </p:cNvPr>
          <p:cNvSpPr txBox="1"/>
          <p:nvPr/>
        </p:nvSpPr>
        <p:spPr>
          <a:xfrm>
            <a:off x="766120" y="1322173"/>
            <a:ext cx="532988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</a:t>
            </a:r>
            <a:r>
              <a:rPr lang="en" dirty="0" err="1"/>
              <a:t>Fastify</a:t>
            </a:r>
            <a:r>
              <a:rPr lang="en" dirty="0"/>
              <a:t> schema </a:t>
            </a:r>
            <a:r>
              <a:rPr lang="ru-RU" dirty="0"/>
              <a:t>описывает контракт конкретного </a:t>
            </a:r>
            <a:r>
              <a:rPr lang="en" dirty="0"/>
              <a:t>route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 уровне </a:t>
            </a:r>
            <a:r>
              <a:rPr lang="en" dirty="0"/>
              <a:t>route schema </a:t>
            </a:r>
            <a:r>
              <a:rPr lang="ru-RU" dirty="0"/>
              <a:t>отвечает за </a:t>
            </a:r>
            <a:r>
              <a:rPr lang="en" dirty="0"/>
              <a:t>HTTP-</a:t>
            </a:r>
            <a:r>
              <a:rPr lang="ru-RU" dirty="0"/>
              <a:t>части запроса и ответа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Можно описать: </a:t>
            </a:r>
            <a:r>
              <a:rPr lang="en" dirty="0"/>
              <a:t>params, </a:t>
            </a:r>
            <a:r>
              <a:rPr lang="en" dirty="0" err="1"/>
              <a:t>querystring</a:t>
            </a:r>
            <a:r>
              <a:rPr lang="en" dirty="0"/>
              <a:t>, headers, body, response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То есть </a:t>
            </a:r>
            <a:r>
              <a:rPr lang="en" dirty="0"/>
              <a:t>route schema </a:t>
            </a:r>
            <a:r>
              <a:rPr lang="ru-RU" dirty="0"/>
              <a:t>говорит: что </a:t>
            </a:r>
            <a:r>
              <a:rPr lang="en" dirty="0"/>
              <a:t>endpoint </a:t>
            </a:r>
            <a:r>
              <a:rPr lang="ru-RU" dirty="0"/>
              <a:t>принимает и что возвращает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 само тело данных можно описывать разными способами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базовом варианте используется </a:t>
            </a:r>
            <a:r>
              <a:rPr lang="en" dirty="0"/>
              <a:t>JSON Schema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</a:t>
            </a:r>
            <a:r>
              <a:rPr lang="en" dirty="0"/>
              <a:t>TypeScript-</a:t>
            </a:r>
            <a:r>
              <a:rPr lang="ru-RU" dirty="0"/>
              <a:t>проектах часто используют </a:t>
            </a:r>
            <a:r>
              <a:rPr lang="en" dirty="0"/>
              <a:t>Type Provider: </a:t>
            </a:r>
            <a:r>
              <a:rPr lang="en" dirty="0" err="1"/>
              <a:t>TypeBox</a:t>
            </a:r>
            <a:r>
              <a:rPr lang="en" dirty="0"/>
              <a:t>, Zod, </a:t>
            </a:r>
            <a:r>
              <a:rPr lang="en" dirty="0" err="1"/>
              <a:t>Valibot</a:t>
            </a:r>
            <a:r>
              <a:rPr lang="en" dirty="0"/>
              <a:t> </a:t>
            </a:r>
            <a:r>
              <a:rPr lang="ru-RU" dirty="0"/>
              <a:t>и другие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Type Provider </a:t>
            </a:r>
            <a:r>
              <a:rPr lang="ru-RU" dirty="0"/>
              <a:t>помогает связать </a:t>
            </a:r>
            <a:r>
              <a:rPr lang="en" dirty="0"/>
              <a:t>runtime-</a:t>
            </a:r>
            <a:r>
              <a:rPr lang="ru-RU" dirty="0"/>
              <a:t>валидацию и </a:t>
            </a:r>
            <a:r>
              <a:rPr lang="en" dirty="0"/>
              <a:t>TypeScript-</a:t>
            </a:r>
            <a:r>
              <a:rPr lang="ru-RU" dirty="0"/>
              <a:t>типы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 err="1"/>
              <a:t>Fastify</a:t>
            </a:r>
            <a:r>
              <a:rPr lang="en" dirty="0"/>
              <a:t> </a:t>
            </a:r>
            <a:r>
              <a:rPr lang="ru-RU" dirty="0"/>
              <a:t>использует </a:t>
            </a:r>
            <a:r>
              <a:rPr lang="en" dirty="0"/>
              <a:t>schema </a:t>
            </a:r>
            <a:r>
              <a:rPr lang="ru-RU" dirty="0"/>
              <a:t>не только для валидации, но и для </a:t>
            </a:r>
            <a:r>
              <a:rPr lang="ru-RU" b="1" dirty="0"/>
              <a:t>сериализации</a:t>
            </a:r>
            <a:r>
              <a:rPr lang="ru-RU" dirty="0"/>
              <a:t> </a:t>
            </a:r>
            <a:r>
              <a:rPr lang="en" dirty="0"/>
              <a:t>response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AB930DE-B783-9013-CDEE-7C09B7A23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951" y="1110417"/>
            <a:ext cx="5638164" cy="495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514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E8BF36-67E9-FA15-ADE8-D779F9D7D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1954010-4F6D-40A5-B912-996070B73030}"/>
              </a:ext>
            </a:extLst>
          </p:cNvPr>
          <p:cNvSpPr txBox="1"/>
          <p:nvPr/>
        </p:nvSpPr>
        <p:spPr>
          <a:xfrm>
            <a:off x="470913" y="353287"/>
            <a:ext cx="5746060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 err="1">
                <a:solidFill>
                  <a:srgbClr val="1C1B1B"/>
                </a:solidFill>
              </a:rPr>
              <a:t>Серялизация</a:t>
            </a:r>
            <a:r>
              <a:rPr lang="ru-RU" sz="4800" dirty="0">
                <a:solidFill>
                  <a:srgbClr val="1C1B1B"/>
                </a:solidFill>
              </a:rPr>
              <a:t> ответов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6AFC8-3319-9995-F658-05B0925B5478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7BFB75-FFE0-77CC-B8B1-E37BE7527082}"/>
              </a:ext>
            </a:extLst>
          </p:cNvPr>
          <p:cNvSpPr txBox="1"/>
          <p:nvPr/>
        </p:nvSpPr>
        <p:spPr>
          <a:xfrm>
            <a:off x="766120" y="1322173"/>
            <a:ext cx="53298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response — </a:t>
            </a:r>
            <a:r>
              <a:rPr lang="ru-RU" dirty="0"/>
              <a:t>исполняемый контракт, а не только документация.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 err="1"/>
              <a:t>Fastify</a:t>
            </a:r>
            <a:r>
              <a:rPr lang="en" dirty="0"/>
              <a:t> </a:t>
            </a:r>
            <a:r>
              <a:rPr lang="ru-RU" dirty="0"/>
              <a:t>компилирует схемы при старте через </a:t>
            </a:r>
            <a:r>
              <a:rPr lang="en" dirty="0"/>
              <a:t>fast-</a:t>
            </a:r>
            <a:r>
              <a:rPr lang="en" dirty="0" err="1"/>
              <a:t>json</a:t>
            </a:r>
            <a:r>
              <a:rPr lang="en" dirty="0"/>
              <a:t>-stringify.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Поля вне </a:t>
            </a:r>
            <a:r>
              <a:rPr lang="en" dirty="0"/>
              <a:t>response-</a:t>
            </a:r>
            <a:r>
              <a:rPr lang="ru-RU" dirty="0"/>
              <a:t>схемы не попадут в </a:t>
            </a:r>
            <a:r>
              <a:rPr lang="en" dirty="0"/>
              <a:t>JSON — </a:t>
            </a:r>
            <a:r>
              <a:rPr lang="ru-RU" dirty="0"/>
              <a:t>защита от случайной утечки данных.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Сериализатор</a:t>
            </a:r>
            <a:r>
              <a:rPr lang="ru-RU" dirty="0"/>
              <a:t> выбирается по </a:t>
            </a:r>
            <a:r>
              <a:rPr lang="en" dirty="0"/>
              <a:t>HTTP-</a:t>
            </a:r>
            <a:r>
              <a:rPr lang="ru-RU" dirty="0"/>
              <a:t>статусу: 200 → 2</a:t>
            </a:r>
            <a:r>
              <a:rPr lang="en" dirty="0"/>
              <a:t>xx → default.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Некорректная схема ломает запуск: </a:t>
            </a:r>
            <a:r>
              <a:rPr lang="en" dirty="0"/>
              <a:t>FST_ERR_SCH_SERIALIZATION_BUILD.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Некорректный </a:t>
            </a:r>
            <a:r>
              <a:rPr lang="en" dirty="0"/>
              <a:t>payload </a:t>
            </a:r>
            <a:r>
              <a:rPr lang="ru-RU" dirty="0"/>
              <a:t>обнаруживается только в </a:t>
            </a:r>
            <a:r>
              <a:rPr lang="ru-RU" dirty="0" err="1"/>
              <a:t>рантайме</a:t>
            </a:r>
            <a:r>
              <a:rPr lang="ru-RU" dirty="0"/>
              <a:t> и обычно превращается в 500.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Схемы ошибок тоже нужно описывать, иначе </a:t>
            </a:r>
            <a:r>
              <a:rPr lang="en" dirty="0"/>
              <a:t>success-</a:t>
            </a:r>
            <a:r>
              <a:rPr lang="ru-RU" dirty="0"/>
              <a:t>ответы строгие, а </a:t>
            </a:r>
            <a:r>
              <a:rPr lang="en" dirty="0"/>
              <a:t>error-</a:t>
            </a:r>
            <a:r>
              <a:rPr lang="ru-RU" dirty="0"/>
              <a:t>ответы — нет.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7AEB4D-8049-F7CD-0A1E-D2AB9F86C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625" y="353287"/>
            <a:ext cx="4830462" cy="579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472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2DDEA0-1CE2-AA73-5932-A60BDB1F7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5EF0B7-E56D-4AEC-F184-2A1672C022FD}"/>
              </a:ext>
            </a:extLst>
          </p:cNvPr>
          <p:cNvSpPr txBox="1"/>
          <p:nvPr/>
        </p:nvSpPr>
        <p:spPr>
          <a:xfrm>
            <a:off x="470913" y="353287"/>
            <a:ext cx="5885522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 err="1">
                <a:solidFill>
                  <a:srgbClr val="1C1B1B"/>
                </a:solidFill>
              </a:rPr>
              <a:t>Серялизация</a:t>
            </a:r>
            <a:r>
              <a:rPr lang="ru-RU" sz="4800" dirty="0">
                <a:solidFill>
                  <a:srgbClr val="1C1B1B"/>
                </a:solidFill>
              </a:rPr>
              <a:t> ответов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4BFB80-84EE-2314-349E-E1D5146A3B75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B01F1C6-3E4C-38DE-111B-A5E10CAA0F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3" y="1110417"/>
            <a:ext cx="4228070" cy="205420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925C82D-B9FA-371E-EA5F-17EF2F095E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0283" y="805793"/>
            <a:ext cx="2755441" cy="204518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1D3562-D54B-F944-C8EA-8FF3D78CE6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8983" y="2777040"/>
            <a:ext cx="55626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455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45411B-A0C3-09A8-906D-5EDB13B36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0ED91A4-8EAC-5F92-0417-D7300B2438CC}"/>
              </a:ext>
            </a:extLst>
          </p:cNvPr>
          <p:cNvSpPr txBox="1"/>
          <p:nvPr/>
        </p:nvSpPr>
        <p:spPr>
          <a:xfrm>
            <a:off x="470913" y="353287"/>
            <a:ext cx="5166864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Schema + controller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E29EEA-7929-A994-6B42-751E4A60E862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97D02E-F4B6-F5DC-1C81-0707EA9151F8}"/>
              </a:ext>
            </a:extLst>
          </p:cNvPr>
          <p:cNvSpPr txBox="1"/>
          <p:nvPr/>
        </p:nvSpPr>
        <p:spPr>
          <a:xfrm>
            <a:off x="766120" y="1322173"/>
            <a:ext cx="5329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контроллере мы указываем какая схема, какому </a:t>
            </a:r>
            <a:r>
              <a:rPr lang="ru-RU" dirty="0" err="1"/>
              <a:t>роуту</a:t>
            </a:r>
            <a:r>
              <a:rPr lang="ru-RU" dirty="0"/>
              <a:t> соответствует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Fastify</a:t>
            </a:r>
            <a:r>
              <a:rPr lang="en-US" dirty="0"/>
              <a:t> </a:t>
            </a:r>
            <a:r>
              <a:rPr lang="ru-RU" dirty="0"/>
              <a:t>делает валидацию </a:t>
            </a:r>
            <a:r>
              <a:rPr lang="en-US" dirty="0"/>
              <a:t>query, params, body, response </a:t>
            </a:r>
            <a:r>
              <a:rPr lang="ru-RU" dirty="0"/>
              <a:t>в </a:t>
            </a:r>
            <a:r>
              <a:rPr lang="ru-RU" dirty="0" err="1"/>
              <a:t>рантайме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CE8E27-D180-67FA-AB97-878850700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10417"/>
            <a:ext cx="5896724" cy="399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234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B7BAEB-6B5F-F75F-5928-D3CFC425E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09F5A26-0EE7-475B-6AC9-72647DFDC6A4}"/>
              </a:ext>
            </a:extLst>
          </p:cNvPr>
          <p:cNvSpPr txBox="1"/>
          <p:nvPr/>
        </p:nvSpPr>
        <p:spPr>
          <a:xfrm>
            <a:off x="470913" y="353287"/>
            <a:ext cx="9441303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Глобальные схемы </a:t>
            </a:r>
            <a:r>
              <a:rPr lang="en-US" sz="4800" dirty="0">
                <a:solidFill>
                  <a:srgbClr val="1C1B1B"/>
                </a:solidFill>
              </a:rPr>
              <a:t>vs </a:t>
            </a:r>
            <a:r>
              <a:rPr lang="ru-RU" sz="4800" dirty="0">
                <a:solidFill>
                  <a:srgbClr val="1C1B1B"/>
                </a:solidFill>
              </a:rPr>
              <a:t>схемы </a:t>
            </a:r>
            <a:r>
              <a:rPr lang="ru-RU" sz="4800" dirty="0" err="1">
                <a:solidFill>
                  <a:srgbClr val="1C1B1B"/>
                </a:solidFill>
              </a:rPr>
              <a:t>роутов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6895D0-DA79-01E2-4F89-1EC7A381B81C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BE203A-ABC1-07A2-AC4B-3BFC36BF2C65}"/>
              </a:ext>
            </a:extLst>
          </p:cNvPr>
          <p:cNvSpPr txBox="1"/>
          <p:nvPr/>
        </p:nvSpPr>
        <p:spPr>
          <a:xfrm>
            <a:off x="766120" y="1322173"/>
            <a:ext cx="532988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Бэкенд модульный: схемы, которые нужны только одному модулю, лучше держать рядом с этим модулем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600" dirty="0"/>
              <a:t>Route schema </a:t>
            </a:r>
            <a:r>
              <a:rPr lang="ru-RU" sz="1600" dirty="0"/>
              <a:t>описывает конкретный </a:t>
            </a:r>
            <a:r>
              <a:rPr lang="en" sz="1600" dirty="0"/>
              <a:t>endpoint: params, </a:t>
            </a:r>
            <a:r>
              <a:rPr lang="en" sz="1600" dirty="0" err="1"/>
              <a:t>querystring</a:t>
            </a:r>
            <a:r>
              <a:rPr lang="en" sz="1600" dirty="0"/>
              <a:t>, body, response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Некоторые части схем повторяются в разных </a:t>
            </a:r>
            <a:r>
              <a:rPr lang="en" sz="1600" dirty="0"/>
              <a:t>endpoint-</a:t>
            </a:r>
            <a:r>
              <a:rPr lang="ru-RU" sz="1600" dirty="0"/>
              <a:t>ах: пагинация, сортировка, фильтры, ошибки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Повторяющиеся схемы можно вынести отдельно и дать им $</a:t>
            </a:r>
            <a:r>
              <a:rPr lang="en" sz="1600" dirty="0"/>
              <a:t>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600" dirty="0" err="1"/>
              <a:t>Fastify</a:t>
            </a:r>
            <a:r>
              <a:rPr lang="en" sz="1600" dirty="0"/>
              <a:t> </a:t>
            </a:r>
            <a:r>
              <a:rPr lang="ru-RU" sz="1600" dirty="0"/>
              <a:t>умеет регистрировать такие схемы через </a:t>
            </a:r>
            <a:r>
              <a:rPr lang="en" sz="1600" dirty="0" err="1"/>
              <a:t>addSchema</a:t>
            </a:r>
            <a:endParaRPr lang="e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После регистрации схему можно переиспользовать через $</a:t>
            </a:r>
            <a:r>
              <a:rPr lang="en" sz="1600" dirty="0"/>
              <a:t>ref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Это уменьшает дублирование и помогает держать единый контракт для одинаковых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Важно не выносить всё глобально: общими должны быть только реально переиспользуемые схемы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E9F9205-6D62-6C0C-74EC-94132973F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22173"/>
            <a:ext cx="5804301" cy="403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7013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5660</TotalTime>
  <Words>917</Words>
  <Application>Microsoft Macintosh PowerPoint</Application>
  <PresentationFormat>Широкоэкранный</PresentationFormat>
  <Paragraphs>154</Paragraphs>
  <Slides>17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Svetlana Tretyakova</dc:creator>
  <cp:lastModifiedBy>Nikita Markov</cp:lastModifiedBy>
  <cp:revision>53</cp:revision>
  <dcterms:created xsi:type="dcterms:W3CDTF">2025-12-16T07:08:32Z</dcterms:created>
  <dcterms:modified xsi:type="dcterms:W3CDTF">2026-06-26T12:52:36Z</dcterms:modified>
</cp:coreProperties>
</file>