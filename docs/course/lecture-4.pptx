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74" r:id="rId4"/>
    <p:sldId id="324" r:id="rId5"/>
    <p:sldId id="320" r:id="rId6"/>
    <p:sldId id="319" r:id="rId7"/>
    <p:sldId id="321" r:id="rId8"/>
    <p:sldId id="322" r:id="rId9"/>
    <p:sldId id="323" r:id="rId10"/>
    <p:sldId id="325" r:id="rId11"/>
    <p:sldId id="328" r:id="rId12"/>
    <p:sldId id="326" r:id="rId13"/>
    <p:sldId id="329" r:id="rId14"/>
    <p:sldId id="330" r:id="rId15"/>
    <p:sldId id="331" r:id="rId16"/>
    <p:sldId id="332" r:id="rId17"/>
    <p:sldId id="333" r:id="rId18"/>
    <p:sldId id="327" r:id="rId19"/>
    <p:sldId id="335" r:id="rId20"/>
    <p:sldId id="334" r:id="rId21"/>
    <p:sldId id="336" r:id="rId22"/>
    <p:sldId id="33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B1B"/>
    <a:srgbClr val="4E26FA"/>
    <a:srgbClr val="19191A"/>
    <a:srgbClr val="F6F6F6"/>
    <a:srgbClr val="D9D9D9"/>
    <a:srgbClr val="A692FC"/>
    <a:srgbClr val="323131"/>
    <a:srgbClr val="C5C5C5"/>
    <a:srgbClr val="A9A9A9"/>
    <a:srgbClr val="3921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 autoAdjust="0"/>
    <p:restoredTop sz="82603"/>
  </p:normalViewPr>
  <p:slideViewPr>
    <p:cSldViewPr snapToGrid="0">
      <p:cViewPr varScale="1">
        <p:scale>
          <a:sx n="104" d="100"/>
          <a:sy n="104" d="100"/>
        </p:scale>
        <p:origin x="10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FBA31-585B-4D2B-A560-AD3613F6F5E3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CE8D3-2344-4F0F-BC9A-302BB8DB5B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528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D0DC2-B488-C6C7-403F-78AA35403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46033A-9B6D-C3B1-49F8-E0BC7AE7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CD77DD3-4E4B-F9A2-B566-191796C1C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994E26-989B-AFE6-F105-589F949E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665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6FABD-9BA4-FEC7-5A87-638F4788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34386F0-1FC3-1F68-1F76-48320BC35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A803BF9-02D3-CCBF-781E-E3C1E0BA8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3D1ED8-D5C0-5B29-881A-92056C9A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439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5E029-7B42-68EA-F374-486067C21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680D04-F7B0-6B83-B128-D692F0F95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F9D3563-49BB-4D9C-3F57-330741263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F40056-C46C-09FD-426C-AE56882C0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697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63F2-54B2-FB5A-77CB-CF268149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B646B9E-A696-4786-4D08-66456E2423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FBA17F-AE18-28FD-BCF0-E03E1DC46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7DEBC9-D064-F7DF-C428-AA08D3758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283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61EF4-B330-A9CE-CBE5-6D24AF0C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788724-61FB-C2EB-5FDD-12E2C229C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891280-C5EB-17E1-30AC-03BF6D884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B35EAC-762F-A26C-2D58-45C80D26F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96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D6F9B-11CC-3B86-C9A1-A19737C6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FF5C86-F26A-4C11-6168-BA7140A2C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9DF6ED-2EA4-6A77-8E7D-E21DBCD56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Вот тут кроется 3 проблемы, из за которых экспресс не любят</a:t>
            </a:r>
          </a:p>
          <a:p>
            <a:pPr marL="228600" indent="-228600">
              <a:buAutoNum type="arabicParenR"/>
            </a:pPr>
            <a:r>
              <a:rPr lang="en-US" dirty="0"/>
              <a:t>Req </a:t>
            </a:r>
            <a:r>
              <a:rPr lang="ru-RU" dirty="0"/>
              <a:t>и </a:t>
            </a:r>
            <a:r>
              <a:rPr lang="en-US" dirty="0"/>
              <a:t>res</a:t>
            </a:r>
            <a:r>
              <a:rPr lang="ru-RU" dirty="0"/>
              <a:t> могут быть мутированы (изменены) в любом </a:t>
            </a:r>
            <a:r>
              <a:rPr lang="ru-RU" dirty="0" err="1"/>
              <a:t>мидлваре</a:t>
            </a:r>
            <a:endParaRPr lang="ru-RU" dirty="0"/>
          </a:p>
          <a:p>
            <a:pPr marL="228600" indent="-228600">
              <a:buAutoNum type="arabicParenR"/>
            </a:pPr>
            <a:r>
              <a:rPr lang="ru-RU" dirty="0"/>
              <a:t>Порядок </a:t>
            </a:r>
            <a:r>
              <a:rPr lang="ru-RU" dirty="0" err="1"/>
              <a:t>мидлвар</a:t>
            </a:r>
            <a:r>
              <a:rPr lang="ru-RU" dirty="0"/>
              <a:t> важен</a:t>
            </a:r>
          </a:p>
          <a:p>
            <a:pPr marL="228600" indent="-228600">
              <a:buAutoNum type="arabicParenR"/>
            </a:pPr>
            <a:r>
              <a:rPr lang="ru-RU" dirty="0"/>
              <a:t>Мы обязаны верить всем прошлым </a:t>
            </a:r>
            <a:r>
              <a:rPr lang="ru-RU" dirty="0" err="1"/>
              <a:t>мидлварам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F85C81-5F3E-24C3-0EF5-F3F74963D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317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CE611-81BE-9BBA-B889-1C1C11F3C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BDB0C0-60C1-57C9-A4C1-407E485B2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4DD08C-DA06-E732-52CD-F2A1F6B30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72FFD3-646A-CB90-EBF7-DFF5E2E7D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086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FD598-447E-C051-DDF3-1E33BED9F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BCF2E7-436F-7093-9172-43443CB21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77BD871-3734-FF5C-EA8A-AB7D37596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слайда показать сам файлик и кратко по нему пройтись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905E2E1-DDCE-C55F-3DFC-3AB92BDB00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5238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9EFC2-FCA0-215D-A609-5AE6D13E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87E801-1044-EE58-6228-EC5F5744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7DB064B-3965-3729-6BE3-3DD8AC5B6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Перейти в код и показать примеры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97DBDB-71D2-B7F1-43F6-F10B5DD9C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0734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F205-2530-E14E-8C48-6EE7F9DF5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E8BCDF-5381-0FB4-1225-EEBEC0DCF6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A47579-2EF3-A6B8-51B2-3AB3BA997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Подробнее про репозиторий и </a:t>
            </a:r>
            <a:r>
              <a:rPr lang="ru-RU" dirty="0" err="1"/>
              <a:t>бд</a:t>
            </a:r>
            <a:r>
              <a:rPr lang="ru-RU" dirty="0"/>
              <a:t> в следующих лекциях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FA71F2-5695-FA52-475E-D9045D06E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927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9783-F3D2-3ACF-FD15-8842AAA9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967358-420E-AF0F-C2E0-8890C9A790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2D4B1B-6E82-530B-6621-B38CD3456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9471FF-D3AF-9A69-DB93-F458CDE59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445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90B93-21D4-0100-E5B0-53108DDDA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A1E3EEC-AB31-E9D9-8A0B-6457F4CC5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5CEB835-EC48-56AC-1832-25E13FB2C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Важный пример со скринов</a:t>
            </a:r>
          </a:p>
          <a:p>
            <a:r>
              <a:rPr lang="ru-RU" dirty="0"/>
              <a:t>Каждый плагин может регистрировать свои хуки, декораторы и </a:t>
            </a:r>
            <a:r>
              <a:rPr lang="ru-RU" dirty="0" err="1"/>
              <a:t>тд</a:t>
            </a:r>
            <a:endParaRPr lang="ru-RU" dirty="0"/>
          </a:p>
          <a:p>
            <a:endParaRPr lang="ru-RU" dirty="0"/>
          </a:p>
          <a:p>
            <a:r>
              <a:rPr lang="ru-RU" dirty="0"/>
              <a:t>Второе важное со скрина – другие декораторы и плагины спокойно могут пользоваться зарегистрированными декораторами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72DFC6-9684-D5A5-103E-FEACE3884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2720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6139D-B2BD-0E60-3F14-3759F3EA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7475EDF-FA30-09EE-C010-00D8F0542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2E25FDC-3727-C668-7747-9278D11E2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Важное отличие от </a:t>
            </a:r>
            <a:r>
              <a:rPr lang="ru-RU" dirty="0" err="1"/>
              <a:t>мидлвар</a:t>
            </a:r>
            <a:r>
              <a:rPr lang="ru-RU" dirty="0"/>
              <a:t> в </a:t>
            </a:r>
            <a:r>
              <a:rPr lang="ru-RU" dirty="0" err="1"/>
              <a:t>экспресе</a:t>
            </a:r>
            <a:r>
              <a:rPr lang="ru-RU" dirty="0"/>
              <a:t> – это то, что хуки подключаются в определенных точках, а не создается </a:t>
            </a:r>
            <a:r>
              <a:rPr lang="ru-RU" dirty="0" err="1"/>
              <a:t>конвеер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867E99-2D27-845A-5F4C-758534C57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744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6774-9786-F6E8-C25A-A0FF1C527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432E32-5243-D457-86F9-A40555C64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9272394-E894-F086-0B87-B21E79938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 жизненного цикла из офф документации </a:t>
            </a:r>
            <a:r>
              <a:rPr lang="ru-RU" dirty="0" err="1"/>
              <a:t>фастифай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350B18-D9ED-CDD1-8336-20B923A81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978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5314-46CB-D345-B84D-5F2797F9F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C720E15-B18E-2B8B-E002-5C8E45171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8FCECDC-5608-CE23-495F-E3EA44F99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Показать точку входа в приложение и </a:t>
            </a:r>
            <a:r>
              <a:rPr lang="ru-RU"/>
              <a:t>все дальше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478A3C-6815-9353-3957-1429E25CBA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391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6773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3154E-ED26-51CE-C92E-FCB11401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2326FE-14D8-5DB3-89A7-E8BC64728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94ED2D7-7B4F-4CC7-A226-616523A54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503730-6FE5-F937-A8E5-FC2EC8D380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945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BB85C-AB8A-A16D-4783-016A67AD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415171-E8E7-D028-B580-D2CEA05CD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AF6833-0A57-4924-AD09-0954B2C50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777DCF-14D5-09CF-92C7-9517C9810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578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DE00B-0D1B-D83E-962F-BBF99F36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361315F-38B0-5902-183F-BF288AA5B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5731DE6-392A-1C74-90D4-6BC791321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AC7AD02-7F51-A947-DDB3-E2F0094355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9CE8D3-2344-4F0F-BC9A-302BB8DB5B2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3712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BACE7-9428-2AF1-3EA5-2FF007EA9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7B4D34-82B2-DC39-44D3-02E379D8F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21286F-92E3-8AE4-EFC6-C5A615423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3A2ABA-8726-E288-442F-148E963F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DCB54-7BB4-FFB5-3B62-7B431DFF2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140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685AC-7CD5-207F-A2C5-1BC3CA6A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E82F9E-6302-B5BF-9CEF-107AD45DA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4855C-BF6E-4ABB-27E2-0F71A4877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82D-F15E-81B4-DDE2-34A809127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791136-C9B9-85FC-EDED-3DC2CDF5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4104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7EA2E-84A6-EDDF-A654-2A14DFC0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BEAF6-3CE3-8A59-834F-872854F5F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00CFB-CC2D-3A8A-8CCB-8E51E0B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6A229E-A3CE-1D30-98C4-8A510D2C9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257B9-ADE2-07FF-B407-E72CE7690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0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E618E-6198-865A-56FF-9958526A9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7C8A33-FFA4-4CD5-4E31-1BFC5E0D2C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527F2C-211A-A479-951C-36955BCE4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2F9FBBA-E24A-BFFA-9EDE-ADEB0108E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99AF02-9A93-201E-3DE9-32C67CD7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DD4888-EEFA-E9BE-1315-41A4F372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627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73D4E-697B-E3A2-DF91-307A24E13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88E54-4FE1-E53A-1C54-9F79CBEAA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97CC55-6C44-E68A-5F02-545ED0BA4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4F37106-1AA3-3472-5779-15DB329EA4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5503F18-AE90-3517-668E-97B3FB6F6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BABB44-7238-2787-D68B-D7411F5D4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B9ADAB-AB91-8A08-09D9-6B7D2731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D150C27-065A-4F31-E0DA-C7A6CB894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49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3DF74-EDD1-1F99-1231-F97554999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974E8B6-0EE2-C5B6-0AF6-1A1D1E42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6218CA-D861-0BEA-F182-C742F560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F1624C-0C2D-E631-EC86-62111111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981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6BFA212-3BA0-0DA8-932F-198B80D8F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004B47-9C30-21D9-1D88-1C0AAFA6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CF6953-E26C-E099-AD49-0ED985C0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759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19F35B-62D7-B889-CA0D-081205064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87404-DED5-0FCE-D7CB-5B4CFABE6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E1C19F2-EB93-EAB7-DD52-70012E04D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38A145-70D4-68EE-1333-EAD5E743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94DD476-D381-85D3-C181-10B6D4480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2D3A2A-3A38-BB8F-2427-3415A0B1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F16ACF-46DF-CE16-0F96-DB58A00BC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7F54011-85DB-B9A9-323D-ED8A89375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596D56-A821-B247-57D3-87F567AEB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8AD66F-F8E9-BD27-BB00-2D95388DE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9CC595-B741-DBBE-9800-55429215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31AB64-1B6A-9718-DE33-1E0E6A50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01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5F309-5A48-FFFB-D914-F02C26B6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0832717-A1C5-E77E-EC58-913A5288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E2949A-1053-51A3-6D97-4128FE0C6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09DB074-1677-5FA6-6CAE-E7FC55A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27F633-A0BE-3EE8-4E8D-4262A119F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45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05F80B-5FD5-342C-5360-C9C1DCC0F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057294-2D6E-632F-8280-F1A255532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C4FFC8-0D80-F9E0-D1D4-0C9AFA8B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85525C-37E1-6A7F-9562-6589D94F9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6354A-4D92-4701-5152-687D31C3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848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5426D-6C08-B5C5-4141-E2403A70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3256F41-34FC-C563-F59F-5BB4939F6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F407CD-A116-4711-EC69-7038CD40A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D51-AA56-4D0B-BE5E-8435701EB57A}" type="datetimeFigureOut">
              <a:rPr lang="ru-RU" smtClean="0"/>
              <a:t>02.07.2026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26FD68-587F-A48B-A7CE-1B26A674B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C9E4CD-5013-6699-97B9-16BC8AD1A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4B30C-39B2-4129-9695-BD18BC25E4C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46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B22E659-EE2B-00AB-B918-D55C0947EB2F}"/>
              </a:ext>
            </a:extLst>
          </p:cNvPr>
          <p:cNvSpPr txBox="1"/>
          <p:nvPr/>
        </p:nvSpPr>
        <p:spPr>
          <a:xfrm>
            <a:off x="692585" y="1509155"/>
            <a:ext cx="4157933" cy="2086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chemeClr val="bg1"/>
                </a:solidFill>
              </a:rPr>
              <a:t>Лекция 4</a:t>
            </a:r>
            <a:endParaRPr lang="en-US" sz="48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4800" dirty="0">
                <a:solidFill>
                  <a:schemeClr val="bg1"/>
                </a:solidFill>
              </a:rPr>
              <a:t>Nodejs backend</a:t>
            </a:r>
          </a:p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chemeClr val="bg1"/>
                </a:solidFill>
              </a:rPr>
              <a:t>Fastify</a:t>
            </a:r>
            <a:endParaRPr lang="ru-RU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1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8C615-A1C8-14AC-FF41-8F6C3C60655F}"/>
              </a:ext>
            </a:extLst>
          </p:cNvPr>
          <p:cNvSpPr txBox="1"/>
          <p:nvPr/>
        </p:nvSpPr>
        <p:spPr>
          <a:xfrm>
            <a:off x="485191" y="584717"/>
            <a:ext cx="659985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6600" dirty="0">
                <a:solidFill>
                  <a:schemeClr val="bg1"/>
                </a:solidFill>
              </a:rPr>
              <a:t>Из чего состоит сервер?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168D2-72F0-B0CA-4725-E3BE325B2FD5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432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35120C-07F4-C411-78C7-642D706C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A2C39C-9C03-CEFD-63E4-12284B00F64A}"/>
              </a:ext>
            </a:extLst>
          </p:cNvPr>
          <p:cNvSpPr txBox="1"/>
          <p:nvPr/>
        </p:nvSpPr>
        <p:spPr>
          <a:xfrm>
            <a:off x="470913" y="353287"/>
            <a:ext cx="392985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Терминология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446840-1BC1-EC59-61E9-13C27F0EACE0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72302-32E5-1518-1A32-B3DDB825B639}"/>
              </a:ext>
            </a:extLst>
          </p:cNvPr>
          <p:cNvSpPr txBox="1"/>
          <p:nvPr/>
        </p:nvSpPr>
        <p:spPr>
          <a:xfrm>
            <a:off x="644006" y="1110417"/>
            <a:ext cx="1107708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Сервер — приложение, которое слушает </a:t>
            </a:r>
            <a:r>
              <a:rPr lang="en" sz="2400" dirty="0"/>
              <a:t>host/port, </a:t>
            </a:r>
            <a:r>
              <a:rPr lang="ru-RU" sz="2400" dirty="0"/>
              <a:t>принимает </a:t>
            </a:r>
            <a:r>
              <a:rPr lang="en" sz="2400" dirty="0"/>
              <a:t>HTTP-</a:t>
            </a:r>
            <a:r>
              <a:rPr lang="ru-RU" sz="2400" dirty="0"/>
              <a:t>запросы и отправляет </a:t>
            </a:r>
            <a:r>
              <a:rPr lang="en" sz="2400" dirty="0"/>
              <a:t>HTTP-</a:t>
            </a:r>
            <a:r>
              <a:rPr lang="ru-RU" sz="2400" dirty="0"/>
              <a:t>ответы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Router — </a:t>
            </a:r>
            <a:r>
              <a:rPr lang="ru-RU" sz="2400" dirty="0"/>
              <a:t>механизм, который сопоставляет запрос с обработчиком по </a:t>
            </a:r>
            <a:r>
              <a:rPr lang="en" sz="2400" dirty="0"/>
              <a:t>method +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Route / </a:t>
            </a:r>
            <a:r>
              <a:rPr lang="ru-RU" sz="2400" dirty="0" err="1"/>
              <a:t>роут</a:t>
            </a:r>
            <a:r>
              <a:rPr lang="ru-RU" sz="2400" dirty="0"/>
              <a:t> — конкретное правило маршрутизации: например </a:t>
            </a:r>
            <a:r>
              <a:rPr lang="en" sz="2400" dirty="0"/>
              <a:t>GET /users/:id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Controller — </a:t>
            </a:r>
            <a:r>
              <a:rPr lang="ru-RU" sz="2400" dirty="0"/>
              <a:t>слой, который принимает </a:t>
            </a:r>
            <a:r>
              <a:rPr lang="en" sz="2400" dirty="0"/>
              <a:t>HTTP-</a:t>
            </a:r>
            <a:r>
              <a:rPr lang="ru-RU" sz="2400" dirty="0"/>
              <a:t>запрос, достает данные из </a:t>
            </a:r>
            <a:r>
              <a:rPr lang="en" sz="2400" dirty="0"/>
              <a:t>req, </a:t>
            </a:r>
            <a:r>
              <a:rPr lang="ru-RU" sz="2400" dirty="0"/>
              <a:t>вызывает бизнес-логику и формирует ответ. </a:t>
            </a:r>
            <a:r>
              <a:rPr lang="ru-RU" sz="2400" dirty="0" err="1"/>
              <a:t>Обьединяет</a:t>
            </a:r>
            <a:r>
              <a:rPr lang="ru-RU" sz="2400" dirty="0"/>
              <a:t> несколько </a:t>
            </a:r>
            <a:r>
              <a:rPr lang="ru-RU" sz="2400" dirty="0" err="1"/>
              <a:t>роутов</a:t>
            </a:r>
            <a:r>
              <a:rPr lang="ru-RU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Handler — </a:t>
            </a:r>
            <a:r>
              <a:rPr lang="ru-RU" sz="2400" dirty="0"/>
              <a:t>функция, которая непосредственно обрабатывает конкретный </a:t>
            </a:r>
            <a:r>
              <a:rPr lang="en" sz="2400" dirty="0"/>
              <a:t>HTTP-</a:t>
            </a:r>
            <a:r>
              <a:rPr lang="ru-RU" sz="2400" dirty="0"/>
              <a:t>запрос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Service — </a:t>
            </a:r>
            <a:r>
              <a:rPr lang="ru-RU" sz="2400" dirty="0"/>
              <a:t>слой бизнес-логики: не знает про </a:t>
            </a:r>
            <a:r>
              <a:rPr lang="en" sz="2400" dirty="0"/>
              <a:t>HTTP, req, res, status code </a:t>
            </a:r>
            <a:r>
              <a:rPr lang="ru-RU" sz="2400" dirty="0"/>
              <a:t>и </a:t>
            </a:r>
            <a:r>
              <a:rPr lang="en" sz="2400" dirty="0"/>
              <a:t>headers</a:t>
            </a:r>
            <a:r>
              <a:rPr lang="ru-RU" sz="2400" dirty="0"/>
              <a:t>. Очень часто не выделяют как отдельный слой, то есть </a:t>
            </a:r>
            <a:r>
              <a:rPr lang="en" sz="2400" dirty="0"/>
              <a:t>Handler</a:t>
            </a:r>
            <a:r>
              <a:rPr lang="ru-RU" sz="2400" dirty="0"/>
              <a:t>=</a:t>
            </a:r>
            <a:r>
              <a:rPr lang="en" sz="2400" dirty="0"/>
              <a:t> Service</a:t>
            </a:r>
            <a:endParaRPr lang="ru-R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Middleware — </a:t>
            </a:r>
            <a:r>
              <a:rPr lang="ru-RU" sz="2400" dirty="0"/>
              <a:t>функция между входящим запросом и финальным ответом: логирование, </a:t>
            </a:r>
            <a:r>
              <a:rPr lang="en" sz="2400" dirty="0"/>
              <a:t>auth, CORS, parsing, </a:t>
            </a:r>
            <a:r>
              <a:rPr lang="ru-RU" sz="2400" dirty="0"/>
              <a:t>ошибки</a:t>
            </a:r>
          </a:p>
        </p:txBody>
      </p:sp>
    </p:spTree>
    <p:extLst>
      <p:ext uri="{BB962C8B-B14F-4D97-AF65-F5344CB8AC3E}">
        <p14:creationId xmlns:p14="http://schemas.microsoft.com/office/powerpoint/2010/main" val="3462399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9B518-5EA9-04F4-AB74-EFF3C19AC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6C451C-4AE6-796F-5B38-765F7BAF1FF4}"/>
              </a:ext>
            </a:extLst>
          </p:cNvPr>
          <p:cNvSpPr txBox="1"/>
          <p:nvPr/>
        </p:nvSpPr>
        <p:spPr>
          <a:xfrm>
            <a:off x="470913" y="353287"/>
            <a:ext cx="810388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Runner, listener, router, handler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2C5970-F1AD-A2DD-55A8-0CCDB6BF579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784776-C2A7-A69F-93BA-EE9F967563CB}"/>
              </a:ext>
            </a:extLst>
          </p:cNvPr>
          <p:cNvSpPr txBox="1"/>
          <p:nvPr/>
        </p:nvSpPr>
        <p:spPr>
          <a:xfrm>
            <a:off x="470913" y="2274838"/>
            <a:ext cx="48177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Runner     → </a:t>
            </a:r>
            <a:r>
              <a:rPr lang="ru-RU" sz="2400" dirty="0"/>
              <a:t>запускает процесс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Listener   → </a:t>
            </a:r>
            <a:r>
              <a:rPr lang="ru-RU" sz="2400" dirty="0"/>
              <a:t>слушает </a:t>
            </a:r>
            <a:r>
              <a:rPr lang="en" sz="2400" dirty="0"/>
              <a:t>host/port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Router     → </a:t>
            </a:r>
            <a:r>
              <a:rPr lang="ru-RU" sz="2400" dirty="0"/>
              <a:t>выбирает </a:t>
            </a:r>
            <a:r>
              <a:rPr lang="en" sz="2400" dirty="0"/>
              <a:t>handler </a:t>
            </a:r>
            <a:r>
              <a:rPr lang="ru-RU" sz="2400" dirty="0"/>
              <a:t>по </a:t>
            </a:r>
            <a:r>
              <a:rPr lang="en" sz="2400" dirty="0"/>
              <a:t>method +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Handler    → </a:t>
            </a:r>
            <a:r>
              <a:rPr lang="ru-RU" sz="2400" dirty="0"/>
              <a:t>обрабатывает конкретный запрос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FBF659-2E8A-D6A2-AF40-EA67D42EB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9627" y="1110417"/>
            <a:ext cx="6421480" cy="53675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E275DC-62F2-8A61-4C16-4C5234C9E356}"/>
              </a:ext>
            </a:extLst>
          </p:cNvPr>
          <p:cNvSpPr txBox="1"/>
          <p:nvPr/>
        </p:nvSpPr>
        <p:spPr>
          <a:xfrm>
            <a:off x="470913" y="5161244"/>
            <a:ext cx="4552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Любой сервер строится по такому принципу</a:t>
            </a:r>
          </a:p>
        </p:txBody>
      </p:sp>
    </p:spTree>
    <p:extLst>
      <p:ext uri="{BB962C8B-B14F-4D97-AF65-F5344CB8AC3E}">
        <p14:creationId xmlns:p14="http://schemas.microsoft.com/office/powerpoint/2010/main" val="106971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9EC46-D0CD-54CC-63AC-AB65A046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E79D678-B6A8-A3AD-48F8-D7A17AA879DA}"/>
              </a:ext>
            </a:extLst>
          </p:cNvPr>
          <p:cNvSpPr txBox="1"/>
          <p:nvPr/>
        </p:nvSpPr>
        <p:spPr>
          <a:xfrm>
            <a:off x="470913" y="353287"/>
            <a:ext cx="362439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Nodejs server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A6732-D885-1543-8EE6-D936695D8B4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53ADE-1AD4-3337-69AE-487A5CFDF71B}"/>
              </a:ext>
            </a:extLst>
          </p:cNvPr>
          <p:cNvSpPr txBox="1"/>
          <p:nvPr/>
        </p:nvSpPr>
        <p:spPr>
          <a:xfrm>
            <a:off x="470912" y="1166842"/>
            <a:ext cx="107613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Node </a:t>
            </a:r>
            <a:r>
              <a:rPr lang="ru-RU" sz="2400" dirty="0"/>
              <a:t>не создаёт отдельный поток на каждый </a:t>
            </a:r>
            <a:r>
              <a:rPr lang="en" sz="2400" dirty="0"/>
              <a:t>HTTP-</a:t>
            </a:r>
            <a:r>
              <a:rPr lang="ru-RU" sz="2400" dirty="0"/>
              <a:t>запрос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Один процесс обрабатывает много соединений через неблокирующий </a:t>
            </a:r>
            <a:r>
              <a:rPr lang="en" sz="2400" dirty="0"/>
              <a:t>I/O </a:t>
            </a:r>
            <a:r>
              <a:rPr lang="ru-RU" sz="2400" dirty="0"/>
              <a:t>и </a:t>
            </a:r>
            <a:r>
              <a:rPr lang="en" sz="2400" dirty="0"/>
              <a:t>event 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Пока </a:t>
            </a:r>
            <a:r>
              <a:rPr lang="en" sz="2400" dirty="0"/>
              <a:t>handler </a:t>
            </a:r>
            <a:r>
              <a:rPr lang="ru-RU" sz="2400" dirty="0"/>
              <a:t>ждёт БД или файл — </a:t>
            </a:r>
            <a:r>
              <a:rPr lang="en" sz="2400" dirty="0"/>
              <a:t>event loop </a:t>
            </a:r>
            <a:r>
              <a:rPr lang="ru-RU" sz="2400" dirty="0"/>
              <a:t>может обслуживать другие запросы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Блокирующий код в </a:t>
            </a:r>
            <a:r>
              <a:rPr lang="en" sz="2400" dirty="0"/>
              <a:t>handler (</a:t>
            </a:r>
            <a:r>
              <a:rPr lang="ru-RU" sz="2400" dirty="0"/>
              <a:t>тяжёлые вычисления, синхронный </a:t>
            </a:r>
            <a:r>
              <a:rPr lang="en" sz="2400" dirty="0" err="1"/>
              <a:t>fs.readFileSync</a:t>
            </a:r>
            <a:r>
              <a:rPr lang="en" sz="2400" dirty="0"/>
              <a:t>) </a:t>
            </a:r>
            <a:r>
              <a:rPr lang="ru-RU" sz="2400" dirty="0"/>
              <a:t>может «заморозить» весь сервер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Интересный факт – модуль </a:t>
            </a:r>
            <a:r>
              <a:rPr lang="en-US" sz="2400" dirty="0"/>
              <a:t>http </a:t>
            </a:r>
            <a:r>
              <a:rPr lang="ru-RU" sz="2400" dirty="0"/>
              <a:t>в </a:t>
            </a:r>
            <a:r>
              <a:rPr lang="en-US" sz="2400" dirty="0" err="1"/>
              <a:t>golang</a:t>
            </a:r>
            <a:r>
              <a:rPr lang="en-US" sz="2400" dirty="0"/>
              <a:t> </a:t>
            </a:r>
            <a:r>
              <a:rPr lang="ru-RU" sz="2400" dirty="0"/>
              <a:t>работает по такому же принципу – не блокирующий аналог </a:t>
            </a:r>
            <a:r>
              <a:rPr lang="en-US" sz="2400" dirty="0"/>
              <a:t>event-loop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7379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FA79B5-8E37-CE17-D348-AFB82D0B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A4FDC9F-4205-8185-E180-F97267A38F7C}"/>
              </a:ext>
            </a:extLst>
          </p:cNvPr>
          <p:cNvSpPr txBox="1"/>
          <p:nvPr/>
        </p:nvSpPr>
        <p:spPr>
          <a:xfrm>
            <a:off x="470913" y="353287"/>
            <a:ext cx="988277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В чем проблема штатного </a:t>
            </a:r>
            <a:r>
              <a:rPr lang="en-US" sz="4800" dirty="0" err="1">
                <a:solidFill>
                  <a:srgbClr val="1C1B1B"/>
                </a:solidFill>
              </a:rPr>
              <a:t>node:http</a:t>
            </a:r>
            <a:r>
              <a:rPr lang="en-US" sz="4800" dirty="0">
                <a:solidFill>
                  <a:srgbClr val="1C1B1B"/>
                </a:solidFill>
              </a:rPr>
              <a:t>?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395910-A351-4E70-61EF-4095DBA297E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91A99A-AD97-9CB6-19C9-5E6CF1EB4C87}"/>
              </a:ext>
            </a:extLst>
          </p:cNvPr>
          <p:cNvSpPr txBox="1"/>
          <p:nvPr/>
        </p:nvSpPr>
        <p:spPr>
          <a:xfrm>
            <a:off x="470913" y="1166842"/>
            <a:ext cx="96986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 err="1"/>
              <a:t>node:http</a:t>
            </a:r>
            <a:r>
              <a:rPr lang="en" sz="2400" dirty="0"/>
              <a:t> — </a:t>
            </a:r>
            <a:r>
              <a:rPr lang="ru-RU" sz="2400" dirty="0"/>
              <a:t>это низкоуровневый </a:t>
            </a:r>
            <a:r>
              <a:rPr lang="en" sz="2400" dirty="0"/>
              <a:t>API, </a:t>
            </a:r>
            <a:r>
              <a:rPr lang="ru-RU" sz="2400" dirty="0"/>
              <a:t>а не полноценный </a:t>
            </a:r>
            <a:r>
              <a:rPr lang="en" sz="2400" dirty="0"/>
              <a:t>backend-</a:t>
            </a:r>
            <a:r>
              <a:rPr lang="ru-RU" sz="2400" dirty="0"/>
              <a:t>фреймворк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Нет встроенного </a:t>
            </a:r>
            <a:r>
              <a:rPr lang="ru-RU" sz="2400" dirty="0" err="1"/>
              <a:t>роутинга</a:t>
            </a:r>
            <a:r>
              <a:rPr lang="ru-RU" sz="2400" dirty="0"/>
              <a:t>: </a:t>
            </a:r>
            <a:r>
              <a:rPr lang="en" sz="2400" dirty="0"/>
              <a:t>method, path, query </a:t>
            </a:r>
            <a:r>
              <a:rPr lang="ru-RU" sz="2400" dirty="0"/>
              <a:t>и </a:t>
            </a:r>
            <a:r>
              <a:rPr lang="en" sz="2400" dirty="0"/>
              <a:t>params </a:t>
            </a:r>
            <a:r>
              <a:rPr lang="ru-RU" sz="2400" dirty="0"/>
              <a:t>нужно разбирать 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Нет </a:t>
            </a:r>
            <a:r>
              <a:rPr lang="en" sz="2400" dirty="0"/>
              <a:t>middleware-</a:t>
            </a:r>
            <a:r>
              <a:rPr lang="ru-RU" sz="2400" dirty="0"/>
              <a:t>механизма из коробки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Body </a:t>
            </a:r>
            <a:r>
              <a:rPr lang="ru-RU" sz="2400" dirty="0"/>
              <a:t>запроса приходит как </a:t>
            </a:r>
            <a:r>
              <a:rPr lang="en" sz="2400" dirty="0"/>
              <a:t>stream, JSON/form-data </a:t>
            </a:r>
            <a:r>
              <a:rPr lang="ru-RU" sz="2400" dirty="0"/>
              <a:t>нужно читать и </a:t>
            </a:r>
            <a:r>
              <a:rPr lang="ru-RU" sz="2400" dirty="0" err="1"/>
              <a:t>парсить</a:t>
            </a:r>
            <a:r>
              <a:rPr lang="ru-RU" sz="2400" dirty="0"/>
              <a:t> самому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Ошибки, 404, 500, </a:t>
            </a:r>
            <a:r>
              <a:rPr lang="en" sz="2400" dirty="0"/>
              <a:t>async-</a:t>
            </a:r>
            <a:r>
              <a:rPr lang="ru-RU" sz="2400" dirty="0"/>
              <a:t>ошибки и формат ответа нужно обрабатывать 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Нет готовой валидации, </a:t>
            </a:r>
            <a:r>
              <a:rPr lang="en" sz="2400" dirty="0"/>
              <a:t>cookies, sessions, CORS, auth, rate limit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Для каждого ответа нужно руками выставлять </a:t>
            </a:r>
            <a:r>
              <a:rPr lang="en" sz="2400" dirty="0"/>
              <a:t>status, headers </a:t>
            </a:r>
            <a:r>
              <a:rPr lang="ru-RU" sz="2400" dirty="0"/>
              <a:t>и </a:t>
            </a:r>
            <a:r>
              <a:rPr lang="en" sz="2400" dirty="0" err="1"/>
              <a:t>res.end</a:t>
            </a:r>
            <a:r>
              <a:rPr lang="en" sz="2400" dirty="0"/>
              <a:t>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Чем больше </a:t>
            </a:r>
            <a:r>
              <a:rPr lang="en" sz="2400" dirty="0"/>
              <a:t>endpoints, </a:t>
            </a:r>
            <a:r>
              <a:rPr lang="ru-RU" sz="2400" dirty="0"/>
              <a:t>тем быстрее растет </a:t>
            </a:r>
            <a:r>
              <a:rPr lang="en" sz="2400" dirty="0"/>
              <a:t>boilerplate-</a:t>
            </a:r>
            <a:r>
              <a:rPr lang="ru-RU" sz="2400" dirty="0"/>
              <a:t>код</a:t>
            </a:r>
          </a:p>
        </p:txBody>
      </p:sp>
    </p:spTree>
    <p:extLst>
      <p:ext uri="{BB962C8B-B14F-4D97-AF65-F5344CB8AC3E}">
        <p14:creationId xmlns:p14="http://schemas.microsoft.com/office/powerpoint/2010/main" val="1248416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3DACF-4FF2-97E7-7F30-DE6827946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84F3EF-F622-25BE-74BF-21015556F8A2}"/>
              </a:ext>
            </a:extLst>
          </p:cNvPr>
          <p:cNvSpPr txBox="1"/>
          <p:nvPr/>
        </p:nvSpPr>
        <p:spPr>
          <a:xfrm>
            <a:off x="470913" y="353287"/>
            <a:ext cx="694100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Express – </a:t>
            </a:r>
            <a:r>
              <a:rPr lang="ru-RU" sz="4800" dirty="0">
                <a:solidFill>
                  <a:srgbClr val="1C1B1B"/>
                </a:solidFill>
              </a:rPr>
              <a:t>все это </a:t>
            </a:r>
            <a:r>
              <a:rPr lang="ru-RU" sz="4800" dirty="0" err="1">
                <a:solidFill>
                  <a:srgbClr val="1C1B1B"/>
                </a:solidFill>
              </a:rPr>
              <a:t>мидлвар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5ECAC-F289-30E2-BB14-CD02B5FB46B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A1A46-1295-37A3-D396-45BE7186A3AA}"/>
              </a:ext>
            </a:extLst>
          </p:cNvPr>
          <p:cNvSpPr txBox="1"/>
          <p:nvPr/>
        </p:nvSpPr>
        <p:spPr>
          <a:xfrm>
            <a:off x="470913" y="1166842"/>
            <a:ext cx="96986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Express </a:t>
            </a:r>
            <a:r>
              <a:rPr lang="ru-RU" sz="2400" dirty="0"/>
              <a:t>строит обработку запроса как цепочку </a:t>
            </a:r>
            <a:r>
              <a:rPr lang="en" sz="2400" dirty="0"/>
              <a:t>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На вход приходит </a:t>
            </a:r>
            <a:r>
              <a:rPr lang="en" sz="2400" dirty="0"/>
              <a:t>HTTP-</a:t>
            </a:r>
            <a:r>
              <a:rPr lang="ru-RU" sz="2400" dirty="0"/>
              <a:t>запрос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Express </a:t>
            </a:r>
            <a:r>
              <a:rPr lang="ru-RU" sz="2400" dirty="0"/>
              <a:t>создает объекты </a:t>
            </a:r>
            <a:r>
              <a:rPr lang="en" sz="2400" dirty="0"/>
              <a:t>req </a:t>
            </a:r>
            <a:r>
              <a:rPr lang="ru-RU" sz="2400" dirty="0"/>
              <a:t>и </a:t>
            </a:r>
            <a:r>
              <a:rPr lang="en" sz="2400" dirty="0"/>
              <a:t>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Каждая </a:t>
            </a:r>
            <a:r>
              <a:rPr lang="en" sz="2400" dirty="0"/>
              <a:t>middleware </a:t>
            </a:r>
            <a:r>
              <a:rPr lang="ru-RU" sz="2400" dirty="0"/>
              <a:t>получает </a:t>
            </a:r>
            <a:r>
              <a:rPr lang="en" sz="2400" dirty="0"/>
              <a:t>req, res </a:t>
            </a:r>
            <a:r>
              <a:rPr lang="ru-RU" sz="2400" dirty="0"/>
              <a:t>и </a:t>
            </a:r>
            <a:r>
              <a:rPr lang="en" sz="2400" dirty="0"/>
              <a:t>next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Middleware </a:t>
            </a:r>
            <a:r>
              <a:rPr lang="ru-RU" sz="2400" dirty="0"/>
              <a:t>может прочитать запрос, изменить </a:t>
            </a:r>
            <a:r>
              <a:rPr lang="en" sz="2400" dirty="0"/>
              <a:t>req/res, </a:t>
            </a:r>
            <a:r>
              <a:rPr lang="ru-RU" sz="2400" dirty="0"/>
              <a:t>завершить ответ или передать управление дальше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next() </a:t>
            </a:r>
            <a:r>
              <a:rPr lang="ru-RU" sz="2400" dirty="0"/>
              <a:t>передает </a:t>
            </a:r>
            <a:r>
              <a:rPr lang="en" sz="2400" dirty="0"/>
              <a:t>req/res </a:t>
            </a:r>
            <a:r>
              <a:rPr lang="ru-RU" sz="2400" dirty="0"/>
              <a:t>следующей </a:t>
            </a:r>
            <a:r>
              <a:rPr lang="en" sz="2400" dirty="0"/>
              <a:t>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Router, JSON parser, auth, logger, CORS </a:t>
            </a:r>
            <a:r>
              <a:rPr lang="ru-RU" sz="2400" dirty="0"/>
              <a:t>и </a:t>
            </a:r>
            <a:r>
              <a:rPr lang="en" sz="2400" dirty="0"/>
              <a:t>handler endpoint-</a:t>
            </a:r>
            <a:r>
              <a:rPr lang="ru-RU" sz="2400" dirty="0"/>
              <a:t>а — все работают как </a:t>
            </a:r>
            <a:r>
              <a:rPr lang="en" sz="2400" dirty="0"/>
              <a:t>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Если </a:t>
            </a:r>
            <a:r>
              <a:rPr lang="en" sz="2400" dirty="0"/>
              <a:t>middleware </a:t>
            </a:r>
            <a:r>
              <a:rPr lang="ru-RU" sz="2400" dirty="0"/>
              <a:t>не вызовет </a:t>
            </a:r>
            <a:r>
              <a:rPr lang="en" sz="2400" dirty="0"/>
              <a:t>next() </a:t>
            </a:r>
            <a:r>
              <a:rPr lang="ru-RU" sz="2400" dirty="0"/>
              <a:t>и не отправит ответ, запрос «зависнет»</a:t>
            </a:r>
          </a:p>
        </p:txBody>
      </p:sp>
    </p:spTree>
    <p:extLst>
      <p:ext uri="{BB962C8B-B14F-4D97-AF65-F5344CB8AC3E}">
        <p14:creationId xmlns:p14="http://schemas.microsoft.com/office/powerpoint/2010/main" val="58871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40D71-613F-0B8A-5FD7-57E5607F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0162AA-7E17-01F3-E2F9-CE2AA93A8207}"/>
              </a:ext>
            </a:extLst>
          </p:cNvPr>
          <p:cNvSpPr txBox="1"/>
          <p:nvPr/>
        </p:nvSpPr>
        <p:spPr>
          <a:xfrm>
            <a:off x="470913" y="353287"/>
            <a:ext cx="694100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Express – </a:t>
            </a:r>
            <a:r>
              <a:rPr lang="ru-RU" sz="4800" dirty="0">
                <a:solidFill>
                  <a:srgbClr val="1C1B1B"/>
                </a:solidFill>
              </a:rPr>
              <a:t>все это </a:t>
            </a:r>
            <a:r>
              <a:rPr lang="ru-RU" sz="4800" dirty="0" err="1">
                <a:solidFill>
                  <a:srgbClr val="1C1B1B"/>
                </a:solidFill>
              </a:rPr>
              <a:t>мидлвар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4B8BC2-F41F-F652-2631-520B6F0D7E82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33EF69-C9D0-4E84-1FFB-A607A89C6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80" y="1569308"/>
            <a:ext cx="10101457" cy="300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0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AA034-711C-A833-2361-E5C67D44D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B122A2-4F4C-A8F5-5A70-02BDAD2695A5}"/>
              </a:ext>
            </a:extLst>
          </p:cNvPr>
          <p:cNvSpPr txBox="1"/>
          <p:nvPr/>
        </p:nvSpPr>
        <p:spPr>
          <a:xfrm>
            <a:off x="470913" y="353287"/>
            <a:ext cx="559678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rgbClr val="1C1B1B"/>
                </a:solidFill>
              </a:rPr>
              <a:t>Fastify</a:t>
            </a:r>
            <a:r>
              <a:rPr lang="en-US" sz="4800" dirty="0">
                <a:solidFill>
                  <a:srgbClr val="1C1B1B"/>
                </a:solidFill>
              </a:rPr>
              <a:t> </a:t>
            </a:r>
            <a:r>
              <a:rPr lang="ru-RU" sz="4800" dirty="0">
                <a:solidFill>
                  <a:srgbClr val="1C1B1B"/>
                </a:solidFill>
              </a:rPr>
              <a:t>– все плагины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696DF0-CFE2-D607-5D42-FA0673F8CDDC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C33EEC-F71D-86E6-B058-3F73DFEC83E5}"/>
              </a:ext>
            </a:extLst>
          </p:cNvPr>
          <p:cNvSpPr txBox="1"/>
          <p:nvPr/>
        </p:nvSpPr>
        <p:spPr>
          <a:xfrm>
            <a:off x="644006" y="1110417"/>
            <a:ext cx="98112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 err="1"/>
              <a:t>Fastify</a:t>
            </a:r>
            <a:r>
              <a:rPr lang="en" sz="2400" dirty="0"/>
              <a:t>-</a:t>
            </a:r>
            <a:r>
              <a:rPr lang="ru-RU" sz="2400" dirty="0"/>
              <a:t>приложение собирается из плагинов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Плагин может добавлять </a:t>
            </a:r>
            <a:r>
              <a:rPr lang="en" sz="2400" dirty="0"/>
              <a:t>routes, hooks, decorators, schemas </a:t>
            </a:r>
            <a:r>
              <a:rPr lang="ru-RU" sz="2400" dirty="0"/>
              <a:t>и </a:t>
            </a:r>
            <a:r>
              <a:rPr lang="en" sz="2400" dirty="0"/>
              <a:t>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Каждый плагин получает свой контекст и может быть изолирован от остальных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Плагины подключаются через </a:t>
            </a:r>
            <a:r>
              <a:rPr lang="en" sz="2400" dirty="0" err="1"/>
              <a:t>app.register</a:t>
            </a:r>
            <a:r>
              <a:rPr lang="en" sz="2400" dirty="0"/>
              <a:t>(...)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register </a:t>
            </a:r>
            <a:r>
              <a:rPr lang="ru-RU" sz="2400" dirty="0"/>
              <a:t>помогает разделять приложение на модули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Hooks </a:t>
            </a:r>
            <a:r>
              <a:rPr lang="ru-RU" sz="2400" dirty="0"/>
              <a:t>позволяют встроиться в жизненный цикл запроса: </a:t>
            </a:r>
            <a:r>
              <a:rPr lang="en" sz="2400" dirty="0"/>
              <a:t>validation, auth, logging,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sz="2400" dirty="0"/>
              <a:t>Schemas </a:t>
            </a:r>
            <a:r>
              <a:rPr lang="ru-RU" sz="2400" dirty="0"/>
              <a:t>дают валидацию и сериализацию ответов из коробки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Такой подход хорошо подходит для модульной архитектуры </a:t>
            </a:r>
            <a:r>
              <a:rPr lang="en" sz="2400" dirty="0"/>
              <a:t>backend-</a:t>
            </a:r>
            <a:r>
              <a:rPr lang="ru-RU" sz="2400" dirty="0"/>
              <a:t>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89672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608626-66EC-BDA3-C4BC-31C67349C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5A9AE7-70CE-297A-316B-CC6DBA42338D}"/>
              </a:ext>
            </a:extLst>
          </p:cNvPr>
          <p:cNvSpPr txBox="1"/>
          <p:nvPr/>
        </p:nvSpPr>
        <p:spPr>
          <a:xfrm>
            <a:off x="470913" y="353287"/>
            <a:ext cx="559678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rgbClr val="1C1B1B"/>
                </a:solidFill>
              </a:rPr>
              <a:t>Fastify</a:t>
            </a:r>
            <a:r>
              <a:rPr lang="en-US" sz="4800" dirty="0">
                <a:solidFill>
                  <a:srgbClr val="1C1B1B"/>
                </a:solidFill>
              </a:rPr>
              <a:t> </a:t>
            </a:r>
            <a:r>
              <a:rPr lang="ru-RU" sz="4800" dirty="0">
                <a:solidFill>
                  <a:srgbClr val="1C1B1B"/>
                </a:solidFill>
              </a:rPr>
              <a:t>– все плагины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C018F3-6EFB-00AC-0727-5B437AC1E3A8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3C23A2-DD49-A1D6-2362-A9A37F850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10417"/>
            <a:ext cx="10205226" cy="479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3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DC691-AA7F-301F-43E0-4DDE94D97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41CA98-5E7B-2083-386C-2F75359EF9E1}"/>
              </a:ext>
            </a:extLst>
          </p:cNvPr>
          <p:cNvSpPr txBox="1"/>
          <p:nvPr/>
        </p:nvSpPr>
        <p:spPr>
          <a:xfrm>
            <a:off x="485191" y="584717"/>
            <a:ext cx="6599854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 err="1">
                <a:solidFill>
                  <a:schemeClr val="bg1"/>
                </a:solidFill>
              </a:rPr>
              <a:t>Fastify</a:t>
            </a:r>
            <a:r>
              <a:rPr lang="en-US" sz="6600" dirty="0">
                <a:solidFill>
                  <a:schemeClr val="bg1"/>
                </a:solidFill>
              </a:rPr>
              <a:t> </a:t>
            </a:r>
            <a:r>
              <a:rPr lang="ru-RU" sz="6600" dirty="0">
                <a:solidFill>
                  <a:schemeClr val="bg1"/>
                </a:solidFill>
              </a:rPr>
              <a:t>в проекте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3293A-68D3-D657-0DA3-B63519875FDC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96025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EB4A2D-7174-0760-720C-D5FFA631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50B589-7C7C-260E-CBAE-1DD9FDB42280}"/>
              </a:ext>
            </a:extLst>
          </p:cNvPr>
          <p:cNvSpPr txBox="1"/>
          <p:nvPr/>
        </p:nvSpPr>
        <p:spPr>
          <a:xfrm>
            <a:off x="470913" y="353287"/>
            <a:ext cx="246253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Плагины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C78409-60C9-2F84-E791-5C4E6AF53584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BA9034-D615-F775-69F8-A40732579465}"/>
              </a:ext>
            </a:extLst>
          </p:cNvPr>
          <p:cNvSpPr txBox="1"/>
          <p:nvPr/>
        </p:nvSpPr>
        <p:spPr>
          <a:xfrm>
            <a:off x="644006" y="1110417"/>
            <a:ext cx="99828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Плагин — способ разделить </a:t>
            </a:r>
            <a:r>
              <a:rPr lang="en" dirty="0" err="1"/>
              <a:t>Fastify</a:t>
            </a:r>
            <a:r>
              <a:rPr lang="en" dirty="0"/>
              <a:t>-</a:t>
            </a:r>
            <a:r>
              <a:rPr lang="ru-RU" dirty="0"/>
              <a:t>приложение на модули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Плагины подключаются через </a:t>
            </a:r>
            <a:r>
              <a:rPr lang="en" dirty="0" err="1"/>
              <a:t>app.register</a:t>
            </a:r>
            <a:r>
              <a:rPr lang="en" dirty="0"/>
              <a:t>(plugin)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Внутри плагина можно объявлять </a:t>
            </a:r>
            <a:r>
              <a:rPr lang="en" dirty="0"/>
              <a:t>routes, hooks, schemas </a:t>
            </a:r>
            <a:r>
              <a:rPr lang="ru-RU" dirty="0"/>
              <a:t>и </a:t>
            </a:r>
            <a:r>
              <a:rPr lang="en" dirty="0"/>
              <a:t>decorators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плагин </a:t>
            </a:r>
            <a:r>
              <a:rPr lang="ru-RU" b="1" dirty="0"/>
              <a:t>может</a:t>
            </a:r>
            <a:r>
              <a:rPr lang="ru-RU" dirty="0"/>
              <a:t> иметь свой </a:t>
            </a:r>
            <a:r>
              <a:rPr lang="en" dirty="0"/>
              <a:t>prefix: </a:t>
            </a:r>
            <a:r>
              <a:rPr lang="ru-RU" dirty="0"/>
              <a:t>например /</a:t>
            </a:r>
            <a:r>
              <a:rPr lang="en" dirty="0" err="1"/>
              <a:t>api</a:t>
            </a:r>
            <a:r>
              <a:rPr lang="en" dirty="0"/>
              <a:t>/users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Плагины помогают группировать связанную функциональность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Fastify</a:t>
            </a:r>
            <a:r>
              <a:rPr lang="en" dirty="0"/>
              <a:t> </a:t>
            </a:r>
            <a:r>
              <a:rPr lang="ru-RU" dirty="0"/>
              <a:t>строит </a:t>
            </a:r>
            <a:r>
              <a:rPr lang="ru-RU" b="1" dirty="0"/>
              <a:t>дерево</a:t>
            </a:r>
            <a:r>
              <a:rPr lang="ru-RU" dirty="0"/>
              <a:t> плагинов, а не одну общую цепочку </a:t>
            </a:r>
            <a:r>
              <a:rPr lang="en" dirty="0"/>
              <a:t>middleware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Контекст плагина </a:t>
            </a:r>
            <a:r>
              <a:rPr lang="ru-RU" b="1" dirty="0"/>
              <a:t>изолирован</a:t>
            </a:r>
            <a:r>
              <a:rPr lang="ru-RU" dirty="0"/>
              <a:t>: не все </a:t>
            </a:r>
            <a:r>
              <a:rPr lang="en" dirty="0"/>
              <a:t>decorators </a:t>
            </a:r>
            <a:r>
              <a:rPr lang="ru-RU" dirty="0"/>
              <a:t>и </a:t>
            </a:r>
            <a:r>
              <a:rPr lang="en" dirty="0"/>
              <a:t>hooks </a:t>
            </a:r>
            <a:r>
              <a:rPr lang="ru-RU" dirty="0"/>
              <a:t>автоматически видны снаружи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Плагины могут быть как </a:t>
            </a:r>
            <a:r>
              <a:rPr lang="ru-RU" b="1" dirty="0"/>
              <a:t>глобальными</a:t>
            </a:r>
            <a:r>
              <a:rPr lang="ru-RU" dirty="0"/>
              <a:t> так и для </a:t>
            </a:r>
            <a:r>
              <a:rPr lang="ru-RU" b="1" dirty="0"/>
              <a:t>конкретного</a:t>
            </a:r>
            <a:r>
              <a:rPr lang="ru-RU" dirty="0"/>
              <a:t> модуля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Такой подход упрощает расширение приложения и подключение готовых модулей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Fastify</a:t>
            </a:r>
            <a:r>
              <a:rPr lang="en-US" dirty="0"/>
              <a:t>-plugin </a:t>
            </a:r>
            <a:r>
              <a:rPr lang="ru-RU" dirty="0"/>
              <a:t>– утилита для регистрации плагинов, </a:t>
            </a:r>
            <a:r>
              <a:rPr lang="ru-RU" dirty="0" err="1"/>
              <a:t>инкапуслирует</a:t>
            </a:r>
            <a:r>
              <a:rPr lang="ru-RU" dirty="0"/>
              <a:t> логику + позволяет создавать </a:t>
            </a:r>
            <a:r>
              <a:rPr lang="en-US" dirty="0"/>
              <a:t>DI </a:t>
            </a:r>
            <a:r>
              <a:rPr lang="ru-RU" dirty="0"/>
              <a:t>для плагинов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BC1A30-C55B-D0FC-8E78-6B402011A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86" y="4249738"/>
            <a:ext cx="7772400" cy="18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612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595172-325C-3EBE-65DD-644B5FD7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A4DAF7-3140-8A13-8DB8-8DF05441E593}"/>
              </a:ext>
            </a:extLst>
          </p:cNvPr>
          <p:cNvSpPr txBox="1"/>
          <p:nvPr/>
        </p:nvSpPr>
        <p:spPr>
          <a:xfrm>
            <a:off x="470913" y="353287"/>
            <a:ext cx="483818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Структура модуля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F27437-98CD-A14B-8B7D-DF139A50205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A8535-E7E6-BDD7-74BF-4BE208525855}"/>
              </a:ext>
            </a:extLst>
          </p:cNvPr>
          <p:cNvSpPr txBox="1"/>
          <p:nvPr/>
        </p:nvSpPr>
        <p:spPr>
          <a:xfrm>
            <a:off x="644006" y="1110417"/>
            <a:ext cx="57691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Tests </a:t>
            </a:r>
            <a:r>
              <a:rPr lang="ru-RU" dirty="0"/>
              <a:t>– папка для тестов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Controller </a:t>
            </a:r>
            <a:r>
              <a:rPr lang="ru-RU" dirty="0"/>
              <a:t>– сопоставление </a:t>
            </a:r>
            <a:r>
              <a:rPr lang="en-US" dirty="0"/>
              <a:t>route, service/handler,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Service/handler – </a:t>
            </a:r>
            <a:r>
              <a:rPr lang="ru-RU" dirty="0"/>
              <a:t>бизнес логика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Schema </a:t>
            </a:r>
            <a:r>
              <a:rPr lang="ru-RU" dirty="0"/>
              <a:t> - описание схемы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Index – </a:t>
            </a:r>
            <a:r>
              <a:rPr lang="ru-RU" dirty="0"/>
              <a:t>корневой файл экспорта модуля как плагина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Repository – </a:t>
            </a:r>
            <a:r>
              <a:rPr lang="ru-RU" dirty="0"/>
              <a:t>инкапсуляция взаимодействия с БД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094BCF-1F49-C362-F27D-14BF0FBD34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207" y="317667"/>
            <a:ext cx="4679626" cy="62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11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EADCD-AEBD-418A-EE6F-51043AB5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63A46BA-760A-BFAF-B30E-8BF3BF542671}"/>
              </a:ext>
            </a:extLst>
          </p:cNvPr>
          <p:cNvSpPr txBox="1"/>
          <p:nvPr/>
        </p:nvSpPr>
        <p:spPr>
          <a:xfrm>
            <a:off x="470913" y="353287"/>
            <a:ext cx="339246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Декораторы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C6E896-A3DF-9D36-466F-1E957CF3212E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B6F073-1E4A-6D56-B834-3C19D6FABBD5}"/>
              </a:ext>
            </a:extLst>
          </p:cNvPr>
          <p:cNvSpPr txBox="1"/>
          <p:nvPr/>
        </p:nvSpPr>
        <p:spPr>
          <a:xfrm>
            <a:off x="644007" y="1110417"/>
            <a:ext cx="51101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Декоратор добавляет новое свойство или метод в инстанс сервера, </a:t>
            </a:r>
            <a:r>
              <a:rPr lang="en" dirty="0"/>
              <a:t>request </a:t>
            </a:r>
            <a:r>
              <a:rPr lang="ru-RU" dirty="0"/>
              <a:t>или </a:t>
            </a:r>
            <a:r>
              <a:rPr lang="en" dirty="0"/>
              <a:t>reply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Через декораторы удобно подключать общие зависимости: </a:t>
            </a:r>
            <a:r>
              <a:rPr lang="en" dirty="0" err="1"/>
              <a:t>db</a:t>
            </a:r>
            <a:r>
              <a:rPr lang="en" dirty="0"/>
              <a:t>, config, logger, auth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После декорирования значение доступно во всех нужных </a:t>
            </a:r>
            <a:r>
              <a:rPr lang="en" dirty="0"/>
              <a:t>handlers/hooks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Декораторы уменьшают ручное </a:t>
            </a:r>
            <a:r>
              <a:rPr lang="ru-RU" dirty="0" err="1"/>
              <a:t>прокидывание</a:t>
            </a:r>
            <a:r>
              <a:rPr lang="ru-RU" dirty="0"/>
              <a:t> зависимостей между модулями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Fastify</a:t>
            </a:r>
            <a:r>
              <a:rPr lang="en" dirty="0"/>
              <a:t> </a:t>
            </a:r>
            <a:r>
              <a:rPr lang="ru-RU" dirty="0"/>
              <a:t>проверяет, что декоратор объявлен до его использования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Область видимости зависит от того, где декоратор зарегистрирован: глобально или внутри плагина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</a:t>
            </a:r>
            <a:r>
              <a:rPr lang="en" dirty="0"/>
              <a:t>TypeScript </a:t>
            </a:r>
            <a:r>
              <a:rPr lang="ru-RU" dirty="0"/>
              <a:t>нужно отдельно расширить типы </a:t>
            </a:r>
            <a:r>
              <a:rPr lang="en" dirty="0" err="1"/>
              <a:t>Fastify</a:t>
            </a:r>
            <a:r>
              <a:rPr lang="en" dirty="0"/>
              <a:t>, </a:t>
            </a:r>
            <a:r>
              <a:rPr lang="ru-RU" dirty="0"/>
              <a:t>чтобы новое поле было видно в коде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FCD745-5B26-972B-0E2E-C227F271A5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4172" y="1076302"/>
            <a:ext cx="6437828" cy="413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6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0BC89-085B-9DAB-83AD-7C0ABD55D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D47752-BE4A-6AA3-1BD4-28DB891F2CF1}"/>
              </a:ext>
            </a:extLst>
          </p:cNvPr>
          <p:cNvSpPr txBox="1"/>
          <p:nvPr/>
        </p:nvSpPr>
        <p:spPr>
          <a:xfrm>
            <a:off x="470913" y="353287"/>
            <a:ext cx="725410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4800" dirty="0">
                <a:solidFill>
                  <a:srgbClr val="1C1B1B"/>
                </a:solidFill>
              </a:rPr>
              <a:t>Декораторы – пример</a:t>
            </a:r>
            <a:r>
              <a:rPr lang="en-US" sz="4800" dirty="0">
                <a:solidFill>
                  <a:srgbClr val="1C1B1B"/>
                </a:solidFill>
              </a:rPr>
              <a:t> c DB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1B1F4C-82C7-3DCC-2296-C77DD29ACD01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78520D-1DCB-8F97-59C5-70CA86786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86" y="1254977"/>
            <a:ext cx="6871017" cy="224474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12622B-42BE-F7C3-DAC9-5F9985B5A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254" y="3429000"/>
            <a:ext cx="6871017" cy="2642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60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C09F16-AAAE-04FD-35A4-6691A7D0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0EFF3A-EF26-3C5D-D708-7528D7DA93AB}"/>
              </a:ext>
            </a:extLst>
          </p:cNvPr>
          <p:cNvSpPr txBox="1"/>
          <p:nvPr/>
        </p:nvSpPr>
        <p:spPr>
          <a:xfrm>
            <a:off x="470913" y="353287"/>
            <a:ext cx="173387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Hooks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0996C-84F6-78D5-3697-C107142E01C3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BA42FA-0DEF-9AD1-210F-3513D924578F}"/>
              </a:ext>
            </a:extLst>
          </p:cNvPr>
          <p:cNvSpPr txBox="1"/>
          <p:nvPr/>
        </p:nvSpPr>
        <p:spPr>
          <a:xfrm>
            <a:off x="568411" y="1297459"/>
            <a:ext cx="52145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Hook — </a:t>
            </a:r>
            <a:r>
              <a:rPr lang="ru-RU" dirty="0"/>
              <a:t>точка подключения к жизненному циклу приложения или запроса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Через </a:t>
            </a:r>
            <a:r>
              <a:rPr lang="en" dirty="0"/>
              <a:t>hooks </a:t>
            </a:r>
            <a:r>
              <a:rPr lang="ru-RU" dirty="0"/>
              <a:t>добавляют сквозную логику: </a:t>
            </a:r>
            <a:r>
              <a:rPr lang="en" dirty="0"/>
              <a:t>auth, logging, metrics, </a:t>
            </a:r>
            <a:r>
              <a:rPr lang="ru-RU" dirty="0"/>
              <a:t>подготовку данных, </a:t>
            </a:r>
            <a:r>
              <a:rPr lang="en" dirty="0"/>
              <a:t>cleanup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Hook </a:t>
            </a:r>
            <a:r>
              <a:rPr lang="ru-RU" dirty="0"/>
              <a:t>не описывает </a:t>
            </a:r>
            <a:r>
              <a:rPr lang="en" dirty="0"/>
              <a:t>endpoint, </a:t>
            </a:r>
            <a:r>
              <a:rPr lang="ru-RU" dirty="0"/>
              <a:t>а выполняется до или после </a:t>
            </a:r>
            <a:r>
              <a:rPr lang="en" dirty="0"/>
              <a:t>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Hooks </a:t>
            </a:r>
            <a:r>
              <a:rPr lang="ru-RU" dirty="0"/>
              <a:t>регистрируются через </a:t>
            </a:r>
            <a:r>
              <a:rPr lang="en" dirty="0" err="1"/>
              <a:t>app.addHook</a:t>
            </a:r>
            <a:r>
              <a:rPr lang="en" dirty="0"/>
              <a:t>(...)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Request hooks </a:t>
            </a:r>
            <a:r>
              <a:rPr lang="ru-RU" dirty="0"/>
              <a:t>идут по этапам: </a:t>
            </a:r>
            <a:r>
              <a:rPr lang="en" dirty="0" err="1"/>
              <a:t>onRequest</a:t>
            </a:r>
            <a:r>
              <a:rPr lang="en" dirty="0"/>
              <a:t>, </a:t>
            </a:r>
            <a:r>
              <a:rPr lang="en" dirty="0" err="1"/>
              <a:t>preValidation</a:t>
            </a:r>
            <a:r>
              <a:rPr lang="en" dirty="0"/>
              <a:t>, </a:t>
            </a:r>
            <a:r>
              <a:rPr lang="en" dirty="0" err="1"/>
              <a:t>preHandler</a:t>
            </a:r>
            <a:r>
              <a:rPr lang="en" dirty="0"/>
              <a:t>, </a:t>
            </a:r>
            <a:r>
              <a:rPr lang="en" dirty="0" err="1"/>
              <a:t>onSend</a:t>
            </a:r>
            <a:r>
              <a:rPr lang="en" dirty="0"/>
              <a:t>, </a:t>
            </a:r>
            <a:r>
              <a:rPr lang="en" dirty="0" err="1"/>
              <a:t>onResponse</a:t>
            </a:r>
            <a:endParaRPr lang="e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preHandler</a:t>
            </a:r>
            <a:r>
              <a:rPr lang="en" dirty="0"/>
              <a:t> </a:t>
            </a:r>
            <a:r>
              <a:rPr lang="ru-RU" dirty="0"/>
              <a:t>часто используют для авторизации перед выполнением </a:t>
            </a:r>
            <a:r>
              <a:rPr lang="en" dirty="0"/>
              <a:t>route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 err="1"/>
              <a:t>onResponse</a:t>
            </a:r>
            <a:r>
              <a:rPr lang="en" dirty="0"/>
              <a:t> </a:t>
            </a:r>
            <a:r>
              <a:rPr lang="ru-RU" dirty="0"/>
              <a:t>срабатывает после отправки ответа и подходит для логирования/метрик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Hooks </a:t>
            </a:r>
            <a:r>
              <a:rPr lang="ru-RU" dirty="0"/>
              <a:t>учитывают </a:t>
            </a:r>
            <a:r>
              <a:rPr lang="en" dirty="0"/>
              <a:t>scope </a:t>
            </a:r>
            <a:r>
              <a:rPr lang="ru-RU" dirty="0"/>
              <a:t>плагина: </a:t>
            </a:r>
            <a:r>
              <a:rPr lang="en" dirty="0"/>
              <a:t>hook </a:t>
            </a:r>
            <a:r>
              <a:rPr lang="ru-RU" dirty="0"/>
              <a:t>внутри </a:t>
            </a:r>
            <a:r>
              <a:rPr lang="en" dirty="0"/>
              <a:t>plugin </a:t>
            </a:r>
            <a:r>
              <a:rPr lang="ru-RU" dirty="0"/>
              <a:t>влияет только на его </a:t>
            </a:r>
            <a:r>
              <a:rPr lang="en" dirty="0"/>
              <a:t>routes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736EE1-E9CD-EB8C-B173-C475F4159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534" y="731852"/>
            <a:ext cx="5527004" cy="496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9181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E1CD4-0AE9-34E2-9B62-E8F7DAE0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F36E44-927C-7A57-0CF2-8677D2F0A3AF}"/>
              </a:ext>
            </a:extLst>
          </p:cNvPr>
          <p:cNvSpPr txBox="1"/>
          <p:nvPr/>
        </p:nvSpPr>
        <p:spPr>
          <a:xfrm>
            <a:off x="470913" y="353287"/>
            <a:ext cx="398859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Hooks</a:t>
            </a:r>
            <a:r>
              <a:rPr lang="ru-RU" sz="4800" dirty="0">
                <a:solidFill>
                  <a:srgbClr val="1C1B1B"/>
                </a:solidFill>
              </a:rPr>
              <a:t> </a:t>
            </a:r>
            <a:r>
              <a:rPr lang="en-US" sz="4800" dirty="0">
                <a:solidFill>
                  <a:srgbClr val="1C1B1B"/>
                </a:solidFill>
              </a:rPr>
              <a:t>Lifecycle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25C60A-EFA4-7EA4-3810-3DBDA3B28ED6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7F326F-6C04-2515-8CD2-85D8B3C4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2376" y="1110417"/>
            <a:ext cx="7227248" cy="504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16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D42CB7-73FA-B297-39A4-D48D78DE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7C792F-ED6B-4923-D5F8-68B5CCA19711}"/>
              </a:ext>
            </a:extLst>
          </p:cNvPr>
          <p:cNvSpPr txBox="1"/>
          <p:nvPr/>
        </p:nvSpPr>
        <p:spPr>
          <a:xfrm>
            <a:off x="470913" y="353287"/>
            <a:ext cx="4466287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 err="1">
                <a:solidFill>
                  <a:srgbClr val="1C1B1B"/>
                </a:solidFill>
              </a:rPr>
              <a:t>Fastify</a:t>
            </a:r>
            <a:r>
              <a:rPr lang="en-US" sz="4800" dirty="0">
                <a:solidFill>
                  <a:srgbClr val="1C1B1B"/>
                </a:solidFill>
              </a:rPr>
              <a:t> </a:t>
            </a:r>
            <a:r>
              <a:rPr lang="ru-RU" sz="4800" dirty="0">
                <a:solidFill>
                  <a:srgbClr val="1C1B1B"/>
                </a:solidFill>
              </a:rPr>
              <a:t>в проекте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B5BB2C-AC2A-E2C9-6EFA-F67239272ABD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304172-3547-0A1E-F31B-7485B90E0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6" y="1110417"/>
            <a:ext cx="4150994" cy="48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8865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A82B0-E4DB-76AE-A09E-E84A9189B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8E2BA0-5A97-3D1A-4E14-3ECCA4146327}"/>
              </a:ext>
            </a:extLst>
          </p:cNvPr>
          <p:cNvSpPr txBox="1"/>
          <p:nvPr/>
        </p:nvSpPr>
        <p:spPr>
          <a:xfrm>
            <a:off x="485191" y="584717"/>
            <a:ext cx="6599854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6600" dirty="0">
                <a:solidFill>
                  <a:schemeClr val="bg1"/>
                </a:solidFill>
              </a:rPr>
              <a:t>Backend-for-frontend</a:t>
            </a:r>
            <a:endParaRPr lang="ru-RU" sz="66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F8C70A-1175-70CE-41EE-FA816D4127DF}"/>
              </a:ext>
            </a:extLst>
          </p:cNvPr>
          <p:cNvSpPr txBox="1"/>
          <p:nvPr/>
        </p:nvSpPr>
        <p:spPr>
          <a:xfrm>
            <a:off x="7464060" y="-1555992"/>
            <a:ext cx="4603531" cy="10095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0" dirty="0">
                <a:gradFill>
                  <a:gsLst>
                    <a:gs pos="22000">
                      <a:srgbClr val="39219E"/>
                    </a:gs>
                    <a:gs pos="78000">
                      <a:srgbClr val="19191A"/>
                    </a:gs>
                  </a:gsLst>
                  <a:lin ang="5400000" scaled="1"/>
                </a:gradFill>
              </a:rPr>
              <a:t>3</a:t>
            </a:r>
            <a:endParaRPr lang="ru-RU" sz="65000" dirty="0">
              <a:gradFill>
                <a:gsLst>
                  <a:gs pos="22000">
                    <a:srgbClr val="39219E"/>
                  </a:gs>
                  <a:gs pos="78000">
                    <a:srgbClr val="19191A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119771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435BB-60AE-B441-A860-528F93F9F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03FE9CE-DC02-3D1E-19C2-9408842BC7BF}"/>
              </a:ext>
            </a:extLst>
          </p:cNvPr>
          <p:cNvSpPr txBox="1"/>
          <p:nvPr/>
        </p:nvSpPr>
        <p:spPr>
          <a:xfrm>
            <a:off x="470913" y="353287"/>
            <a:ext cx="326044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BFF- </a:t>
            </a:r>
            <a:r>
              <a:rPr lang="ru-RU" sz="4800" dirty="0">
                <a:solidFill>
                  <a:srgbClr val="1C1B1B"/>
                </a:solidFill>
              </a:rPr>
              <a:t>зачем?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E18E8C-CF93-FE99-60B0-990794C6B5A7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520DBA-B17F-34D3-6C4F-A9145D4F0904}"/>
              </a:ext>
            </a:extLst>
          </p:cNvPr>
          <p:cNvSpPr txBox="1"/>
          <p:nvPr/>
        </p:nvSpPr>
        <p:spPr>
          <a:xfrm>
            <a:off x="470913" y="1260389"/>
            <a:ext cx="968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BFF — </a:t>
            </a:r>
            <a:r>
              <a:rPr lang="ru-RU" dirty="0"/>
              <a:t>отдельный </a:t>
            </a:r>
            <a:r>
              <a:rPr lang="en" dirty="0"/>
              <a:t>backend-</a:t>
            </a:r>
            <a:r>
              <a:rPr lang="ru-RU" dirty="0"/>
              <a:t>сервис под задачи конкретного клиента (нашего </a:t>
            </a:r>
            <a:r>
              <a:rPr lang="en" dirty="0"/>
              <a:t>frontend), </a:t>
            </a:r>
            <a:r>
              <a:rPr lang="ru-RU" dirty="0"/>
              <a:t>а не под всю доменную модель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apps/backend </a:t>
            </a:r>
            <a:r>
              <a:rPr lang="ru-RU" dirty="0"/>
              <a:t>отвечает за бизнес-логику: пользователи, проекты, задачи, права, </a:t>
            </a:r>
            <a:r>
              <a:rPr lang="en" dirty="0"/>
              <a:t>JWT — </a:t>
            </a:r>
            <a:r>
              <a:rPr lang="ru-RU" dirty="0"/>
              <a:t>универсальное </a:t>
            </a:r>
            <a:r>
              <a:rPr lang="en" dirty="0"/>
              <a:t>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всё должно жить в </a:t>
            </a:r>
            <a:r>
              <a:rPr lang="en" dirty="0"/>
              <a:t>core backend: </a:t>
            </a:r>
            <a:r>
              <a:rPr lang="ru-RU" dirty="0"/>
              <a:t>формат файлов, локализация строк, </a:t>
            </a:r>
            <a:r>
              <a:rPr lang="en" dirty="0" err="1"/>
              <a:t>timezone</a:t>
            </a:r>
            <a:r>
              <a:rPr lang="en" dirty="0"/>
              <a:t>-</a:t>
            </a:r>
            <a:r>
              <a:rPr lang="ru-RU" dirty="0"/>
              <a:t>форматирование — это </a:t>
            </a:r>
            <a:r>
              <a:rPr lang="en" dirty="0"/>
              <a:t>UI-</a:t>
            </a:r>
            <a:r>
              <a:rPr lang="ru-RU" dirty="0"/>
              <a:t>ориентированные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BFF </a:t>
            </a:r>
            <a:r>
              <a:rPr lang="ru-RU" dirty="0"/>
              <a:t>не дублирует домен, а </a:t>
            </a:r>
            <a:r>
              <a:rPr lang="ru-RU" dirty="0" err="1"/>
              <a:t>оркестрирует</a:t>
            </a:r>
            <a:r>
              <a:rPr lang="ru-RU" dirty="0"/>
              <a:t>: берёт данные из </a:t>
            </a:r>
            <a:r>
              <a:rPr lang="en" dirty="0"/>
              <a:t>backend </a:t>
            </a:r>
            <a:r>
              <a:rPr lang="ru-RU" dirty="0"/>
              <a:t>и отдаёт </a:t>
            </a:r>
            <a:r>
              <a:rPr lang="en" dirty="0"/>
              <a:t>frontend </a:t>
            </a:r>
            <a:r>
              <a:rPr lang="ru-RU" dirty="0"/>
              <a:t>в нужном виде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Разделение упрощает поддержку: </a:t>
            </a:r>
            <a:r>
              <a:rPr lang="en" dirty="0"/>
              <a:t>core API </a:t>
            </a:r>
            <a:r>
              <a:rPr lang="ru-RU" dirty="0"/>
              <a:t>остаётся стабильным, «обвязку под </a:t>
            </a:r>
            <a:r>
              <a:rPr lang="en" dirty="0"/>
              <a:t>UI» </a:t>
            </a:r>
            <a:r>
              <a:rPr lang="ru-RU" dirty="0"/>
              <a:t>можно менять отдельно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проекте </a:t>
            </a:r>
            <a:r>
              <a:rPr lang="en" dirty="0"/>
              <a:t>BFF — </a:t>
            </a:r>
            <a:r>
              <a:rPr lang="ru-RU" dirty="0"/>
              <a:t>отдельные приложения в </a:t>
            </a:r>
            <a:r>
              <a:rPr lang="en" dirty="0"/>
              <a:t>apps/*, </a:t>
            </a:r>
            <a:r>
              <a:rPr lang="ru-RU" dirty="0"/>
              <a:t>рядом с </a:t>
            </a:r>
            <a:r>
              <a:rPr lang="en" dirty="0"/>
              <a:t>frontend </a:t>
            </a:r>
            <a:r>
              <a:rPr lang="ru-RU" dirty="0"/>
              <a:t>и </a:t>
            </a:r>
            <a:r>
              <a:rPr lang="en" dirty="0"/>
              <a:t>backend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F25FE60-4FF7-B4A1-94CE-A45122CD4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238" y="4635875"/>
            <a:ext cx="7772400" cy="96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818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6E74D-08C9-1D06-51A6-C57B5126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D4A68D-63CD-BA84-FCD3-06A70A5B3A99}"/>
              </a:ext>
            </a:extLst>
          </p:cNvPr>
          <p:cNvSpPr txBox="1"/>
          <p:nvPr/>
        </p:nvSpPr>
        <p:spPr>
          <a:xfrm>
            <a:off x="470913" y="353287"/>
            <a:ext cx="475110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localization-server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29411D-7A14-635A-2ED3-4C734B4E923F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F64F0C-B09F-1D8C-B4BB-8AD1F63F8341}"/>
              </a:ext>
            </a:extLst>
          </p:cNvPr>
          <p:cNvSpPr txBox="1"/>
          <p:nvPr/>
        </p:nvSpPr>
        <p:spPr>
          <a:xfrm>
            <a:off x="470913" y="1260389"/>
            <a:ext cx="96848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Задача: отдавать </a:t>
            </a:r>
            <a:r>
              <a:rPr lang="en" dirty="0"/>
              <a:t>frontend </a:t>
            </a:r>
            <a:r>
              <a:rPr lang="ru-RU" dirty="0"/>
              <a:t>переводы </a:t>
            </a:r>
            <a:r>
              <a:rPr lang="en" dirty="0"/>
              <a:t>UI (</a:t>
            </a:r>
            <a:r>
              <a:rPr lang="ru-RU" dirty="0"/>
              <a:t>смена языка в </a:t>
            </a:r>
            <a:r>
              <a:rPr lang="en" dirty="0"/>
              <a:t>layout — </a:t>
            </a:r>
            <a:r>
              <a:rPr lang="ru-RU" dirty="0"/>
              <a:t>требование проекта)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Frontend </a:t>
            </a:r>
            <a:r>
              <a:rPr lang="ru-RU" dirty="0"/>
              <a:t>не должен тащить всю локализацию в одном бандле или смешивать её с </a:t>
            </a:r>
            <a:r>
              <a:rPr lang="en" dirty="0"/>
              <a:t>API </a:t>
            </a:r>
            <a:r>
              <a:rPr lang="ru-RU" dirty="0"/>
              <a:t>задач/проектов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Сервис хранит </a:t>
            </a:r>
            <a:r>
              <a:rPr lang="en-US" dirty="0" err="1"/>
              <a:t>json</a:t>
            </a:r>
            <a:r>
              <a:rPr lang="en-US" dirty="0"/>
              <a:t> </a:t>
            </a:r>
            <a:r>
              <a:rPr lang="ru-RU" dirty="0"/>
              <a:t>файлы переводов и отдает их как статику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packages/i18n</a:t>
            </a:r>
            <a:r>
              <a:rPr lang="ru-RU" dirty="0"/>
              <a:t> – выделенный пакет под хранение </a:t>
            </a:r>
            <a:r>
              <a:rPr lang="ru-RU" dirty="0" err="1"/>
              <a:t>неймспейсов</a:t>
            </a:r>
            <a:r>
              <a:rPr lang="ru-RU" dirty="0"/>
              <a:t> и утилит для перевода (будет переиспользование)</a:t>
            </a:r>
            <a:endParaRPr lang="e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apps/backend </a:t>
            </a:r>
            <a:r>
              <a:rPr lang="ru-RU" dirty="0"/>
              <a:t>остаётся про домен; </a:t>
            </a:r>
            <a:r>
              <a:rPr lang="en" dirty="0"/>
              <a:t>localization-server — </a:t>
            </a:r>
            <a:r>
              <a:rPr lang="ru-RU" dirty="0"/>
              <a:t>про </a:t>
            </a:r>
            <a:r>
              <a:rPr lang="en" dirty="0"/>
              <a:t>presentation layer (</a:t>
            </a:r>
            <a:r>
              <a:rPr lang="ru-RU" dirty="0"/>
              <a:t>тексты кнопок, колонок, ошибок)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обновлять переводы без деплоя </a:t>
            </a:r>
            <a:r>
              <a:rPr lang="en" dirty="0"/>
              <a:t>frontend (</a:t>
            </a:r>
            <a:r>
              <a:rPr lang="ru-RU" dirty="0"/>
              <a:t>если строки приходят с сервера)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Расположение в </a:t>
            </a:r>
            <a:r>
              <a:rPr lang="ru-RU" dirty="0" err="1"/>
              <a:t>монорепе</a:t>
            </a:r>
            <a:r>
              <a:rPr lang="ru-RU" dirty="0"/>
              <a:t>: </a:t>
            </a:r>
            <a:r>
              <a:rPr lang="en" dirty="0"/>
              <a:t>apps/localization-server (+ shared-</a:t>
            </a:r>
            <a:r>
              <a:rPr lang="ru-RU" dirty="0"/>
              <a:t>пакет </a:t>
            </a:r>
            <a:r>
              <a:rPr lang="en" dirty="0"/>
              <a:t>packages/i18n)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5028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486AE7-AED3-3080-A3B1-8A57651C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F2B54B-19DF-9BB8-E3BC-796CFE5A8926}"/>
              </a:ext>
            </a:extLst>
          </p:cNvPr>
          <p:cNvSpPr txBox="1"/>
          <p:nvPr/>
        </p:nvSpPr>
        <p:spPr>
          <a:xfrm>
            <a:off x="470913" y="353287"/>
            <a:ext cx="3778022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4800" dirty="0">
                <a:solidFill>
                  <a:srgbClr val="1C1B1B"/>
                </a:solidFill>
              </a:rPr>
              <a:t>excel-exporter</a:t>
            </a:r>
            <a:endParaRPr lang="ru-RU" sz="4800" dirty="0">
              <a:solidFill>
                <a:srgbClr val="1C1B1B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81CC73-1BB4-BA42-F4DD-FF615B0C4679}"/>
              </a:ext>
            </a:extLst>
          </p:cNvPr>
          <p:cNvSpPr txBox="1"/>
          <p:nvPr/>
        </p:nvSpPr>
        <p:spPr>
          <a:xfrm>
            <a:off x="473126" y="6477990"/>
            <a:ext cx="341760" cy="2585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200" dirty="0">
                <a:solidFill>
                  <a:srgbClr val="1C1B1B"/>
                </a:solidFill>
              </a:rPr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1C464F-1A0B-2F0A-5669-52494C4D9ACE}"/>
              </a:ext>
            </a:extLst>
          </p:cNvPr>
          <p:cNvSpPr txBox="1"/>
          <p:nvPr/>
        </p:nvSpPr>
        <p:spPr>
          <a:xfrm>
            <a:off x="470913" y="1260389"/>
            <a:ext cx="968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Задача: выгрузка табличных данных (проекты, задачи, пользователи, </a:t>
            </a:r>
            <a:r>
              <a:rPr lang="en" dirty="0"/>
              <a:t>audit log) </a:t>
            </a:r>
            <a:r>
              <a:rPr lang="ru-RU" dirty="0"/>
              <a:t>в </a:t>
            </a:r>
            <a:r>
              <a:rPr lang="en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Требование ТЗ: выгрузка — отдельный </a:t>
            </a:r>
            <a:r>
              <a:rPr lang="en" dirty="0"/>
              <a:t>BFF, </a:t>
            </a:r>
            <a:r>
              <a:rPr lang="ru-RU" dirty="0"/>
              <a:t>с учётом локализации и временной зоны пользователя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Frontend </a:t>
            </a:r>
            <a:r>
              <a:rPr lang="ru-RU" dirty="0"/>
              <a:t>отправляет: какая таблица, фильтры, видимые колонки, </a:t>
            </a:r>
            <a:r>
              <a:rPr lang="en" dirty="0"/>
              <a:t>locale, </a:t>
            </a:r>
            <a:r>
              <a:rPr lang="en" dirty="0" err="1"/>
              <a:t>timezone</a:t>
            </a:r>
            <a:endParaRPr lang="e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BFF </a:t>
            </a:r>
            <a:r>
              <a:rPr lang="ru-RU" dirty="0"/>
              <a:t>запрашивает данные у </a:t>
            </a:r>
            <a:r>
              <a:rPr lang="en" dirty="0"/>
              <a:t>apps/backend (</a:t>
            </a:r>
            <a:r>
              <a:rPr lang="ru-RU" dirty="0"/>
              <a:t>с тем же </a:t>
            </a:r>
            <a:r>
              <a:rPr lang="en" dirty="0"/>
              <a:t>JWT / </a:t>
            </a:r>
            <a:r>
              <a:rPr lang="ru-RU" dirty="0"/>
              <a:t>правами) и формирует .</a:t>
            </a:r>
            <a:r>
              <a:rPr lang="en" dirty="0"/>
              <a:t>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Логика форматирования не в браузере (тяжело, нестабильно) и не в </a:t>
            </a:r>
            <a:r>
              <a:rPr lang="en" dirty="0"/>
              <a:t>core backend (</a:t>
            </a:r>
            <a:r>
              <a:rPr lang="ru-RU" dirty="0"/>
              <a:t>раздувает </a:t>
            </a:r>
            <a:r>
              <a:rPr lang="en" dirty="0"/>
              <a:t>API)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BFF </a:t>
            </a:r>
            <a:r>
              <a:rPr lang="ru-RU" dirty="0"/>
              <a:t>запрашивает у </a:t>
            </a:r>
            <a:r>
              <a:rPr lang="en-US" dirty="0"/>
              <a:t>localization-server </a:t>
            </a:r>
            <a:r>
              <a:rPr lang="ru-RU" dirty="0"/>
              <a:t>нужную локализацию (переиспользование </a:t>
            </a:r>
            <a:r>
              <a:rPr lang="en" dirty="0"/>
              <a:t>packages/i18n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Заголовки колонок — на языке пользователя; даты — в его </a:t>
            </a:r>
            <a:r>
              <a:rPr lang="en" dirty="0" err="1"/>
              <a:t>timezone</a:t>
            </a:r>
            <a:r>
              <a:rPr lang="en" dirty="0"/>
              <a:t>; </a:t>
            </a:r>
            <a:r>
              <a:rPr lang="ru-RU" dirty="0"/>
              <a:t>типы ячеек — как в </a:t>
            </a:r>
            <a:r>
              <a:rPr lang="en" dirty="0"/>
              <a:t>Excel, </a:t>
            </a:r>
            <a:r>
              <a:rPr lang="ru-RU" dirty="0"/>
              <a:t>а не «сырой </a:t>
            </a:r>
            <a:r>
              <a:rPr lang="en" dirty="0"/>
              <a:t>JSON»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29714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9185</TotalTime>
  <Words>1365</Words>
  <Application>Microsoft Macintosh PowerPoint</Application>
  <PresentationFormat>Широкоэкранный</PresentationFormat>
  <Paragraphs>170</Paragraphs>
  <Slides>22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Svetlana Tretyakova</dc:creator>
  <cp:lastModifiedBy>Nikita Markov</cp:lastModifiedBy>
  <cp:revision>51</cp:revision>
  <dcterms:created xsi:type="dcterms:W3CDTF">2025-12-16T07:08:32Z</dcterms:created>
  <dcterms:modified xsi:type="dcterms:W3CDTF">2026-07-03T11:49:03Z</dcterms:modified>
</cp:coreProperties>
</file>