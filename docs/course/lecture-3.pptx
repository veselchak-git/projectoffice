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74" r:id="rId4"/>
    <p:sldId id="310" r:id="rId5"/>
    <p:sldId id="311" r:id="rId6"/>
    <p:sldId id="294" r:id="rId7"/>
    <p:sldId id="295" r:id="rId8"/>
    <p:sldId id="312" r:id="rId9"/>
    <p:sldId id="313" r:id="rId10"/>
    <p:sldId id="314" r:id="rId11"/>
    <p:sldId id="315" r:id="rId12"/>
    <p:sldId id="316" r:id="rId13"/>
    <p:sldId id="318" r:id="rId14"/>
    <p:sldId id="319" r:id="rId15"/>
    <p:sldId id="320" r:id="rId16"/>
    <p:sldId id="321" r:id="rId17"/>
    <p:sldId id="322" r:id="rId18"/>
    <p:sldId id="323" r:id="rId19"/>
    <p:sldId id="324" r:id="rId20"/>
    <p:sldId id="32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40" autoAdjust="0"/>
    <p:restoredTop sz="66301"/>
  </p:normalViewPr>
  <p:slideViewPr>
    <p:cSldViewPr snapToGrid="0">
      <p:cViewPr varScale="1">
        <p:scale>
          <a:sx n="82" d="100"/>
          <a:sy n="82" d="100"/>
        </p:scale>
        <p:origin x="1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C644D-D0CD-350C-C469-E9C492B87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F251C7-1F14-95EF-4050-5AF403BF7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A98957-8F6F-2450-9DA4-52A0D78AC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выполняется обычный JavaScript-код, он попадает в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. Функции вызываются одна за другой: одна функция кладется в стек, внутри нее вызывается следующая, и так далее LIFO. Пока стек не пустой, браузер не может взять новую задачу из очереди и не может нормально перейти к отрисовке.</a:t>
            </a:r>
          </a:p>
          <a:p>
            <a:r>
              <a:rPr lang="ru-RU" dirty="0"/>
              <a:t>Асинхронные операции не выполняются прямо в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setTimeout</a:t>
            </a:r>
            <a:r>
              <a:rPr lang="ru-RU" dirty="0"/>
              <a:t>, AJAX-запрос, события DOM или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</a:t>
            </a:r>
            <a:r>
              <a:rPr lang="ru-RU" dirty="0"/>
              <a:t> передаются в браузерные API. Когда операция завершается, браузер кладет ее </a:t>
            </a:r>
            <a:r>
              <a:rPr lang="ru-RU" dirty="0" err="1"/>
              <a:t>callback</a:t>
            </a:r>
            <a:r>
              <a:rPr lang="ru-RU" dirty="0"/>
              <a:t> в одну из очередей.</a:t>
            </a:r>
          </a:p>
          <a:p>
            <a:r>
              <a:rPr lang="ru-RU" dirty="0"/>
              <a:t>Здесь важно различать </a:t>
            </a:r>
            <a:r>
              <a:rPr lang="ru-RU" dirty="0" err="1"/>
              <a:t>tasks</a:t>
            </a:r>
            <a:r>
              <a:rPr lang="ru-RU" dirty="0"/>
              <a:t> и </a:t>
            </a:r>
            <a:r>
              <a:rPr lang="ru-RU" dirty="0" err="1"/>
              <a:t>microtasks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 err="1"/>
              <a:t>Tasks</a:t>
            </a:r>
            <a:r>
              <a:rPr lang="ru-RU" dirty="0"/>
              <a:t> — это крупные задачи: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setTimeout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setInterval</a:t>
            </a:r>
            <a:r>
              <a:rPr lang="ru-RU" dirty="0"/>
              <a:t>, события клика, обработчики ввода, загрузка ресурсов.</a:t>
            </a:r>
            <a:br>
              <a:rPr lang="ru-RU" dirty="0"/>
            </a:br>
            <a:r>
              <a:rPr lang="ru-RU" dirty="0" err="1"/>
              <a:t>Microtasks</a:t>
            </a:r>
            <a:r>
              <a:rPr lang="ru-RU" dirty="0"/>
              <a:t> — это более приоритетные задачи: </a:t>
            </a:r>
            <a:r>
              <a:rPr lang="ru-RU" dirty="0" err="1"/>
              <a:t>callbacks</a:t>
            </a:r>
            <a:r>
              <a:rPr lang="ru-RU" dirty="0"/>
              <a:t>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Promise.then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queueMicrotask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MutationObserver</a:t>
            </a:r>
            <a:r>
              <a:rPr lang="ru-RU" dirty="0"/>
              <a:t>.</a:t>
            </a:r>
          </a:p>
          <a:p>
            <a:r>
              <a:rPr lang="ru-RU" dirty="0"/>
              <a:t>Цикл работает так: </a:t>
            </a:r>
            <a:r>
              <a:rPr lang="ru-RU" dirty="0" err="1"/>
              <a:t>event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 берет одну </a:t>
            </a:r>
            <a:r>
              <a:rPr lang="ru-RU" dirty="0" err="1"/>
              <a:t>task</a:t>
            </a:r>
            <a:r>
              <a:rPr lang="ru-RU" dirty="0"/>
              <a:t> из очереди, выполняет ее в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 до конца. После этого он обязательно очищает всю очередь </a:t>
            </a:r>
            <a:r>
              <a:rPr lang="ru-RU" dirty="0" err="1"/>
              <a:t>microtasks</a:t>
            </a:r>
            <a:r>
              <a:rPr lang="ru-RU" dirty="0"/>
              <a:t>. То есть если во время выполнения появились промисы, их </a:t>
            </a:r>
            <a:r>
              <a:rPr lang="ru-RU" dirty="0" err="1"/>
              <a:t>callbacks</a:t>
            </a:r>
            <a:r>
              <a:rPr lang="ru-RU" dirty="0"/>
              <a:t> выполнятся раньше, чем браузер возьмет следующую </a:t>
            </a:r>
            <a:r>
              <a:rPr lang="ru-RU" dirty="0" err="1"/>
              <a:t>task</a:t>
            </a:r>
            <a:r>
              <a:rPr lang="ru-RU" dirty="0"/>
              <a:t>.</a:t>
            </a:r>
          </a:p>
          <a:p>
            <a:r>
              <a:rPr lang="ru-RU" dirty="0"/>
              <a:t>После </a:t>
            </a:r>
            <a:r>
              <a:rPr lang="ru-RU" dirty="0" err="1"/>
              <a:t>task</a:t>
            </a:r>
            <a:r>
              <a:rPr lang="ru-RU" dirty="0"/>
              <a:t> и </a:t>
            </a:r>
            <a:r>
              <a:rPr lang="ru-RU" dirty="0" err="1"/>
              <a:t>microtasks</a:t>
            </a:r>
            <a:r>
              <a:rPr lang="ru-RU" dirty="0"/>
              <a:t> браузер может перейти к </a:t>
            </a:r>
            <a:r>
              <a:rPr lang="ru-RU" dirty="0" err="1"/>
              <a:t>render</a:t>
            </a:r>
            <a:r>
              <a:rPr lang="ru-RU" dirty="0"/>
              <a:t>-фазе: выполнить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requestAnimationFrame</a:t>
            </a:r>
            <a:r>
              <a:rPr lang="ru-RU" dirty="0"/>
              <a:t>, пересчитать стили, сделать </a:t>
            </a:r>
            <a:r>
              <a:rPr lang="ru-RU" dirty="0" err="1"/>
              <a:t>layout</a:t>
            </a:r>
            <a:r>
              <a:rPr lang="ru-RU" dirty="0"/>
              <a:t> и </a:t>
            </a:r>
            <a:r>
              <a:rPr lang="ru-RU" dirty="0" err="1"/>
              <a:t>paint</a:t>
            </a:r>
            <a:r>
              <a:rPr lang="ru-RU" dirty="0"/>
              <a:t>. Именно поэтому тяжелый синхронный JavaScript блокирует интерфейс: пока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 занят, браузер не может нормально обработать события и отрисовать кадр.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EF2C36-C39D-4CB4-41E2-35611E00A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607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652B-0730-D686-1A3E-FF4012EAE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CAEFB9-4507-92A6-3D1F-3EAFA7428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82C2AC-8472-5E25-1573-A2E970A16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Слева находится наше приложение. Мы пишем JavaScript-код, а выполняет его движок </a:t>
            </a:r>
            <a:r>
              <a:rPr lang="ru-RU" b="1" dirty="0"/>
              <a:t>V8</a:t>
            </a:r>
            <a:r>
              <a:rPr lang="ru-RU" dirty="0"/>
              <a:t>. V8 отвечает именно за исполнение JavaScript: функции, объекты, стек вызовов, синхронный код.</a:t>
            </a:r>
          </a:p>
          <a:p>
            <a:r>
              <a:rPr lang="ru-RU" dirty="0"/>
              <a:t>Но сам V8 не умеет напрямую работать с файловой системой, сетью, таймерами или операционной системой. Для этого в </a:t>
            </a:r>
            <a:r>
              <a:rPr lang="ru-RU" dirty="0" err="1"/>
              <a:t>Node.js</a:t>
            </a:r>
            <a:r>
              <a:rPr lang="ru-RU" dirty="0"/>
              <a:t> есть слой </a:t>
            </a:r>
            <a:r>
              <a:rPr lang="ru-RU" b="1" dirty="0" err="1"/>
              <a:t>Node.js</a:t>
            </a:r>
            <a:r>
              <a:rPr lang="ru-RU" b="1" dirty="0"/>
              <a:t> </a:t>
            </a:r>
            <a:r>
              <a:rPr lang="ru-RU" b="1" dirty="0" err="1"/>
              <a:t>bindings</a:t>
            </a:r>
            <a:r>
              <a:rPr lang="ru-RU" dirty="0"/>
              <a:t>. Это связка между JavaScript-кодом и низкоуровневыми возможностями </a:t>
            </a:r>
            <a:r>
              <a:rPr lang="ru-RU" dirty="0" err="1"/>
              <a:t>Node.js</a:t>
            </a:r>
            <a:r>
              <a:rPr lang="ru-RU" dirty="0"/>
              <a:t> и операционной системы.</a:t>
            </a:r>
          </a:p>
          <a:p>
            <a:r>
              <a:rPr lang="ru-RU" dirty="0"/>
              <a:t>Когда в коде мы вызываем асинхронную операцию, например чтение файла, сетевой запрос или таймер, эта работа не выполняется прямо в </a:t>
            </a:r>
            <a:r>
              <a:rPr lang="ru-RU" dirty="0" err="1"/>
              <a:t>call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. </a:t>
            </a:r>
            <a:r>
              <a:rPr lang="ru-RU" dirty="0" err="1"/>
              <a:t>Node.js</a:t>
            </a:r>
            <a:r>
              <a:rPr lang="ru-RU" dirty="0"/>
              <a:t> передает ее дальше, в </a:t>
            </a:r>
            <a:r>
              <a:rPr lang="ru-RU" b="1" dirty="0" err="1"/>
              <a:t>libuv</a:t>
            </a:r>
            <a:r>
              <a:rPr lang="ru-RU" dirty="0"/>
              <a:t>.</a:t>
            </a:r>
          </a:p>
          <a:p>
            <a:r>
              <a:rPr lang="ru-RU" b="1" dirty="0" err="1"/>
              <a:t>libuv</a:t>
            </a:r>
            <a:r>
              <a:rPr lang="ru-RU" dirty="0"/>
              <a:t> — это библиотека, которая отвечает за </a:t>
            </a:r>
            <a:r>
              <a:rPr lang="ru-RU" dirty="0" err="1"/>
              <a:t>event</a:t>
            </a:r>
            <a:r>
              <a:rPr lang="ru-RU" dirty="0"/>
              <a:t> </a:t>
            </a:r>
            <a:r>
              <a:rPr lang="ru-RU" dirty="0" err="1"/>
              <a:t>loop</a:t>
            </a:r>
            <a:r>
              <a:rPr lang="ru-RU" dirty="0"/>
              <a:t> и асинхронный ввод-вывод в </a:t>
            </a:r>
            <a:r>
              <a:rPr lang="ru-RU" dirty="0" err="1"/>
              <a:t>Node.js</a:t>
            </a:r>
            <a:r>
              <a:rPr lang="ru-RU" dirty="0"/>
              <a:t>. Она следит за очередями событий, работает с операционной системой и, если операция блокирующая, может отправить ее в </a:t>
            </a:r>
            <a:r>
              <a:rPr lang="ru-RU" b="1" dirty="0" err="1"/>
              <a:t>worker</a:t>
            </a:r>
            <a:r>
              <a:rPr lang="ru-RU" b="1" dirty="0"/>
              <a:t> </a:t>
            </a:r>
            <a:r>
              <a:rPr lang="ru-RU" b="1" dirty="0" err="1"/>
              <a:t>threads</a:t>
            </a:r>
            <a:r>
              <a:rPr lang="ru-RU" dirty="0"/>
              <a:t>.</a:t>
            </a:r>
          </a:p>
          <a:p>
            <a:r>
              <a:rPr lang="ru-RU" dirty="0"/>
              <a:t>Например, файловая система часто использует 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threads</a:t>
            </a:r>
            <a:r>
              <a:rPr lang="ru-RU" dirty="0"/>
              <a:t>, потому что такие операции могут быть блокирующими. Пока файл читается в отдельном потоке, основной JavaScript-поток не стоит на месте и может продолжать выполнять другой код.</a:t>
            </a:r>
          </a:p>
          <a:p>
            <a:r>
              <a:rPr lang="ru-RU" dirty="0"/>
              <a:t>Когда операция завершается, результат возвращается в </a:t>
            </a:r>
            <a:r>
              <a:rPr lang="ru-RU" dirty="0" err="1"/>
              <a:t>event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Дальше </a:t>
            </a:r>
            <a:r>
              <a:rPr lang="ru-RU" b="1" dirty="0" err="1"/>
              <a:t>event</a:t>
            </a:r>
            <a:r>
              <a:rPr lang="ru-RU" b="1" dirty="0"/>
              <a:t> </a:t>
            </a:r>
            <a:r>
              <a:rPr lang="ru-RU" b="1" dirty="0" err="1"/>
              <a:t>loop</a:t>
            </a:r>
            <a:r>
              <a:rPr lang="ru-RU" dirty="0"/>
              <a:t> забирает готовый </a:t>
            </a:r>
            <a:r>
              <a:rPr lang="ru-RU" dirty="0" err="1"/>
              <a:t>callback</a:t>
            </a:r>
            <a:r>
              <a:rPr lang="ru-RU" dirty="0"/>
              <a:t> из очереди и передает его обратно на выполнение в JavaScript.</a:t>
            </a:r>
          </a:p>
          <a:p>
            <a:r>
              <a:rPr lang="ru-RU" dirty="0"/>
              <a:t>Важно: JavaScript-код в </a:t>
            </a:r>
            <a:r>
              <a:rPr lang="ru-RU" dirty="0" err="1"/>
              <a:t>Node.js</a:t>
            </a:r>
            <a:r>
              <a:rPr lang="ru-RU" dirty="0"/>
              <a:t> все равно выполняется в одном основном потоке. Асинхронность появляется не потому, что весь JavaScript стал многопоточным, а потому что тяжелая или ожидающая работа выносится наружу — в </a:t>
            </a:r>
            <a:r>
              <a:rPr lang="ru-RU" dirty="0" err="1"/>
              <a:t>libuv</a:t>
            </a:r>
            <a:r>
              <a:rPr lang="ru-RU" dirty="0"/>
              <a:t>, операционную систему или </a:t>
            </a:r>
            <a:r>
              <a:rPr lang="ru-RU" dirty="0" err="1"/>
              <a:t>worker</a:t>
            </a:r>
            <a:r>
              <a:rPr lang="ru-RU" dirty="0"/>
              <a:t> </a:t>
            </a:r>
            <a:r>
              <a:rPr lang="ru-RU" dirty="0" err="1"/>
              <a:t>threads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D28A06-8412-4CCD-0D26-E2D7B49AA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190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9F38-BAA7-97D6-6E26-FFEECC8E6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F9C096-A283-B88E-B75A-88FF541B4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83D1EEF-E664-D864-8BFA-E5FDEFE3C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662244-995A-4214-BBB7-28FC3039D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114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93903-EA3C-F5FB-5CB7-973004FA4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58A404-BEEB-2B5B-5192-F6FBDE0319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98F53C3-E99B-9396-647A-DFCE9656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A276D0-DF60-21D1-16E8-12224428C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350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5B385-E962-5E08-CE39-CD7A5716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F5C6FB-CB19-05D0-6330-A8EAE6500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180034-7AD7-1757-53E7-30E95DDCA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B07548-81BC-44BA-1379-5021331C5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236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EA2E-0922-B13E-3678-A9C17223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8AA9BB-4C27-A48F-E3DB-5E2D724F8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F329CB-C530-E2F4-14FF-B0C9CAAC8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Скрин из документации </a:t>
            </a:r>
            <a:r>
              <a:rPr lang="ru-RU" dirty="0" err="1"/>
              <a:t>редакса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По такому принципу мы работали очень долго, но в какой то момент </a:t>
            </a:r>
            <a:r>
              <a:rPr lang="en-US" dirty="0"/>
              <a:t>react-native </a:t>
            </a:r>
            <a:r>
              <a:rPr lang="ru-RU" dirty="0"/>
              <a:t>и </a:t>
            </a:r>
            <a:r>
              <a:rPr lang="en-US" dirty="0"/>
              <a:t>PWA </a:t>
            </a:r>
            <a:r>
              <a:rPr lang="ru-RU" dirty="0"/>
              <a:t>стали достаточно популярны чтобы мы начали </a:t>
            </a:r>
            <a:r>
              <a:rPr lang="ru-RU" dirty="0" err="1"/>
              <a:t>задваться</a:t>
            </a:r>
            <a:r>
              <a:rPr lang="ru-RU" dirty="0"/>
              <a:t> вопросом о том, что мы не всегда онлайн и нам надо что то делать пока нет сети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F3C8FE-277A-5C95-EC90-0DD575D40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1472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214BF-12E9-8748-A048-5090F76C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D53D9C-A591-0634-E0CA-9A0D87285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9EA4ADE-B9A8-1629-315F-0A62E95382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AC742F-D019-2ED1-D581-BB3C5A995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13232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8CE97-CDFE-0BDD-2F8E-07DE85D2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B6174C-022B-6B79-D681-373CBC42B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A97D2A-2090-A8DB-DA4E-493ED1CF1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F1421A-C98C-380A-F794-FF65FF00A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947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6D3D9-DA5D-C822-504E-9E000A0B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EF68DF-2F95-7BFB-EE4C-B516242F64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C002D8B-CCA6-D73E-8114-0008DEC53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D27F0E-4AB9-CEEB-D110-72AE1BD79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6953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CEBFF-B2FF-406C-06E2-FBD021FCB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2FFF2C-B1BA-CC99-F942-78E7B64F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A297CA-071C-CD14-DD65-9DFEC4579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7AF8A7-3199-73B7-59C8-97EEB89F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771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E4C39-4476-73F3-0217-C524720A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587E2F-07E7-0588-7604-568A072AF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65FC79-F890-A1AD-8B39-AB7FA36558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8CF050-8BA0-1240-0134-6D34E96F9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6605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16A2-A4C1-0353-270D-23D1E674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F7EDE9-7642-DE3F-BB93-70D2F9B40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2C38C3-BE85-5430-8006-F3998530D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Стуктура</a:t>
            </a:r>
            <a:r>
              <a:rPr lang="ru-RU" dirty="0"/>
              <a:t> провайдеров в приложении будет примерно вот такой</a:t>
            </a:r>
          </a:p>
          <a:p>
            <a:endParaRPr lang="ru-RU" dirty="0"/>
          </a:p>
          <a:p>
            <a:r>
              <a:rPr lang="ru-RU" dirty="0" err="1"/>
              <a:t>Танстак</a:t>
            </a:r>
            <a:r>
              <a:rPr lang="ru-RU" dirty="0"/>
              <a:t> на самом верху </a:t>
            </a:r>
          </a:p>
          <a:p>
            <a:r>
              <a:rPr lang="ru-RU" dirty="0"/>
              <a:t>Ниже </a:t>
            </a:r>
            <a:r>
              <a:rPr lang="ru-RU" dirty="0" err="1"/>
              <a:t>редакс</a:t>
            </a:r>
            <a:r>
              <a:rPr lang="ru-RU" dirty="0"/>
              <a:t> – поскольку он внутри то имеет доступ к кешу</a:t>
            </a:r>
          </a:p>
          <a:p>
            <a:r>
              <a:rPr lang="ru-RU" dirty="0"/>
              <a:t>ниже находится роутер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C8C8C4-7EE2-3345-F068-096082A75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0808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0581F-A872-D79D-4F24-6CD859C8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F313B4-AAA7-92D9-6A43-979BAD363A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000CAEE-97E7-90E8-E870-457DE5B9A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en-US" dirty="0" err="1"/>
              <a:t>ErrorBoundary</a:t>
            </a:r>
            <a:r>
              <a:rPr lang="en-US" dirty="0"/>
              <a:t> </a:t>
            </a:r>
            <a:r>
              <a:rPr lang="ru-RU" dirty="0"/>
              <a:t>надо почитать самостоятельно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77FC0F-0B8A-673C-B9EF-9333503F8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274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F967-31F1-43AC-0024-8EDB0670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FEB0C0B-E3AD-3173-CC37-1B24E2C09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05A29C2-A176-C758-F9B6-7B5CBFAE0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Все их надо знать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6CE376-1975-F5C5-F95A-A32E82B7E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5687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CBE1-9F7B-24D2-70E5-D3266846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5254A5E-052A-5E50-F53C-448D55656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38140-0901-47F3-E5DE-870B62E95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Помните, что сам </a:t>
            </a:r>
            <a:r>
              <a:rPr lang="ru-RU" sz="1200" dirty="0" err="1"/>
              <a:t>редакс</a:t>
            </a:r>
            <a:r>
              <a:rPr lang="ru-RU" sz="1200" dirty="0"/>
              <a:t> – синхронный – сразу после изменения чего либо в сторе в рамках синхронных операций измененное значение можно сразу прочитать из стора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dirty="0"/>
              <a:t>Помните, что на вызов любого </a:t>
            </a:r>
            <a:r>
              <a:rPr lang="ru-RU" sz="1200" dirty="0" err="1"/>
              <a:t>диспатча</a:t>
            </a:r>
            <a:r>
              <a:rPr lang="ru-RU" sz="1200" dirty="0"/>
              <a:t> будут вызваны все </a:t>
            </a:r>
            <a:r>
              <a:rPr lang="ru-RU" sz="1200" dirty="0" err="1"/>
              <a:t>редюсеры</a:t>
            </a:r>
            <a:r>
              <a:rPr lang="ru-RU" sz="1200" dirty="0"/>
              <a:t> – вызваны, не значит что будет что то изменено, но это дает возможность на один </a:t>
            </a:r>
            <a:r>
              <a:rPr lang="ru-RU" sz="1200" dirty="0" err="1"/>
              <a:t>диспатч</a:t>
            </a:r>
            <a:r>
              <a:rPr lang="ru-RU" sz="1200" dirty="0"/>
              <a:t> делать разные вещи в разных </a:t>
            </a:r>
            <a:r>
              <a:rPr lang="ru-RU" sz="1200" dirty="0" err="1"/>
              <a:t>редюсерах</a:t>
            </a:r>
            <a:r>
              <a:rPr lang="ru-RU" sz="1200" dirty="0"/>
              <a:t>-слайсах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Помните, что в </a:t>
            </a:r>
            <a:r>
              <a:rPr lang="en" dirty="0" err="1"/>
              <a:t>js</a:t>
            </a:r>
            <a:r>
              <a:rPr lang="en" dirty="0"/>
              <a:t> </a:t>
            </a:r>
            <a:r>
              <a:rPr lang="ru-RU" dirty="0"/>
              <a:t>есть ссылочные типы данных, а </a:t>
            </a:r>
            <a:r>
              <a:rPr lang="ru-RU" dirty="0" err="1"/>
              <a:t>реакт</a:t>
            </a:r>
            <a:r>
              <a:rPr lang="ru-RU" dirty="0"/>
              <a:t> на каждый рендер вызывает тело функции компонента – если вы из стора достаете массив через селектор, то помните что любое действие с массивом будет приводить к </a:t>
            </a:r>
            <a:r>
              <a:rPr lang="ru-RU" dirty="0" err="1"/>
              <a:t>перерендеру</a:t>
            </a:r>
            <a:r>
              <a:rPr lang="ru-RU" dirty="0"/>
              <a:t> всего списка т.к. ссылки на массив почти никогда не будут одинаковы – нужно найти пример в коде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BB1A5D1-2975-6E4C-BF41-10EC3F25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55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806C-CC8E-5314-441A-F4F2171C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3B3B2B7-7D6D-CB78-0CD7-93B55AA37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35A47F-4FCD-1099-91E6-28755D019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86BD23-4C65-7FAD-77B9-1FA9E4239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42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2859885" cy="27515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3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Event-loop</a:t>
            </a:r>
            <a:endParaRPr lang="ru-RU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Запросы</a:t>
            </a:r>
          </a:p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Кеш</a:t>
            </a: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Event-loop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2" y="380010"/>
            <a:ext cx="964661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 err="1">
                <a:solidFill>
                  <a:srgbClr val="1C1B1B"/>
                </a:solidFill>
              </a:rPr>
              <a:t>Однопоточность</a:t>
            </a:r>
            <a:r>
              <a:rPr lang="ru-RU" sz="4800" dirty="0">
                <a:solidFill>
                  <a:srgbClr val="1C1B1B"/>
                </a:solidFill>
              </a:rPr>
              <a:t> и многопоточность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BDE1D-1B74-643C-93E7-FE8CF5C0A446}"/>
              </a:ext>
            </a:extLst>
          </p:cNvPr>
          <p:cNvSpPr txBox="1"/>
          <p:nvPr/>
        </p:nvSpPr>
        <p:spPr>
          <a:xfrm>
            <a:off x="470912" y="1137140"/>
            <a:ext cx="10773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Поток — это последовательность выполнения инструкций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 одном потоке код выполняется по очереди: одна операция за другой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JavaScript </a:t>
            </a:r>
            <a:r>
              <a:rPr lang="ru-RU" sz="2400" dirty="0"/>
              <a:t>выполняет пользовательский код в одном основном потоке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Поэтому долгий синхронный код блокирует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Но браузер сам по себе многопоточный: сеть, таймеры, рендеринг и события обрабатываются отдельно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Асинхронные операции не выполняются “параллельно” внутри </a:t>
            </a:r>
            <a:r>
              <a:rPr lang="en" sz="2400" dirty="0"/>
              <a:t>JavaScript-</a:t>
            </a:r>
            <a:r>
              <a:rPr lang="ru-RU" sz="2400" dirty="0"/>
              <a:t>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Браузер завершает асинхронную работу и передает </a:t>
            </a:r>
            <a:r>
              <a:rPr lang="en" sz="2400" dirty="0"/>
              <a:t>callback </a:t>
            </a:r>
            <a:r>
              <a:rPr lang="ru-RU" sz="2400" dirty="0"/>
              <a:t>обратно в </a:t>
            </a:r>
            <a:r>
              <a:rPr lang="en" sz="2400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Event Loop </a:t>
            </a:r>
            <a:r>
              <a:rPr lang="ru-RU" sz="2400" dirty="0"/>
              <a:t>решает, когда этот </a:t>
            </a:r>
            <a:r>
              <a:rPr lang="en" sz="2400" dirty="0"/>
              <a:t>callback </a:t>
            </a:r>
            <a:r>
              <a:rPr lang="ru-RU" sz="2400" dirty="0"/>
              <a:t>попадет в основной поток</a:t>
            </a:r>
          </a:p>
        </p:txBody>
      </p:sp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F68AF-CAA1-AA10-8F10-473B0A248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7B38DCA-E071-A5F6-1C16-F722F74989CF}"/>
              </a:ext>
            </a:extLst>
          </p:cNvPr>
          <p:cNvSpPr txBox="1"/>
          <p:nvPr/>
        </p:nvSpPr>
        <p:spPr>
          <a:xfrm>
            <a:off x="470912" y="380010"/>
            <a:ext cx="504785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Event-loop</a:t>
            </a:r>
            <a:r>
              <a:rPr lang="ru-RU" sz="4800" dirty="0">
                <a:solidFill>
                  <a:srgbClr val="1C1B1B"/>
                </a:solidFill>
              </a:rPr>
              <a:t> </a:t>
            </a:r>
            <a:r>
              <a:rPr lang="en-US" sz="4800" dirty="0">
                <a:solidFill>
                  <a:srgbClr val="1C1B1B"/>
                </a:solidFill>
              </a:rPr>
              <a:t>browser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3F5158-F961-526A-3122-D9CC865F16C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2EBFC1-648F-F563-42BB-A56BE61A27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346" y="1137140"/>
            <a:ext cx="6402859" cy="477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1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4B5549-0BF5-2574-15E0-7DBFA48F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C1A094-005B-CD39-12B0-E0312B03B9E4}"/>
              </a:ext>
            </a:extLst>
          </p:cNvPr>
          <p:cNvSpPr txBox="1"/>
          <p:nvPr/>
        </p:nvSpPr>
        <p:spPr>
          <a:xfrm>
            <a:off x="470912" y="380010"/>
            <a:ext cx="466647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Event-loop </a:t>
            </a:r>
            <a:r>
              <a:rPr lang="en-US" sz="4800" dirty="0" err="1">
                <a:solidFill>
                  <a:srgbClr val="1C1B1B"/>
                </a:solidFill>
              </a:rPr>
              <a:t>nodejs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93A485-855F-EB15-52A1-F69743DDA3D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B63783F-288F-30CC-E3E4-940B3FA07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5" y="1137140"/>
            <a:ext cx="10678629" cy="444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2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2C7C4-103B-DC16-405D-2B42105AE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89EEC4-88C8-01F2-FD7D-8BC13BFFDA8C}"/>
              </a:ext>
            </a:extLst>
          </p:cNvPr>
          <p:cNvSpPr txBox="1"/>
          <p:nvPr/>
        </p:nvSpPr>
        <p:spPr>
          <a:xfrm>
            <a:off x="470912" y="380010"/>
            <a:ext cx="538160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Promise/async-await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C5B70-2141-4D4B-748E-42B6828D442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94EC23-4D16-B34A-5C21-32A75C84CC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0" y="1137140"/>
            <a:ext cx="5537200" cy="22352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F10C42-49AE-AEF0-AD26-B596901D0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800" y="3485661"/>
            <a:ext cx="5537200" cy="23241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F33181F-05C7-A9D4-293F-436BA6327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888" y="2125521"/>
            <a:ext cx="5548139" cy="260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797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34821-F2AB-839C-135D-51B03480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3198D4-656D-C8E4-4C44-5CCFF5EE6E8C}"/>
              </a:ext>
            </a:extLst>
          </p:cNvPr>
          <p:cNvSpPr txBox="1"/>
          <p:nvPr/>
        </p:nvSpPr>
        <p:spPr>
          <a:xfrm>
            <a:off x="470912" y="380010"/>
            <a:ext cx="506260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Запросы к серверу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8D7BB1-D8DF-0B5B-2830-87D3EC35B5A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AC78A-D257-8019-0338-D8333D682AED}"/>
              </a:ext>
            </a:extLst>
          </p:cNvPr>
          <p:cNvSpPr txBox="1"/>
          <p:nvPr/>
        </p:nvSpPr>
        <p:spPr>
          <a:xfrm>
            <a:off x="470912" y="1137140"/>
            <a:ext cx="60980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 </a:t>
            </a:r>
            <a:r>
              <a:rPr lang="ru-RU" dirty="0"/>
              <a:t>получает данные с сервера через </a:t>
            </a:r>
            <a:r>
              <a:rPr lang="en-US" dirty="0"/>
              <a:t>HTTP-</a:t>
            </a:r>
            <a:r>
              <a:rPr lang="ru-RU" dirty="0"/>
              <a:t>запросы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Запрос обычно содержит </a:t>
            </a:r>
            <a:r>
              <a:rPr lang="en-US" dirty="0"/>
              <a:t>URL, </a:t>
            </a:r>
            <a:r>
              <a:rPr lang="ru-RU" dirty="0"/>
              <a:t>метод, </a:t>
            </a:r>
            <a:r>
              <a:rPr lang="en-US" dirty="0"/>
              <a:t>headers </a:t>
            </a:r>
            <a:r>
              <a:rPr lang="ru-RU" dirty="0"/>
              <a:t>и иногда </a:t>
            </a:r>
            <a:r>
              <a:rPr lang="en-US" dirty="0"/>
              <a:t>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Сервер возвращает </a:t>
            </a:r>
            <a:r>
              <a:rPr lang="en-US" dirty="0"/>
              <a:t>response: </a:t>
            </a:r>
            <a:r>
              <a:rPr lang="ru-RU" dirty="0"/>
              <a:t>статус, </a:t>
            </a:r>
            <a:r>
              <a:rPr lang="en-US" dirty="0"/>
              <a:t>headers </a:t>
            </a:r>
            <a:r>
              <a:rPr lang="ru-RU" dirty="0"/>
              <a:t>и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— </a:t>
            </a:r>
            <a:r>
              <a:rPr lang="ru-RU" dirty="0"/>
              <a:t>встроенный браузерный </a:t>
            </a:r>
            <a:r>
              <a:rPr lang="en-US" dirty="0"/>
              <a:t>API </a:t>
            </a:r>
            <a:r>
              <a:rPr lang="ru-RU" dirty="0"/>
              <a:t>для </a:t>
            </a:r>
            <a:r>
              <a:rPr lang="en-US" dirty="0"/>
              <a:t>HTTP-</a:t>
            </a:r>
            <a:r>
              <a:rPr lang="ru-RU" dirty="0"/>
              <a:t>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axios</a:t>
            </a:r>
            <a:r>
              <a:rPr lang="en-US" dirty="0"/>
              <a:t> — </a:t>
            </a:r>
            <a:r>
              <a:rPr lang="ru-RU" dirty="0"/>
              <a:t>сторонняя библиотека с более удобным </a:t>
            </a:r>
            <a:r>
              <a:rPr lang="en-US" dirty="0"/>
              <a:t>API </a:t>
            </a:r>
            <a:r>
              <a:rPr lang="ru-RU" dirty="0"/>
              <a:t>поверх </a:t>
            </a:r>
            <a:r>
              <a:rPr lang="en-US" dirty="0"/>
              <a:t>HTTP-</a:t>
            </a:r>
            <a:r>
              <a:rPr lang="ru-RU" dirty="0"/>
              <a:t>запросов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fetch </a:t>
            </a:r>
            <a:r>
              <a:rPr lang="ru-RU" dirty="0"/>
              <a:t>требует вручную читать </a:t>
            </a:r>
            <a:r>
              <a:rPr lang="en-US" dirty="0"/>
              <a:t>JSON </a:t>
            </a:r>
            <a:r>
              <a:rPr lang="ru-RU" dirty="0"/>
              <a:t>через </a:t>
            </a:r>
            <a:r>
              <a:rPr lang="en-US" dirty="0" err="1"/>
              <a:t>response.json</a:t>
            </a:r>
            <a:r>
              <a:rPr lang="en-US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axios</a:t>
            </a:r>
            <a:r>
              <a:rPr lang="en-US" dirty="0"/>
              <a:t> </a:t>
            </a:r>
            <a:r>
              <a:rPr lang="ru-RU" dirty="0"/>
              <a:t>сразу кладет данные ответа в </a:t>
            </a:r>
            <a:r>
              <a:rPr lang="en-US" dirty="0" err="1"/>
              <a:t>response.data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обоих случаях запросы асинхронные и обычно используются с </a:t>
            </a:r>
            <a:r>
              <a:rPr lang="en-US" dirty="0"/>
              <a:t>async / await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7FF5C24-3617-180B-0D0A-5C6723237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970" y="1669490"/>
            <a:ext cx="5464853" cy="207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3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7880-533C-F007-B827-EEE766FB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354EC6-7434-3DBF-B41F-EEA6D3971283}"/>
              </a:ext>
            </a:extLst>
          </p:cNvPr>
          <p:cNvSpPr txBox="1"/>
          <p:nvPr/>
        </p:nvSpPr>
        <p:spPr>
          <a:xfrm>
            <a:off x="470912" y="380010"/>
            <a:ext cx="294721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UI-BLL-DAL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49AB34-7576-08FA-D53A-7140903248D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7509CB9-B94D-FE01-B5E1-C0A5D088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520" y="1578404"/>
            <a:ext cx="7327900" cy="2984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2E3EB-A4C3-D3E8-AF46-7A309A918C33}"/>
              </a:ext>
            </a:extLst>
          </p:cNvPr>
          <p:cNvSpPr txBox="1"/>
          <p:nvPr/>
        </p:nvSpPr>
        <p:spPr>
          <a:xfrm>
            <a:off x="6828512" y="5474043"/>
            <a:ext cx="2018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Запросы к серверу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DD4BF652-2A09-E51C-FC36-75A06571098B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7837731" y="4562904"/>
            <a:ext cx="0" cy="91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88B8AF3-CA48-ED13-7357-ED033BF0A83D}"/>
              </a:ext>
            </a:extLst>
          </p:cNvPr>
          <p:cNvSpPr txBox="1"/>
          <p:nvPr/>
        </p:nvSpPr>
        <p:spPr>
          <a:xfrm>
            <a:off x="4823956" y="5474043"/>
            <a:ext cx="1579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Бизнес логика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8A17053-B1A0-F5B0-65A3-DA0193306666}"/>
              </a:ext>
            </a:extLst>
          </p:cNvPr>
          <p:cNvCxnSpPr>
            <a:cxnSpLocks/>
          </p:cNvCxnSpPr>
          <p:nvPr/>
        </p:nvCxnSpPr>
        <p:spPr>
          <a:xfrm flipV="1">
            <a:off x="5608470" y="4568653"/>
            <a:ext cx="0" cy="911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18A42FB-44DC-4190-1FB2-6D9287E35919}"/>
              </a:ext>
            </a:extLst>
          </p:cNvPr>
          <p:cNvSpPr txBox="1"/>
          <p:nvPr/>
        </p:nvSpPr>
        <p:spPr>
          <a:xfrm>
            <a:off x="6005384" y="6237924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Данные???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B558D140-E9FD-04CD-01D9-1091B4089191}"/>
              </a:ext>
            </a:extLst>
          </p:cNvPr>
          <p:cNvCxnSpPr>
            <a:stCxn id="11" idx="0"/>
            <a:endCxn id="9" idx="2"/>
          </p:cNvCxnSpPr>
          <p:nvPr/>
        </p:nvCxnSpPr>
        <p:spPr>
          <a:xfrm flipH="1" flipV="1">
            <a:off x="5613500" y="5843375"/>
            <a:ext cx="1033246" cy="394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106464F-4DBE-B8E5-55F0-FB6A7B229543}"/>
              </a:ext>
            </a:extLst>
          </p:cNvPr>
          <p:cNvCxnSpPr>
            <a:cxnSpLocks/>
            <a:stCxn id="11" idx="0"/>
            <a:endCxn id="4" idx="2"/>
          </p:cNvCxnSpPr>
          <p:nvPr/>
        </p:nvCxnSpPr>
        <p:spPr>
          <a:xfrm flipV="1">
            <a:off x="6646746" y="5843375"/>
            <a:ext cx="1190985" cy="394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146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04805-48BF-94F5-7816-FB4E69F1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A47E03-315D-8E46-2D9A-B51AE3D4FB5B}"/>
              </a:ext>
            </a:extLst>
          </p:cNvPr>
          <p:cNvSpPr txBox="1"/>
          <p:nvPr/>
        </p:nvSpPr>
        <p:spPr>
          <a:xfrm>
            <a:off x="470912" y="380010"/>
            <a:ext cx="413837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Старый подход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6283A6-46CC-F6B3-E3DF-B90DF3636BB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5E26A-9F35-3356-40DE-8E47CDC1B79A}"/>
              </a:ext>
            </a:extLst>
          </p:cNvPr>
          <p:cNvSpPr txBox="1"/>
          <p:nvPr/>
        </p:nvSpPr>
        <p:spPr>
          <a:xfrm>
            <a:off x="470912" y="1137140"/>
            <a:ext cx="52749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Запрашиваем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Кладем в </a:t>
            </a:r>
            <a:r>
              <a:rPr lang="en-US" dirty="0"/>
              <a:t>state-manager (BLL)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UI </a:t>
            </a:r>
            <a:r>
              <a:rPr lang="ru-RU" dirty="0"/>
              <a:t>получает данные из </a:t>
            </a:r>
            <a:r>
              <a:rPr lang="en-US" dirty="0"/>
              <a:t>BLL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несколько компонентов хотят получить эти данные и пытаются их загрузить, то мы получаем гонку запросов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0AED4A-28FA-BEEB-2386-BBAE08370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6540" y="380010"/>
            <a:ext cx="5973017" cy="558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84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1666A-9078-61D7-8A50-F3C7028BD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712603-045E-5132-4437-C20C38132D0A}"/>
              </a:ext>
            </a:extLst>
          </p:cNvPr>
          <p:cNvSpPr txBox="1"/>
          <p:nvPr/>
        </p:nvSpPr>
        <p:spPr>
          <a:xfrm>
            <a:off x="470912" y="380010"/>
            <a:ext cx="550503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Новый подход - Кеш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214898-7DCE-AA73-C65B-8D87471B93C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8EB339-DFF0-62FD-42F5-2E4569671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745" y="1232776"/>
            <a:ext cx="7772400" cy="360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2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B70AF8-4DE7-03EB-57A6-BCED4000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D50A36-936B-BCD4-E82A-753A6E516C5B}"/>
              </a:ext>
            </a:extLst>
          </p:cNvPr>
          <p:cNvSpPr txBox="1"/>
          <p:nvPr/>
        </p:nvSpPr>
        <p:spPr>
          <a:xfrm>
            <a:off x="470912" y="380010"/>
            <a:ext cx="126598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Кеш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24B902-522E-F580-83EA-80DC6E6BA12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8CA9A8-F1F7-60A1-03C4-48B589D88975}"/>
              </a:ext>
            </a:extLst>
          </p:cNvPr>
          <p:cNvSpPr txBox="1"/>
          <p:nvPr/>
        </p:nvSpPr>
        <p:spPr>
          <a:xfrm>
            <a:off x="470913" y="1137140"/>
            <a:ext cx="112501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Кеш — это временное хранилище уже полученных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Он нужен, чтобы не запрашивать и не пересчитывать одно и то же повторно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данные есть в кеше, приложение может показать их быстрее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Кеш уменьшает количество запросов к серверу и нагрузку на сеть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 кеша есть срок актуальности: данные могут устареть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Главная сложность кеша — понять, когда использовать старые данные, а когда запросить новые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Во </a:t>
            </a:r>
            <a:r>
              <a:rPr lang="en" sz="2400" dirty="0"/>
              <a:t>frontend </a:t>
            </a:r>
            <a:r>
              <a:rPr lang="ru-RU" sz="2400" dirty="0"/>
              <a:t>кеш часто используют для серверных данных: профиля, списков, карточек, справочников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Библиотеки вроде </a:t>
            </a:r>
            <a:r>
              <a:rPr lang="en" sz="2400" dirty="0"/>
              <a:t>React Query </a:t>
            </a:r>
            <a:r>
              <a:rPr lang="ru-RU" sz="2400" dirty="0"/>
              <a:t>помогают управлять кешем, обновлением и состояниями загрузки</a:t>
            </a:r>
          </a:p>
        </p:txBody>
      </p:sp>
    </p:spTree>
    <p:extLst>
      <p:ext uri="{BB962C8B-B14F-4D97-AF65-F5344CB8AC3E}">
        <p14:creationId xmlns:p14="http://schemas.microsoft.com/office/powerpoint/2010/main" val="421283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9B2D5-B44E-6163-0E2C-6CC5E2823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2C1FCE-5B4F-21AA-5405-6CAC5F2D5B59}"/>
              </a:ext>
            </a:extLst>
          </p:cNvPr>
          <p:cNvSpPr txBox="1"/>
          <p:nvPr/>
        </p:nvSpPr>
        <p:spPr>
          <a:xfrm>
            <a:off x="470912" y="380010"/>
            <a:ext cx="729289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RTK Query </a:t>
            </a:r>
            <a:r>
              <a:rPr lang="ru-RU" sz="4800" dirty="0">
                <a:solidFill>
                  <a:srgbClr val="1C1B1B"/>
                </a:solidFill>
              </a:rPr>
              <a:t>и </a:t>
            </a:r>
            <a:r>
              <a:rPr lang="en" sz="4800" dirty="0" err="1">
                <a:solidFill>
                  <a:srgbClr val="1C1B1B"/>
                </a:solidFill>
              </a:rPr>
              <a:t>TanStack</a:t>
            </a:r>
            <a:r>
              <a:rPr lang="en" sz="4800" dirty="0">
                <a:solidFill>
                  <a:srgbClr val="1C1B1B"/>
                </a:solidFill>
              </a:rPr>
              <a:t> Query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3B1149-584D-0F1A-71C9-238DD29EA7ED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63CFD-4520-8705-7C9D-2B36189F686C}"/>
              </a:ext>
            </a:extLst>
          </p:cNvPr>
          <p:cNvSpPr txBox="1"/>
          <p:nvPr/>
        </p:nvSpPr>
        <p:spPr>
          <a:xfrm>
            <a:off x="470913" y="1137140"/>
            <a:ext cx="1125017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Обе библиотеки решают задачу </a:t>
            </a:r>
            <a:r>
              <a:rPr lang="en" sz="2400" dirty="0"/>
              <a:t>server state: </a:t>
            </a:r>
            <a:r>
              <a:rPr lang="ru-RU" sz="2400" dirty="0"/>
              <a:t>загрузка, кеширование, обновление и синхронизация данных с сервером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Они убирают ручную связку </a:t>
            </a:r>
            <a:r>
              <a:rPr lang="en" sz="2400" dirty="0" err="1"/>
              <a:t>useEffect</a:t>
            </a:r>
            <a:r>
              <a:rPr lang="en" sz="2400" dirty="0"/>
              <a:t> + </a:t>
            </a:r>
            <a:r>
              <a:rPr lang="en" sz="2400" dirty="0" err="1"/>
              <a:t>useState</a:t>
            </a:r>
            <a:r>
              <a:rPr lang="en" sz="2400" dirty="0"/>
              <a:t> + fetch + </a:t>
            </a:r>
            <a:r>
              <a:rPr lang="en" sz="2400" dirty="0" err="1"/>
              <a:t>isLoading</a:t>
            </a:r>
            <a:r>
              <a:rPr lang="en" sz="2400" dirty="0"/>
              <a:t> +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Дают готовые состояния запроса: </a:t>
            </a:r>
            <a:r>
              <a:rPr lang="en" sz="2400" dirty="0"/>
              <a:t>data, </a:t>
            </a:r>
            <a:r>
              <a:rPr lang="en" sz="2400" dirty="0" err="1"/>
              <a:t>isLoading</a:t>
            </a:r>
            <a:r>
              <a:rPr lang="en" sz="2400" dirty="0"/>
              <a:t>, </a:t>
            </a:r>
            <a:r>
              <a:rPr lang="en" sz="2400" dirty="0" err="1"/>
              <a:t>isFetching</a:t>
            </a:r>
            <a:r>
              <a:rPr lang="en" sz="2400" dirty="0"/>
              <a:t>,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Кешируют ответы и не делают одинаковые запросы без необходимости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Умеют обновлять данные в фоне, </a:t>
            </a:r>
            <a:r>
              <a:rPr lang="ru-RU" sz="2400" dirty="0" err="1"/>
              <a:t>инвалидировать</a:t>
            </a:r>
            <a:r>
              <a:rPr lang="ru-RU" sz="2400" dirty="0"/>
              <a:t> кеш и повторно запрашивать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Помогают работать с мутациями: создание, обновление, удаление данных</a:t>
            </a:r>
          </a:p>
        </p:txBody>
      </p:sp>
    </p:spTree>
    <p:extLst>
      <p:ext uri="{BB962C8B-B14F-4D97-AF65-F5344CB8AC3E}">
        <p14:creationId xmlns:p14="http://schemas.microsoft.com/office/powerpoint/2010/main" val="2890682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EBDDE-9C38-6CAE-8CFB-9ED90658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27F555-B59F-5C30-7A2B-C3CA85FC5A70}"/>
              </a:ext>
            </a:extLst>
          </p:cNvPr>
          <p:cNvSpPr txBox="1"/>
          <p:nvPr/>
        </p:nvSpPr>
        <p:spPr>
          <a:xfrm>
            <a:off x="470912" y="380010"/>
            <a:ext cx="281378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>
                <a:solidFill>
                  <a:srgbClr val="1C1B1B"/>
                </a:solidFill>
              </a:rPr>
              <a:t>RTK Query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9F08CF-9A5A-9158-F8FD-04B091BF4B8B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D30A4-A2FF-6F03-26E0-AC38AB81B99C}"/>
              </a:ext>
            </a:extLst>
          </p:cNvPr>
          <p:cNvSpPr txBox="1"/>
          <p:nvPr/>
        </p:nvSpPr>
        <p:spPr>
          <a:xfrm>
            <a:off x="470913" y="1137140"/>
            <a:ext cx="11250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Часть </a:t>
            </a:r>
            <a:r>
              <a:rPr lang="en" sz="2400" dirty="0"/>
              <a:t>Redux Toolkit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Хорошо подходит, если в проекте уже используется </a:t>
            </a:r>
            <a:r>
              <a:rPr lang="en" sz="2400" dirty="0"/>
              <a:t>Redux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API </a:t>
            </a:r>
            <a:r>
              <a:rPr lang="ru-RU" sz="2400" dirty="0"/>
              <a:t>описывается централизованно через </a:t>
            </a:r>
            <a:r>
              <a:rPr lang="en" sz="2400" dirty="0" err="1"/>
              <a:t>createApi</a:t>
            </a:r>
            <a:endParaRPr lang="e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Автоматически генерирует хуки для запросов и мутаций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Удобен, когда хочется держать работу с </a:t>
            </a:r>
            <a:r>
              <a:rPr lang="en" sz="2400" dirty="0"/>
              <a:t>API </a:t>
            </a:r>
            <a:r>
              <a:rPr lang="ru-RU" sz="2400" dirty="0"/>
              <a:t>рядом с </a:t>
            </a:r>
            <a:r>
              <a:rPr lang="en" sz="2400" dirty="0"/>
              <a:t>Redux-</a:t>
            </a:r>
            <a:r>
              <a:rPr lang="ru-RU" sz="2400" dirty="0"/>
              <a:t>инфраструктурой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6A6D0C-CDF6-EC8B-3918-5447DA1D6579}"/>
              </a:ext>
            </a:extLst>
          </p:cNvPr>
          <p:cNvSpPr txBox="1"/>
          <p:nvPr/>
        </p:nvSpPr>
        <p:spPr>
          <a:xfrm>
            <a:off x="644006" y="3569502"/>
            <a:ext cx="95254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Минусы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Часть </a:t>
            </a:r>
            <a:r>
              <a:rPr lang="en" sz="2400" dirty="0"/>
              <a:t>Redux Toolkit</a:t>
            </a:r>
            <a:r>
              <a:rPr lang="ru-RU" sz="2400" dirty="0"/>
              <a:t>)</a:t>
            </a:r>
            <a:endParaRPr lang="e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Привязан к </a:t>
            </a:r>
            <a:r>
              <a:rPr lang="en-US" sz="2400" dirty="0" err="1"/>
              <a:t>entrypoint</a:t>
            </a:r>
            <a:r>
              <a:rPr lang="ru-RU" sz="2400" dirty="0"/>
              <a:t> (механизм </a:t>
            </a:r>
            <a:r>
              <a:rPr lang="en-US" sz="2400" dirty="0"/>
              <a:t>Tags)</a:t>
            </a:r>
            <a:r>
              <a:rPr lang="ru-RU" sz="2400" dirty="0"/>
              <a:t>,</a:t>
            </a:r>
            <a:r>
              <a:rPr lang="en-US" sz="2400" dirty="0"/>
              <a:t> </a:t>
            </a:r>
            <a:r>
              <a:rPr lang="ru-RU" sz="2400" dirty="0"/>
              <a:t>а не к ключам кеша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Долгое время </a:t>
            </a:r>
            <a:r>
              <a:rPr lang="ru-RU" sz="2400" dirty="0" err="1"/>
              <a:t>инвалидация</a:t>
            </a:r>
            <a:r>
              <a:rPr lang="ru-RU" sz="2400" dirty="0"/>
              <a:t> кеша была возможна только из мутаций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23197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0A672-DC5B-ECD0-B514-16BCD3873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9527E8-7375-16AD-AC6C-6169F5094E0D}"/>
              </a:ext>
            </a:extLst>
          </p:cNvPr>
          <p:cNvSpPr txBox="1"/>
          <p:nvPr/>
        </p:nvSpPr>
        <p:spPr>
          <a:xfrm>
            <a:off x="470912" y="380010"/>
            <a:ext cx="405143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" sz="4800" dirty="0" err="1">
                <a:solidFill>
                  <a:srgbClr val="1C1B1B"/>
                </a:solidFill>
              </a:rPr>
              <a:t>TanStack</a:t>
            </a:r>
            <a:r>
              <a:rPr lang="en" sz="4800" dirty="0">
                <a:solidFill>
                  <a:srgbClr val="1C1B1B"/>
                </a:solidFill>
              </a:rPr>
              <a:t> Query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E68F39-14F3-7550-C0B1-A0675A7E1EC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649C65-E9F4-04C7-4384-BF706195228D}"/>
              </a:ext>
            </a:extLst>
          </p:cNvPr>
          <p:cNvSpPr txBox="1"/>
          <p:nvPr/>
        </p:nvSpPr>
        <p:spPr>
          <a:xfrm>
            <a:off x="470913" y="1137140"/>
            <a:ext cx="112501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 привязан к </a:t>
            </a:r>
            <a:r>
              <a:rPr lang="en" sz="2400" dirty="0"/>
              <a:t>Redux </a:t>
            </a:r>
            <a:r>
              <a:rPr lang="ru-RU" sz="2400" dirty="0"/>
              <a:t>и конкретному </a:t>
            </a:r>
            <a:r>
              <a:rPr lang="en" sz="2400" dirty="0"/>
              <a:t>state-manager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Работает вокруг </a:t>
            </a:r>
            <a:r>
              <a:rPr lang="en" sz="2400" dirty="0" err="1"/>
              <a:t>queryKey</a:t>
            </a:r>
            <a:r>
              <a:rPr lang="en" sz="2400" dirty="0"/>
              <a:t> </a:t>
            </a:r>
            <a:r>
              <a:rPr lang="ru-RU" sz="2400" dirty="0"/>
              <a:t>и функций загрузки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Хорошо подходит, когда нужен отдельный инструмент именно для серверного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Гибкий кеш, </a:t>
            </a:r>
            <a:r>
              <a:rPr lang="en" sz="2400" dirty="0" err="1"/>
              <a:t>refetch</a:t>
            </a:r>
            <a:r>
              <a:rPr lang="en" sz="2400" dirty="0"/>
              <a:t>, stale-time, pagination, infinite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Часто выбирают как универсальное решение для работы с </a:t>
            </a:r>
            <a:r>
              <a:rPr lang="en" sz="2400" dirty="0"/>
              <a:t>API </a:t>
            </a:r>
            <a:r>
              <a:rPr lang="ru-RU" sz="2400" dirty="0"/>
              <a:t>в </a:t>
            </a:r>
            <a:r>
              <a:rPr lang="en" sz="2400" dirty="0"/>
              <a:t>React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22067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D979D-1475-94E3-2609-A4E5928B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3E8879-4785-5D63-68C8-0739E42A916E}"/>
              </a:ext>
            </a:extLst>
          </p:cNvPr>
          <p:cNvSpPr txBox="1"/>
          <p:nvPr/>
        </p:nvSpPr>
        <p:spPr>
          <a:xfrm>
            <a:off x="376703" y="429734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Все вместе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7E637-363B-6F59-9DAC-F156F069FC5A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018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BD69B0-08BB-9703-CEA8-88310A6A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A9AFE3-6B05-4ADF-A024-33AE1C28A2D8}"/>
              </a:ext>
            </a:extLst>
          </p:cNvPr>
          <p:cNvSpPr txBox="1"/>
          <p:nvPr/>
        </p:nvSpPr>
        <p:spPr>
          <a:xfrm>
            <a:off x="470912" y="380010"/>
            <a:ext cx="277223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Структура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329C1-BC69-B879-3DC5-C85738D9587B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355BC7-55AE-F068-E581-74F9BBE6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37140"/>
            <a:ext cx="6069286" cy="279942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8FCD6-52B3-8B95-8E89-896444A3D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4055" y="3071014"/>
            <a:ext cx="4583889" cy="19659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92BEDA-DD49-3116-FDD7-D56D1288B8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2115" y="4417941"/>
            <a:ext cx="5011657" cy="16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42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0C1148-B22C-6739-237E-DF6FE407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F35885F-4963-C468-F2F1-1D37F141F4EE}"/>
              </a:ext>
            </a:extLst>
          </p:cNvPr>
          <p:cNvSpPr txBox="1"/>
          <p:nvPr/>
        </p:nvSpPr>
        <p:spPr>
          <a:xfrm>
            <a:off x="470912" y="380010"/>
            <a:ext cx="452720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Нюансы роутера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F9C616-EC55-4746-8AEE-8FB943E08BB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4655AA-1614-C467-07BC-ACC001F1B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389" y="380010"/>
            <a:ext cx="5480698" cy="3129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D7CD79-B922-6A2E-D710-2A73F237BB17}"/>
              </a:ext>
            </a:extLst>
          </p:cNvPr>
          <p:cNvSpPr txBox="1"/>
          <p:nvPr/>
        </p:nvSpPr>
        <p:spPr>
          <a:xfrm>
            <a:off x="470913" y="1137140"/>
            <a:ext cx="56250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Роутер перехватывает </a:t>
            </a:r>
            <a:r>
              <a:rPr lang="en-US" dirty="0" err="1"/>
              <a:t>ErrorBoundary</a:t>
            </a:r>
            <a:r>
              <a:rPr lang="en-US" dirty="0"/>
              <a:t> – </a:t>
            </a:r>
            <a:r>
              <a:rPr lang="ru-RU" dirty="0"/>
              <a:t>если </a:t>
            </a:r>
            <a:r>
              <a:rPr lang="ru-RU" dirty="0" err="1"/>
              <a:t>баундари</a:t>
            </a:r>
            <a:r>
              <a:rPr lang="ru-RU" dirty="0"/>
              <a:t> находится выше роутера – то первым ошибку перехватит роутер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 роутера есть </a:t>
            </a:r>
            <a:r>
              <a:rPr lang="ru-RU" dirty="0" err="1"/>
              <a:t>лоудеры</a:t>
            </a:r>
            <a:r>
              <a:rPr lang="ru-RU" dirty="0"/>
              <a:t> –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поскольку роутер находится внутри </a:t>
            </a:r>
            <a:r>
              <a:rPr lang="ru-RU" dirty="0" err="1"/>
              <a:t>редакса</a:t>
            </a:r>
            <a:r>
              <a:rPr lang="ru-RU" dirty="0"/>
              <a:t> – у нас есть доступ к стору в </a:t>
            </a:r>
            <a:r>
              <a:rPr lang="ru-RU" dirty="0" err="1"/>
              <a:t>лоудерах</a:t>
            </a:r>
            <a:endParaRPr lang="ru-RU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Можно проверять залогинен пользователь или нет или подгружать что то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Лоудеры</a:t>
            </a:r>
            <a:r>
              <a:rPr lang="ru-RU" dirty="0"/>
              <a:t> можно вешать не только на конкретную страницу, но и на </a:t>
            </a:r>
            <a:r>
              <a:rPr lang="en-US" dirty="0"/>
              <a:t>layout </a:t>
            </a:r>
            <a:r>
              <a:rPr lang="ru-RU" dirty="0"/>
              <a:t>группы страниц – можно формировать защищенные </a:t>
            </a:r>
            <a:r>
              <a:rPr lang="ru-RU" dirty="0" err="1"/>
              <a:t>роуты</a:t>
            </a:r>
            <a:r>
              <a:rPr lang="ru-RU" dirty="0"/>
              <a:t>. Порядок вызовов будет от родителя к ребенку по вложенности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Имеет смысл применять ленивую подгрузку для уменьшения бандла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21E81BF-D3C4-1F67-AA4A-18BC5C44A2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390" y="3509719"/>
            <a:ext cx="5480698" cy="229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14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E2F4-A8A9-D9AC-DD9F-4FB509EA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45C085-F71D-C8F4-C7E0-F6C1EEBE0B62}"/>
              </a:ext>
            </a:extLst>
          </p:cNvPr>
          <p:cNvSpPr txBox="1"/>
          <p:nvPr/>
        </p:nvSpPr>
        <p:spPr>
          <a:xfrm>
            <a:off x="470912" y="380010"/>
            <a:ext cx="735855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Нюансы </a:t>
            </a:r>
            <a:r>
              <a:rPr lang="ru-RU" sz="4800" dirty="0" err="1">
                <a:solidFill>
                  <a:srgbClr val="1C1B1B"/>
                </a:solidFill>
              </a:rPr>
              <a:t>редакса</a:t>
            </a:r>
            <a:r>
              <a:rPr lang="ru-RU" sz="4800" dirty="0">
                <a:solidFill>
                  <a:srgbClr val="1C1B1B"/>
                </a:solidFill>
              </a:rPr>
              <a:t> - термины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D4D769-7ED8-8C62-66A2-2A4478438E8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2E95DD-7F81-2A14-2FB2-E1691BE9543C}"/>
              </a:ext>
            </a:extLst>
          </p:cNvPr>
          <p:cNvSpPr txBox="1"/>
          <p:nvPr/>
        </p:nvSpPr>
        <p:spPr>
          <a:xfrm>
            <a:off x="470912" y="1137140"/>
            <a:ext cx="947899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Reducer</a:t>
            </a:r>
            <a:r>
              <a:rPr lang="ru-RU" sz="2400" dirty="0"/>
              <a:t> – чистая функция описывающая изменение состояния какой то части стора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Action</a:t>
            </a:r>
            <a:r>
              <a:rPr lang="ru-RU" sz="2400" dirty="0"/>
              <a:t> – константа типа, по которой </a:t>
            </a:r>
            <a:r>
              <a:rPr lang="ru-RU" sz="2400" dirty="0" err="1"/>
              <a:t>редюсер</a:t>
            </a:r>
            <a:r>
              <a:rPr lang="ru-RU" sz="2400" dirty="0"/>
              <a:t> определяет что делать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Action Creator</a:t>
            </a:r>
            <a:r>
              <a:rPr lang="ru-RU" sz="2400" dirty="0"/>
              <a:t> – функция обертка, которая возвращает </a:t>
            </a:r>
            <a:r>
              <a:rPr lang="ru-RU" sz="2400" dirty="0" err="1"/>
              <a:t>обьект</a:t>
            </a:r>
            <a:r>
              <a:rPr lang="ru-RU" sz="2400" dirty="0"/>
              <a:t> для </a:t>
            </a:r>
            <a:r>
              <a:rPr lang="ru-RU" sz="2400" dirty="0" err="1"/>
              <a:t>редюсера</a:t>
            </a:r>
            <a:r>
              <a:rPr lang="ru-RU" sz="2400" dirty="0"/>
              <a:t> (</a:t>
            </a:r>
            <a:r>
              <a:rPr lang="en-US" sz="2400" dirty="0" err="1"/>
              <a:t>type+payload</a:t>
            </a:r>
            <a:r>
              <a:rPr lang="en-US" sz="2400" dirty="0"/>
              <a:t>)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Dispatch </a:t>
            </a:r>
            <a:r>
              <a:rPr lang="ru-RU" sz="2400" dirty="0"/>
              <a:t>– функция, через которую мы вызываем изменения в сторе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Selector </a:t>
            </a:r>
            <a:r>
              <a:rPr lang="ru-RU" sz="2400" dirty="0"/>
              <a:t>– функция, которая достает данные из стора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Thunk</a:t>
            </a:r>
            <a:r>
              <a:rPr lang="ru-RU" sz="2400" dirty="0"/>
              <a:t> – </a:t>
            </a:r>
            <a:r>
              <a:rPr lang="ru-RU" sz="2400" dirty="0" err="1"/>
              <a:t>мидлвар</a:t>
            </a:r>
            <a:r>
              <a:rPr lang="ru-RU" sz="2400" dirty="0"/>
              <a:t> для асинхронной работы в </a:t>
            </a:r>
            <a:r>
              <a:rPr lang="ru-RU" sz="2400" dirty="0" err="1"/>
              <a:t>редаксе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Slice </a:t>
            </a:r>
            <a:r>
              <a:rPr lang="ru-RU" sz="2400" dirty="0"/>
              <a:t>– часть стора, в которой можно собрать все, что относится к данной части – сам </a:t>
            </a:r>
            <a:r>
              <a:rPr lang="ru-RU" sz="2400" dirty="0" err="1"/>
              <a:t>редюсер</a:t>
            </a:r>
            <a:r>
              <a:rPr lang="ru-RU" sz="2400" dirty="0"/>
              <a:t>, селекторы, экшены, экшен креаторы, асинхронные операции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65923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C9282-DC75-1F5E-8F7F-0F1F9D62B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52D6E5-0522-0198-DEEC-2134844DA33F}"/>
              </a:ext>
            </a:extLst>
          </p:cNvPr>
          <p:cNvSpPr txBox="1"/>
          <p:nvPr/>
        </p:nvSpPr>
        <p:spPr>
          <a:xfrm>
            <a:off x="470912" y="380010"/>
            <a:ext cx="748076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Нюансы </a:t>
            </a:r>
            <a:r>
              <a:rPr lang="ru-RU" sz="4800" dirty="0" err="1">
                <a:solidFill>
                  <a:srgbClr val="1C1B1B"/>
                </a:solidFill>
              </a:rPr>
              <a:t>редакса</a:t>
            </a:r>
            <a:r>
              <a:rPr lang="ru-RU" sz="4800" dirty="0">
                <a:solidFill>
                  <a:srgbClr val="1C1B1B"/>
                </a:solidFill>
              </a:rPr>
              <a:t> - полезное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0ACE0D-D89E-B2B9-0D88-6BEF0798C82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13BF31-90B0-6504-E429-B0F0B6147BC8}"/>
              </a:ext>
            </a:extLst>
          </p:cNvPr>
          <p:cNvSpPr txBox="1"/>
          <p:nvPr/>
        </p:nvSpPr>
        <p:spPr>
          <a:xfrm>
            <a:off x="470912" y="1137140"/>
            <a:ext cx="112501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Пишите тесты на </a:t>
            </a:r>
            <a:r>
              <a:rPr lang="ru-RU" sz="2000" dirty="0" err="1"/>
              <a:t>редюсеры</a:t>
            </a:r>
            <a:r>
              <a:rPr lang="ru-RU" sz="2000" dirty="0"/>
              <a:t> – это просто, дешево и позволяет поддерживать логику и не стрелять себе в ногу при обновлении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Помните, что сам </a:t>
            </a:r>
            <a:r>
              <a:rPr lang="ru-RU" sz="2000" dirty="0" err="1"/>
              <a:t>редакс</a:t>
            </a:r>
            <a:r>
              <a:rPr lang="ru-RU" sz="2000" dirty="0"/>
              <a:t> – синхронный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Помните, что на вызов любого </a:t>
            </a:r>
            <a:r>
              <a:rPr lang="ru-RU" sz="2000" dirty="0" err="1"/>
              <a:t>диспатча</a:t>
            </a:r>
            <a:r>
              <a:rPr lang="ru-RU" sz="2000" dirty="0"/>
              <a:t> будут вызваны все </a:t>
            </a:r>
            <a:r>
              <a:rPr lang="ru-RU" sz="2000" dirty="0" err="1"/>
              <a:t>редюсеры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Пишите селекторы – это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Пользуйтесь ленивой загрузкой слайсов – уменьшайте стартовый бандл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Если что-то можно сделать явно – делайте это явно, не надо для изменения какого-то поля в сторе использовать </a:t>
            </a:r>
            <a:r>
              <a:rPr lang="en-US" sz="2000" dirty="0" err="1"/>
              <a:t>listenerMiddlware</a:t>
            </a:r>
            <a:r>
              <a:rPr lang="ru-RU" sz="2000" dirty="0"/>
              <a:t> т.к. это не очевидно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Помните, что в </a:t>
            </a:r>
            <a:r>
              <a:rPr lang="en-US" sz="2000" dirty="0" err="1"/>
              <a:t>js</a:t>
            </a:r>
            <a:r>
              <a:rPr lang="en-US" sz="2000" dirty="0"/>
              <a:t> </a:t>
            </a:r>
            <a:r>
              <a:rPr lang="ru-RU" sz="2000" dirty="0"/>
              <a:t>есть ссылочные типы данных, а </a:t>
            </a:r>
            <a:r>
              <a:rPr lang="ru-RU" sz="2000" dirty="0" err="1"/>
              <a:t>реакт</a:t>
            </a:r>
            <a:r>
              <a:rPr lang="ru-RU" sz="2000" dirty="0"/>
              <a:t> на каждый рендер вызывает тело функции компонента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Исходя из пункта выше старайтесь из стора доставать примитивы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Избегайте хранения в сторе массива </a:t>
            </a:r>
            <a:r>
              <a:rPr lang="ru-RU" sz="2000" dirty="0" err="1"/>
              <a:t>обьектов</a:t>
            </a:r>
            <a:r>
              <a:rPr lang="ru-RU" sz="2000" dirty="0"/>
              <a:t> – лучше нормализовывайте данные через </a:t>
            </a:r>
            <a:r>
              <a:rPr lang="en-US" sz="2000" dirty="0" err="1"/>
              <a:t>entityAdapter</a:t>
            </a:r>
            <a:r>
              <a:rPr lang="en-US" sz="2000" dirty="0"/>
              <a:t> – </a:t>
            </a:r>
            <a:r>
              <a:rPr lang="ru-RU" sz="2000" dirty="0"/>
              <a:t>поиск по массиву дороже чем обращение по ключу в </a:t>
            </a:r>
            <a:r>
              <a:rPr lang="ru-RU" sz="2000" dirty="0" err="1"/>
              <a:t>обьекте</a:t>
            </a: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8348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6BC398-4120-5777-A6D4-F5882B9E6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448777-A430-A43B-1914-A26506E68D55}"/>
              </a:ext>
            </a:extLst>
          </p:cNvPr>
          <p:cNvSpPr txBox="1"/>
          <p:nvPr/>
        </p:nvSpPr>
        <p:spPr>
          <a:xfrm>
            <a:off x="470912" y="380010"/>
            <a:ext cx="596221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Нюансы </a:t>
            </a:r>
            <a:r>
              <a:rPr lang="en-US" sz="4800" dirty="0" err="1">
                <a:solidFill>
                  <a:srgbClr val="1C1B1B"/>
                </a:solidFill>
              </a:rPr>
              <a:t>tanstack</a:t>
            </a:r>
            <a:r>
              <a:rPr lang="en-US" sz="4800" dirty="0">
                <a:solidFill>
                  <a:srgbClr val="1C1B1B"/>
                </a:solidFill>
              </a:rPr>
              <a:t>-table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064D50-04D2-47C7-F6C9-C8C854D2B37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D4F40-0929-5CEC-90A4-DB17DCD16D88}"/>
              </a:ext>
            </a:extLst>
          </p:cNvPr>
          <p:cNvSpPr txBox="1"/>
          <p:nvPr/>
        </p:nvSpPr>
        <p:spPr>
          <a:xfrm>
            <a:off x="470912" y="1551834"/>
            <a:ext cx="1125017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Используйте подход с </a:t>
            </a:r>
            <a:r>
              <a:rPr lang="en-US" sz="2000" dirty="0" err="1"/>
              <a:t>queryKey</a:t>
            </a:r>
            <a:r>
              <a:rPr lang="en-US" sz="2000" dirty="0"/>
              <a:t> as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Разделяйте </a:t>
            </a:r>
            <a:r>
              <a:rPr lang="en-US" sz="2000" dirty="0" err="1"/>
              <a:t>queryFn</a:t>
            </a:r>
            <a:r>
              <a:rPr lang="en-US" sz="2000" dirty="0"/>
              <a:t> </a:t>
            </a:r>
            <a:r>
              <a:rPr lang="ru-RU" sz="2000" dirty="0"/>
              <a:t>и </a:t>
            </a:r>
            <a:r>
              <a:rPr lang="en-US" sz="2000" dirty="0"/>
              <a:t>query</a:t>
            </a:r>
            <a:r>
              <a:rPr lang="ru-RU" sz="2000" dirty="0"/>
              <a:t> - проще переиспользовать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Вызов </a:t>
            </a:r>
            <a:r>
              <a:rPr lang="en-US" sz="2000" dirty="0"/>
              <a:t>query </a:t>
            </a:r>
            <a:r>
              <a:rPr lang="ru-RU" sz="2000" dirty="0"/>
              <a:t>в компоненте можно предотвратить через </a:t>
            </a:r>
            <a:r>
              <a:rPr lang="en-US" sz="2000" dirty="0"/>
              <a:t>enabled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Почитайте документацию – там достаточно много хороших примеров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8868BA-5CA4-F644-389A-C08A4D14A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902" y="147236"/>
            <a:ext cx="5005156" cy="164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74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5131</TotalTime>
  <Words>1588</Words>
  <Application>Microsoft Macintosh PowerPoint</Application>
  <PresentationFormat>Широкоэкранный</PresentationFormat>
  <Paragraphs>164</Paragraphs>
  <Slides>20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49</cp:revision>
  <dcterms:created xsi:type="dcterms:W3CDTF">2025-12-16T07:08:32Z</dcterms:created>
  <dcterms:modified xsi:type="dcterms:W3CDTF">2026-06-26T12:52:33Z</dcterms:modified>
</cp:coreProperties>
</file>