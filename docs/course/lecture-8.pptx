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345" r:id="rId4"/>
    <p:sldId id="346" r:id="rId5"/>
    <p:sldId id="352" r:id="rId6"/>
    <p:sldId id="353" r:id="rId7"/>
    <p:sldId id="354" r:id="rId8"/>
    <p:sldId id="356" r:id="rId9"/>
    <p:sldId id="355" r:id="rId10"/>
    <p:sldId id="357" r:id="rId11"/>
    <p:sldId id="358" r:id="rId12"/>
    <p:sldId id="359" r:id="rId13"/>
    <p:sldId id="361" r:id="rId14"/>
    <p:sldId id="360" r:id="rId15"/>
    <p:sldId id="36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2" autoAdjust="0"/>
    <p:restoredTop sz="82603"/>
  </p:normalViewPr>
  <p:slideViewPr>
    <p:cSldViewPr snapToGrid="0">
      <p:cViewPr varScale="1">
        <p:scale>
          <a:sx n="104" d="100"/>
          <a:sy n="104" d="100"/>
        </p:scale>
        <p:origin x="1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8689-1A36-7F88-DD6F-20CB84FD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F64E5D-C265-70A7-A8BC-95CBE2F62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004BDE-ABF2-5AE4-86A0-FD5449E4D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92FA52-AC70-9431-FC64-719DFCB4C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13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44B4-E6B8-9B22-B493-E915AA08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33D5D0-B1F3-7F8E-550C-B7331C9F8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2F0097-C0C6-704E-3942-59FCD28E9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914BCA-ACA6-1467-84D6-9E1A8207E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45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5218-C6FC-4767-3503-FD3228FD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ADC0E8-B91A-E3F8-5E85-AF573094C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E403CD-65F2-D484-4D13-48916907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EA06DA-78D6-59C7-3A43-876185CDA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282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E407-DC76-E7AC-4AA7-AA7E9947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187F4F-CFBD-7755-C6AB-576CAC10B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A626E7-3B62-D7AD-48D1-466388C73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10C876-D356-856F-F8E8-B7B36C590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675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79FA-14BB-785E-0155-15643656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B59BF56-003C-6285-2DF6-3FE585B99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A2C7F3B-09F2-2C0A-8109-2585856F0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ED383A-55D4-567A-C99F-49AD47F6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178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9D733-246C-EA9A-9E9A-CB721EBA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FB8BE0-A098-0CD2-4D4E-C42E473AB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6DBF7AB-26C3-FFBC-F2A0-854D877E2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2F4231-5818-4BE4-C4F2-F7C387BA6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697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9C2A-6179-707C-9C4D-EEAE32B3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484EBCD-6DBC-6D0D-0D11-8738D045F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4CC691-E7D5-FF53-2D90-2379D184E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8CC61-B4B3-8670-79FD-2E750619F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280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10DE-1263-BB11-4176-F48B4F01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3B831F-082F-8794-C6B7-0C7B28A7D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37B7469-2551-A804-8E0A-BE6BFE5EC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F63318-F394-F1B7-CAA9-99CD9B4C5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054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6DAF1-8CB0-0C98-C682-94E22F27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8EAAE1-212E-3B60-E1D2-CD1DED4DC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3E32CE-005D-AB5D-B016-6E0FBA9C1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A8A09F-4B34-3BDE-B506-289642C5E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870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56E1-280C-58C2-98FB-9786E72B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46594B-D00F-A019-2862-AA03741C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48E527-3EB1-C799-EB00-8A464649F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388989-3E73-F87F-E0BF-278EAE3C2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308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3901-8130-5332-0330-C10CFD7B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D5F60D-7FCE-5FD6-F413-E79D7E5D7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31C4FE-30D1-3A41-1C68-B2482E014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50739C-331E-1E09-AABC-7A2570435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813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0B48-F713-0367-7896-F3AD4F57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5E73CD-2965-541F-A4CF-863D3A35F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A3D7E28-2B4C-E869-B331-344C3F43D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3FD4DF-FFA9-AF9C-5578-9DE748678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359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9C9C-A554-ED26-33B9-1A26E002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EA276B-9016-DEFB-9D7B-08700AFA0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0AF363-049E-7069-87C5-E4B5C3C34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2D6B4-6730-286B-9D7F-44D8D1996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40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2563522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8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Тесты</a:t>
            </a: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3" y="353287"/>
            <a:ext cx="556338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Зачем нужны тесты?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E008A-30A1-67C7-ACA3-9208E28B6E60}"/>
              </a:ext>
            </a:extLst>
          </p:cNvPr>
          <p:cNvSpPr txBox="1"/>
          <p:nvPr/>
        </p:nvSpPr>
        <p:spPr>
          <a:xfrm>
            <a:off x="470913" y="1120676"/>
            <a:ext cx="10650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Тесты проверяют, что код работает ожидаемо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Тесты защищают от регрессий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Тесты помогают безопасно менять код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Тесты особенно важны для бизнес-логики, </a:t>
            </a:r>
            <a:r>
              <a:rPr lang="en" sz="2400" dirty="0"/>
              <a:t>auth, </a:t>
            </a:r>
            <a:r>
              <a:rPr lang="ru-RU" sz="2400" dirty="0"/>
              <a:t>прав, расчетов и </a:t>
            </a:r>
            <a:r>
              <a:rPr lang="en" sz="2400" dirty="0"/>
              <a:t>API-</a:t>
            </a:r>
            <a:r>
              <a:rPr lang="ru-RU" sz="2400" dirty="0"/>
              <a:t>контрактов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Тесты не доказывают отсутствие багов, но снижают риск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08E4E-40E8-CC8B-CD5F-D18D3E6A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327FDF-AAB5-390B-CD2A-82423026EC27}"/>
              </a:ext>
            </a:extLst>
          </p:cNvPr>
          <p:cNvSpPr txBox="1"/>
          <p:nvPr/>
        </p:nvSpPr>
        <p:spPr>
          <a:xfrm>
            <a:off x="470913" y="353287"/>
            <a:ext cx="661213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Пирамида тестирования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6FB3E1-4624-F452-F17F-8BD4D0D7CB8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DD788-3813-4EBC-CBE3-ED1B907CE58E}"/>
              </a:ext>
            </a:extLst>
          </p:cNvPr>
          <p:cNvSpPr txBox="1"/>
          <p:nvPr/>
        </p:nvSpPr>
        <p:spPr>
          <a:xfrm>
            <a:off x="470913" y="1120676"/>
            <a:ext cx="10650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Unit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Integration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E2E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Чем ниже уровень, тем тесты быстрее и дешевле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Чем выше уровень, тем ближе проверка к реальному поведению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661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F321C-595B-F082-7F39-E0CDC829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A6FCD9-3C15-E701-71EB-BFC717F44FF5}"/>
              </a:ext>
            </a:extLst>
          </p:cNvPr>
          <p:cNvSpPr txBox="1"/>
          <p:nvPr/>
        </p:nvSpPr>
        <p:spPr>
          <a:xfrm>
            <a:off x="470913" y="353287"/>
            <a:ext cx="936275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Инструменты: </a:t>
            </a:r>
            <a:r>
              <a:rPr lang="en" sz="4800" dirty="0" err="1">
                <a:solidFill>
                  <a:srgbClr val="1C1B1B"/>
                </a:solidFill>
              </a:rPr>
              <a:t>node:test</a:t>
            </a:r>
            <a:r>
              <a:rPr lang="en" sz="4800" dirty="0">
                <a:solidFill>
                  <a:srgbClr val="1C1B1B"/>
                </a:solidFill>
              </a:rPr>
              <a:t>, Jest, </a:t>
            </a:r>
            <a:r>
              <a:rPr lang="en" sz="4800" dirty="0" err="1">
                <a:solidFill>
                  <a:srgbClr val="1C1B1B"/>
                </a:solidFill>
              </a:rPr>
              <a:t>Vitest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C88333-70B3-A1F3-CB4A-452C9129153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612AF-CA28-9749-E82B-4FDBBC437C4A}"/>
              </a:ext>
            </a:extLst>
          </p:cNvPr>
          <p:cNvSpPr txBox="1"/>
          <p:nvPr/>
        </p:nvSpPr>
        <p:spPr>
          <a:xfrm>
            <a:off x="470913" y="1120676"/>
            <a:ext cx="10650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 err="1"/>
              <a:t>node:test</a:t>
            </a:r>
            <a:r>
              <a:rPr lang="en" sz="2400" dirty="0"/>
              <a:t> — </a:t>
            </a:r>
            <a:r>
              <a:rPr lang="ru-RU" sz="2400" dirty="0"/>
              <a:t>встроенный тест-</a:t>
            </a:r>
            <a:r>
              <a:rPr lang="ru-RU" sz="2400" dirty="0" err="1"/>
              <a:t>раннер</a:t>
            </a:r>
            <a:r>
              <a:rPr lang="ru-RU" sz="2400" dirty="0"/>
              <a:t> </a:t>
            </a:r>
            <a:r>
              <a:rPr lang="en" sz="2400" dirty="0"/>
              <a:t>Node.js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Jest — </a:t>
            </a:r>
            <a:r>
              <a:rPr lang="ru-RU" sz="2400" dirty="0"/>
              <a:t>зрелый тестовый фреймворк с большим </a:t>
            </a:r>
            <a:r>
              <a:rPr lang="en" sz="2400" dirty="0"/>
              <a:t>ecosystem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 err="1"/>
              <a:t>Vitest</a:t>
            </a:r>
            <a:r>
              <a:rPr lang="en" sz="2400" dirty="0"/>
              <a:t> — </a:t>
            </a:r>
            <a:r>
              <a:rPr lang="ru-RU" sz="2400" dirty="0"/>
              <a:t>современный тест-</a:t>
            </a:r>
            <a:r>
              <a:rPr lang="ru-RU" sz="2400" dirty="0" err="1"/>
              <a:t>раннер</a:t>
            </a:r>
            <a:r>
              <a:rPr lang="ru-RU" sz="2400" dirty="0"/>
              <a:t>, хорошо дружит с </a:t>
            </a:r>
            <a:r>
              <a:rPr lang="en" sz="2400" dirty="0"/>
              <a:t>Vite </a:t>
            </a:r>
            <a:r>
              <a:rPr lang="ru-RU" sz="2400" dirty="0"/>
              <a:t>и </a:t>
            </a:r>
            <a:r>
              <a:rPr lang="en" sz="2400" dirty="0"/>
              <a:t>frontend-</a:t>
            </a:r>
            <a:r>
              <a:rPr lang="ru-RU" sz="2400" dirty="0"/>
              <a:t>проектами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Все они решают похожие задачи: запуск тестов, </a:t>
            </a:r>
            <a:r>
              <a:rPr lang="en" sz="2400" dirty="0"/>
              <a:t>assertions, mocks, coverage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Выбор инструмента зависит от проекта и инфраструктуры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37720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AA537-6C46-ED08-8CEA-AD8BFCA8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BBCD79-D9D0-253D-4D71-ACD411908B39}"/>
              </a:ext>
            </a:extLst>
          </p:cNvPr>
          <p:cNvSpPr txBox="1"/>
          <p:nvPr/>
        </p:nvSpPr>
        <p:spPr>
          <a:xfrm>
            <a:off x="470913" y="353287"/>
            <a:ext cx="539602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Из чего состоит тест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7BF64-5665-B010-F96D-4D7940B2892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73EA1A-312D-67EC-5DE0-11582CFBA924}"/>
              </a:ext>
            </a:extLst>
          </p:cNvPr>
          <p:cNvSpPr txBox="1"/>
          <p:nvPr/>
        </p:nvSpPr>
        <p:spPr>
          <a:xfrm>
            <a:off x="470913" y="1120676"/>
            <a:ext cx="10650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Arrange: </a:t>
            </a:r>
            <a:r>
              <a:rPr lang="ru-RU" sz="2400" dirty="0"/>
              <a:t>подготовить данные и зависимости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Act: </a:t>
            </a:r>
            <a:r>
              <a:rPr lang="ru-RU" sz="2400" dirty="0"/>
              <a:t>вызвать тестируемый код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Assert: </a:t>
            </a:r>
            <a:r>
              <a:rPr lang="ru-RU" sz="2400" dirty="0"/>
              <a:t>проверить результат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Хороший тест проверяет одно понятное поведение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Название теста должно объяснять сценарий</a:t>
            </a:r>
          </a:p>
        </p:txBody>
      </p:sp>
    </p:spTree>
    <p:extLst>
      <p:ext uri="{BB962C8B-B14F-4D97-AF65-F5344CB8AC3E}">
        <p14:creationId xmlns:p14="http://schemas.microsoft.com/office/powerpoint/2010/main" val="298504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5542A-6262-CB23-B142-3442DD83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BFC883-68FD-55A0-DE7B-4787F9E52F2C}"/>
              </a:ext>
            </a:extLst>
          </p:cNvPr>
          <p:cNvSpPr txBox="1"/>
          <p:nvPr/>
        </p:nvSpPr>
        <p:spPr>
          <a:xfrm>
            <a:off x="470913" y="353287"/>
            <a:ext cx="165462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 err="1">
                <a:solidFill>
                  <a:srgbClr val="1C1B1B"/>
                </a:solidFill>
              </a:rPr>
              <a:t>Моки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D764A-4A6D-E4AD-3F85-955CB6FAFC16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823EC5-7167-29B9-6233-E2568CF62B6D}"/>
              </a:ext>
            </a:extLst>
          </p:cNvPr>
          <p:cNvSpPr txBox="1"/>
          <p:nvPr/>
        </p:nvSpPr>
        <p:spPr>
          <a:xfrm>
            <a:off x="470913" y="1120676"/>
            <a:ext cx="10650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Mock </a:t>
            </a:r>
            <a:r>
              <a:rPr lang="ru-RU" sz="2400" dirty="0"/>
              <a:t>заменяет реальную зависимость в тесте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Мокаем</a:t>
            </a:r>
            <a:r>
              <a:rPr lang="ru-RU" sz="2400" dirty="0"/>
              <a:t> сеть, базу, внешние </a:t>
            </a:r>
            <a:r>
              <a:rPr lang="en" sz="2400" dirty="0"/>
              <a:t>API, </a:t>
            </a:r>
            <a:r>
              <a:rPr lang="ru-RU" sz="2400" dirty="0"/>
              <a:t>время, генераторы </a:t>
            </a:r>
            <a:r>
              <a:rPr lang="en" sz="2400" dirty="0"/>
              <a:t>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 стоит </a:t>
            </a:r>
            <a:r>
              <a:rPr lang="ru-RU" sz="2400" dirty="0" err="1"/>
              <a:t>мокать</a:t>
            </a:r>
            <a:r>
              <a:rPr lang="ru-RU" sz="2400" dirty="0"/>
              <a:t> сам тестируемый код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Слишком много </a:t>
            </a:r>
            <a:r>
              <a:rPr lang="ru-RU" sz="2400" dirty="0" err="1"/>
              <a:t>моков</a:t>
            </a:r>
            <a:r>
              <a:rPr lang="ru-RU" sz="2400" dirty="0"/>
              <a:t> делает тест хрупким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Мок нужен, когда реальная зависимость медленная, нестабильная или не относится к проверяемому поведению</a:t>
            </a:r>
          </a:p>
        </p:txBody>
      </p:sp>
    </p:spTree>
    <p:extLst>
      <p:ext uri="{BB962C8B-B14F-4D97-AF65-F5344CB8AC3E}">
        <p14:creationId xmlns:p14="http://schemas.microsoft.com/office/powerpoint/2010/main" val="241731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D3385-B570-A4DE-8E17-D483E06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F843A3-7F40-B205-F3D3-729AC1BF2105}"/>
              </a:ext>
            </a:extLst>
          </p:cNvPr>
          <p:cNvSpPr txBox="1"/>
          <p:nvPr/>
        </p:nvSpPr>
        <p:spPr>
          <a:xfrm>
            <a:off x="470913" y="353287"/>
            <a:ext cx="564449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Dependency Injection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55446-F22A-762B-D21C-17024BAEAA3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D9870-34D9-C4B6-247D-1100EE15EBEC}"/>
              </a:ext>
            </a:extLst>
          </p:cNvPr>
          <p:cNvSpPr txBox="1"/>
          <p:nvPr/>
        </p:nvSpPr>
        <p:spPr>
          <a:xfrm>
            <a:off x="470913" y="1120676"/>
            <a:ext cx="45335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DI </a:t>
            </a:r>
            <a:r>
              <a:rPr lang="ru-RU" sz="2400" dirty="0"/>
              <a:t>позволяет передавать зависимости снаружи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Код становится легче тестировать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Вместо реальной БД можно передать </a:t>
            </a:r>
            <a:r>
              <a:rPr lang="en" sz="2400" dirty="0"/>
              <a:t>fake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Вместо реального </a:t>
            </a:r>
            <a:r>
              <a:rPr lang="en" sz="2400" dirty="0"/>
              <a:t>API-</a:t>
            </a:r>
            <a:r>
              <a:rPr lang="ru-RU" sz="2400" dirty="0"/>
              <a:t>клиента можно передать </a:t>
            </a:r>
            <a:r>
              <a:rPr lang="en" sz="2400" dirty="0"/>
              <a:t>mock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DI </a:t>
            </a:r>
            <a:r>
              <a:rPr lang="ru-RU" sz="2400" dirty="0"/>
              <a:t>уменьшает связанность между бизнес-логикой и инфраструктурой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0E41A3-DBE6-0713-55DD-8D5A5C8B8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96" y="1120676"/>
            <a:ext cx="5445209" cy="481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2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AB2EA-891C-A92F-B64A-C3B5A85B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E3AE1B-FE24-0B19-F7DA-4371788DC03B}"/>
              </a:ext>
            </a:extLst>
          </p:cNvPr>
          <p:cNvSpPr txBox="1"/>
          <p:nvPr/>
        </p:nvSpPr>
        <p:spPr>
          <a:xfrm>
            <a:off x="470913" y="353287"/>
            <a:ext cx="157645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React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F65E86-B0F2-976D-5C6E-5C03FAF3AEE7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F5A69-6B7D-4855-F6BB-02FC18FAF48D}"/>
              </a:ext>
            </a:extLst>
          </p:cNvPr>
          <p:cNvSpPr txBox="1"/>
          <p:nvPr/>
        </p:nvSpPr>
        <p:spPr>
          <a:xfrm>
            <a:off x="470913" y="1120676"/>
            <a:ext cx="9179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Компонент тестируется через поведение, а не внутреннюю реализацию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Проверяем, что пользователь видит на экране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Проверяем реакции на действия: </a:t>
            </a:r>
            <a:r>
              <a:rPr lang="en" sz="2000" dirty="0"/>
              <a:t>click, input, submit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Не тестируем </a:t>
            </a:r>
            <a:r>
              <a:rPr lang="en" sz="2000" dirty="0"/>
              <a:t>implementation details: state, private functions, </a:t>
            </a:r>
            <a:r>
              <a:rPr lang="ru-RU" sz="2000" dirty="0"/>
              <a:t>внутреннюю структуру компонента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React Testing Library </a:t>
            </a:r>
            <a:r>
              <a:rPr lang="ru-RU" sz="2000" dirty="0"/>
              <a:t>помогает тестировать компонент глазами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78794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4DA95-41B2-F4F6-7401-EA7767E2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AEAD55-8F22-ABBB-FFF8-F7EE5FA473AC}"/>
              </a:ext>
            </a:extLst>
          </p:cNvPr>
          <p:cNvSpPr txBox="1"/>
          <p:nvPr/>
        </p:nvSpPr>
        <p:spPr>
          <a:xfrm>
            <a:off x="470913" y="353287"/>
            <a:ext cx="531876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React</a:t>
            </a:r>
            <a:r>
              <a:rPr lang="ru-RU" sz="4800" dirty="0">
                <a:solidFill>
                  <a:srgbClr val="1C1B1B"/>
                </a:solidFill>
              </a:rPr>
              <a:t> </a:t>
            </a:r>
            <a:r>
              <a:rPr lang="en-US" sz="4800" dirty="0">
                <a:solidFill>
                  <a:srgbClr val="1C1B1B"/>
                </a:solidFill>
              </a:rPr>
              <a:t>Testing Library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FFB0C8-7355-9024-A5FB-F43C2143BC2B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4D0C1-484B-0053-9E32-DA9A66B7444D}"/>
              </a:ext>
            </a:extLst>
          </p:cNvPr>
          <p:cNvSpPr txBox="1"/>
          <p:nvPr/>
        </p:nvSpPr>
        <p:spPr>
          <a:xfrm>
            <a:off x="470913" y="1120676"/>
            <a:ext cx="777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render — </a:t>
            </a:r>
            <a:r>
              <a:rPr lang="ru-RU" sz="2000" dirty="0"/>
              <a:t>отрисовать компонент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screen — </a:t>
            </a:r>
            <a:r>
              <a:rPr lang="ru-RU" sz="2000" dirty="0"/>
              <a:t>найти элементы на экране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 err="1"/>
              <a:t>userEvent</a:t>
            </a:r>
            <a:r>
              <a:rPr lang="en" sz="2000" dirty="0"/>
              <a:t> — </a:t>
            </a:r>
            <a:r>
              <a:rPr lang="ru-RU" sz="2000" dirty="0"/>
              <a:t>имитировать действия пользователя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expect — </a:t>
            </a:r>
            <a:r>
              <a:rPr lang="ru-RU" sz="2000" dirty="0"/>
              <a:t>проверить результат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Основной принцип: тестировать так, как пользователь взаимодействует с </a:t>
            </a:r>
            <a:r>
              <a:rPr lang="en" sz="2000" dirty="0"/>
              <a:t>UI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F2BA10-1D26-5351-DE72-58257D5C1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477" y="3429000"/>
            <a:ext cx="7772400" cy="258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94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19E6B-6685-CFC6-820C-EE1651F7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D9CFED-B236-67BC-08F6-13E79B556E5A}"/>
              </a:ext>
            </a:extLst>
          </p:cNvPr>
          <p:cNvSpPr txBox="1"/>
          <p:nvPr/>
        </p:nvSpPr>
        <p:spPr>
          <a:xfrm>
            <a:off x="470913" y="353287"/>
            <a:ext cx="699447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Тестирование </a:t>
            </a:r>
            <a:r>
              <a:rPr lang="en-US" sz="4800" dirty="0">
                <a:solidFill>
                  <a:srgbClr val="1C1B1B"/>
                </a:solidFill>
              </a:rPr>
              <a:t>React Hooks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885BFB-98B6-F31F-A885-85EC53AFB3E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B33389-A0EA-C3D5-92EE-B21A6E1AA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1110417"/>
            <a:ext cx="7772400" cy="35985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42BCA5-A9CC-34CC-E2C5-EF74C3ABD59E}"/>
              </a:ext>
            </a:extLst>
          </p:cNvPr>
          <p:cNvSpPr txBox="1"/>
          <p:nvPr/>
        </p:nvSpPr>
        <p:spPr>
          <a:xfrm>
            <a:off x="3249827" y="5224142"/>
            <a:ext cx="479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 Testing Library </a:t>
            </a:r>
            <a:r>
              <a:rPr lang="ru-RU" dirty="0"/>
              <a:t>помогает тестировать хуки</a:t>
            </a:r>
          </a:p>
        </p:txBody>
      </p:sp>
    </p:spTree>
    <p:extLst>
      <p:ext uri="{BB962C8B-B14F-4D97-AF65-F5344CB8AC3E}">
        <p14:creationId xmlns:p14="http://schemas.microsoft.com/office/powerpoint/2010/main" val="405126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E75E7-2DCC-D1F9-79A1-68DB75EC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233294-8B72-1BEC-5791-E020AF2FA6C9}"/>
              </a:ext>
            </a:extLst>
          </p:cNvPr>
          <p:cNvSpPr txBox="1"/>
          <p:nvPr/>
        </p:nvSpPr>
        <p:spPr>
          <a:xfrm>
            <a:off x="470913" y="353287"/>
            <a:ext cx="868577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Тестирование обычных функций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52E04E-A55C-DE06-F463-D476626830C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7E0478-6786-7344-38CB-E9C64E46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05" y="1473200"/>
            <a:ext cx="7277100" cy="1955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888173-1A5E-4816-3BF0-1AABF5223C92}"/>
              </a:ext>
            </a:extLst>
          </p:cNvPr>
          <p:cNvSpPr txBox="1"/>
          <p:nvPr/>
        </p:nvSpPr>
        <p:spPr>
          <a:xfrm>
            <a:off x="2008419" y="3688316"/>
            <a:ext cx="76563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Обычная функция — самый простой кандидат для </a:t>
            </a:r>
            <a:r>
              <a:rPr lang="en" dirty="0"/>
              <a:t>unit-</a:t>
            </a:r>
            <a:r>
              <a:rPr lang="ru-RU" dirty="0"/>
              <a:t>теста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вход подаем данные, на выходе проверяем результат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Тест не должен зависеть от </a:t>
            </a:r>
            <a:r>
              <a:rPr lang="en" dirty="0"/>
              <a:t>UI, </a:t>
            </a:r>
            <a:r>
              <a:rPr lang="ru-RU" dirty="0"/>
              <a:t>базы данных, сети или файловой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describe </a:t>
            </a:r>
            <a:r>
              <a:rPr lang="ru-RU" dirty="0"/>
              <a:t>группирует тесты одной функции или модуля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it/test </a:t>
            </a:r>
            <a:r>
              <a:rPr lang="ru-RU" dirty="0"/>
              <a:t>описывает конкретный сценарий поведения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expect </a:t>
            </a:r>
            <a:r>
              <a:rPr lang="ru-RU" dirty="0"/>
              <a:t>проверяет фактический результат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Хороший тест проверяет не реализацию, а поведение функции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Важно проверять не только </a:t>
            </a:r>
            <a:r>
              <a:rPr lang="en" dirty="0"/>
              <a:t>happy path, </a:t>
            </a:r>
            <a:r>
              <a:rPr lang="ru-RU" dirty="0"/>
              <a:t>но и </a:t>
            </a:r>
            <a:r>
              <a:rPr lang="en" dirty="0"/>
              <a:t>edge cases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704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4B71-A14B-591D-E009-B4FEE30A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8FAC58-2448-FFC3-AF5F-2CD87DA1C2F2}"/>
              </a:ext>
            </a:extLst>
          </p:cNvPr>
          <p:cNvSpPr txBox="1"/>
          <p:nvPr/>
        </p:nvSpPr>
        <p:spPr>
          <a:xfrm>
            <a:off x="470913" y="353287"/>
            <a:ext cx="228883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Backend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C3DAAB-3E25-DCAE-063C-40ABD419A6B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A5973D-0CDD-B9B8-620B-3944E1315EAD}"/>
              </a:ext>
            </a:extLst>
          </p:cNvPr>
          <p:cNvSpPr txBox="1"/>
          <p:nvPr/>
        </p:nvSpPr>
        <p:spPr>
          <a:xfrm>
            <a:off x="644006" y="1110417"/>
            <a:ext cx="111642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Backend </a:t>
            </a:r>
            <a:r>
              <a:rPr lang="ru-RU" sz="2000" dirty="0"/>
              <a:t>отвечает за бизнес-логику, данные, безопасность и </a:t>
            </a:r>
            <a:r>
              <a:rPr lang="en" sz="2000" dirty="0"/>
              <a:t>HTTP-</a:t>
            </a:r>
            <a:r>
              <a:rPr lang="ru-RU" sz="2000" dirty="0"/>
              <a:t>контракты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Тесты помогают проверить не только результат, но и ошибки: 400, 401, 403, 404, 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 </a:t>
            </a:r>
            <a:r>
              <a:rPr lang="en" sz="2000" dirty="0"/>
              <a:t>backend </a:t>
            </a:r>
            <a:r>
              <a:rPr lang="ru-RU" sz="2000" dirty="0"/>
              <a:t>важно тестировать несколько уровней: функции, </a:t>
            </a:r>
            <a:r>
              <a:rPr lang="en" sz="2000" dirty="0"/>
              <a:t>services, handlers/routes, </a:t>
            </a:r>
            <a:r>
              <a:rPr lang="ru-RU" sz="2000" dirty="0"/>
              <a:t>работу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Unit-</a:t>
            </a:r>
            <a:r>
              <a:rPr lang="ru-RU" sz="2000" dirty="0"/>
              <a:t>тесты проверяют изолированную логику без реального сервера и базы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Integration-</a:t>
            </a:r>
            <a:r>
              <a:rPr lang="ru-RU" sz="2000" dirty="0"/>
              <a:t>тесты проверяют связку нескольких частей: </a:t>
            </a:r>
            <a:r>
              <a:rPr lang="en" sz="2000" dirty="0"/>
              <a:t>route + validation + service +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Для внешних зависимостей используют </a:t>
            </a:r>
            <a:r>
              <a:rPr lang="en" sz="2000" dirty="0"/>
              <a:t>mocks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530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0DC09-54B5-E971-1F38-DFBAD900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7304D-9210-A2CD-A64B-BEA266FA1D78}"/>
              </a:ext>
            </a:extLst>
          </p:cNvPr>
          <p:cNvSpPr txBox="1"/>
          <p:nvPr/>
        </p:nvSpPr>
        <p:spPr>
          <a:xfrm>
            <a:off x="470913" y="353287"/>
            <a:ext cx="228883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Backend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6320C-754D-8495-4DB9-C6E7EFA03BD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27DC3-330B-CF69-65EC-A48541A3974E}"/>
              </a:ext>
            </a:extLst>
          </p:cNvPr>
          <p:cNvSpPr txBox="1"/>
          <p:nvPr/>
        </p:nvSpPr>
        <p:spPr>
          <a:xfrm>
            <a:off x="644006" y="1110417"/>
            <a:ext cx="111642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Backend </a:t>
            </a:r>
            <a:r>
              <a:rPr lang="ru-RU" sz="2000" dirty="0"/>
              <a:t>отвечает за бизнес-логику, данные, безопасность и </a:t>
            </a:r>
            <a:r>
              <a:rPr lang="en" sz="2000" dirty="0"/>
              <a:t>HTTP-</a:t>
            </a:r>
            <a:r>
              <a:rPr lang="ru-RU" sz="2000" dirty="0"/>
              <a:t>контракты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Тесты помогают проверить не только результат, но и ошибки: 400, 401, 403, 404, 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 </a:t>
            </a:r>
            <a:r>
              <a:rPr lang="en" sz="2000" dirty="0"/>
              <a:t>backend </a:t>
            </a:r>
            <a:r>
              <a:rPr lang="ru-RU" sz="2000" dirty="0"/>
              <a:t>важно тестировать несколько уровней: функции, </a:t>
            </a:r>
            <a:r>
              <a:rPr lang="en" sz="2000" dirty="0"/>
              <a:t>services, handlers/routes, </a:t>
            </a:r>
            <a:r>
              <a:rPr lang="ru-RU" sz="2000" dirty="0"/>
              <a:t>работу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Unit-</a:t>
            </a:r>
            <a:r>
              <a:rPr lang="ru-RU" sz="2000" dirty="0"/>
              <a:t>тесты проверяют изолированную логику без реального сервера и базы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Integration-</a:t>
            </a:r>
            <a:r>
              <a:rPr lang="ru-RU" sz="2000" dirty="0"/>
              <a:t>тесты проверяют связку нескольких частей: </a:t>
            </a:r>
            <a:r>
              <a:rPr lang="en" sz="2000" dirty="0"/>
              <a:t>route + validation + service +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Для внешних зависимостей используют </a:t>
            </a:r>
            <a:r>
              <a:rPr lang="en" sz="2000" dirty="0"/>
              <a:t>mocks</a:t>
            </a:r>
            <a:endParaRPr lang="ru-R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92FB87-A61A-B539-7CC2-FF99DF153F39}"/>
              </a:ext>
            </a:extLst>
          </p:cNvPr>
          <p:cNvSpPr txBox="1"/>
          <p:nvPr/>
        </p:nvSpPr>
        <p:spPr>
          <a:xfrm>
            <a:off x="644006" y="3223039"/>
            <a:ext cx="1065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</a:t>
            </a:r>
            <a:r>
              <a:rPr lang="en-US" dirty="0" err="1"/>
              <a:t>Fastify</a:t>
            </a:r>
            <a:r>
              <a:rPr lang="en-US" dirty="0"/>
              <a:t> </a:t>
            </a:r>
            <a:r>
              <a:rPr lang="ru-RU" dirty="0"/>
              <a:t>имеет смысл создавать специальный экземпляр сервера для тестов</a:t>
            </a:r>
            <a:r>
              <a:rPr lang="en-US" dirty="0"/>
              <a:t> + </a:t>
            </a:r>
            <a:r>
              <a:rPr lang="ru-RU" dirty="0"/>
              <a:t>для отдельных тестов его можно расширять</a:t>
            </a:r>
            <a:r>
              <a:rPr lang="en-US" dirty="0"/>
              <a:t> </a:t>
            </a:r>
            <a:r>
              <a:rPr lang="ru-RU" dirty="0"/>
              <a:t>через </a:t>
            </a:r>
            <a:r>
              <a:rPr lang="ru-RU" dirty="0" err="1"/>
              <a:t>inject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6DEE64-D822-31B1-E442-473DEBF03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869370"/>
            <a:ext cx="7772400" cy="208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CD8BB-1E0C-F5EB-0B05-33897ADD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37F394-4EC3-7D44-45B8-EE496729E6F2}"/>
              </a:ext>
            </a:extLst>
          </p:cNvPr>
          <p:cNvSpPr txBox="1"/>
          <p:nvPr/>
        </p:nvSpPr>
        <p:spPr>
          <a:xfrm>
            <a:off x="473126" y="353287"/>
            <a:ext cx="535601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Тестирование хуков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4DF81-E089-6BE6-ECE1-5AD698C71DF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155FD1-C687-8A43-5050-2E45715AA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26" y="1110417"/>
            <a:ext cx="4880882" cy="558525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03143A-F6D5-CB79-9CCE-07B5DF616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008" y="1727409"/>
            <a:ext cx="6606351" cy="435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3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E452F-EE49-C669-B003-B69FB75EE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042207-ED24-2172-BB89-01144017D05F}"/>
              </a:ext>
            </a:extLst>
          </p:cNvPr>
          <p:cNvSpPr txBox="1"/>
          <p:nvPr/>
        </p:nvSpPr>
        <p:spPr>
          <a:xfrm>
            <a:off x="473126" y="353287"/>
            <a:ext cx="635225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Тестирование </a:t>
            </a:r>
            <a:r>
              <a:rPr lang="en-US" sz="4800" dirty="0">
                <a:solidFill>
                  <a:srgbClr val="1C1B1B"/>
                </a:solidFill>
              </a:rPr>
              <a:t>controller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5B7FB-5DE4-C718-A5F9-49FA0380ADA7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8AA8F0-5F33-4180-7B7F-C50913BC8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27" y="1238878"/>
            <a:ext cx="4880882" cy="523911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664A15-0611-34A2-4AAC-E0DF73CA0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570" y="1238877"/>
            <a:ext cx="4298262" cy="52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856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755</Words>
  <Application>Microsoft Macintosh PowerPoint</Application>
  <PresentationFormat>Широкоэкранный</PresentationFormat>
  <Paragraphs>120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55</cp:revision>
  <dcterms:created xsi:type="dcterms:W3CDTF">2025-12-16T07:08:32Z</dcterms:created>
  <dcterms:modified xsi:type="dcterms:W3CDTF">2026-06-17T18:14:35Z</dcterms:modified>
</cp:coreProperties>
</file>