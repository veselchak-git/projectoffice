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74" r:id="rId4"/>
    <p:sldId id="294" r:id="rId5"/>
    <p:sldId id="295" r:id="rId6"/>
    <p:sldId id="282" r:id="rId7"/>
    <p:sldId id="284" r:id="rId8"/>
    <p:sldId id="297" r:id="rId9"/>
    <p:sldId id="296" r:id="rId10"/>
    <p:sldId id="301" r:id="rId11"/>
    <p:sldId id="288" r:id="rId12"/>
    <p:sldId id="312" r:id="rId13"/>
    <p:sldId id="313" r:id="rId14"/>
    <p:sldId id="314" r:id="rId15"/>
    <p:sldId id="315" r:id="rId16"/>
    <p:sldId id="311" r:id="rId17"/>
    <p:sldId id="289" r:id="rId18"/>
    <p:sldId id="298" r:id="rId19"/>
    <p:sldId id="299" r:id="rId20"/>
    <p:sldId id="300" r:id="rId21"/>
    <p:sldId id="303" r:id="rId22"/>
    <p:sldId id="302" r:id="rId23"/>
    <p:sldId id="304" r:id="rId24"/>
    <p:sldId id="305" r:id="rId25"/>
    <p:sldId id="306" r:id="rId26"/>
    <p:sldId id="310" r:id="rId27"/>
    <p:sldId id="307" r:id="rId28"/>
    <p:sldId id="308" r:id="rId29"/>
    <p:sldId id="309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B1B"/>
    <a:srgbClr val="4E26FA"/>
    <a:srgbClr val="19191A"/>
    <a:srgbClr val="F6F6F6"/>
    <a:srgbClr val="D9D9D9"/>
    <a:srgbClr val="A692FC"/>
    <a:srgbClr val="323131"/>
    <a:srgbClr val="C5C5C5"/>
    <a:srgbClr val="A9A9A9"/>
    <a:srgbClr val="3921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76986"/>
  </p:normalViewPr>
  <p:slideViewPr>
    <p:cSldViewPr snapToGrid="0">
      <p:cViewPr varScale="1">
        <p:scale>
          <a:sx n="91" d="100"/>
          <a:sy n="91" d="100"/>
        </p:scale>
        <p:origin x="19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FBA31-585B-4D2B-A560-AD3613F6F5E3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CE8D3-2344-4F0F-BC9A-302BB8DB5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528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D0DC2-B488-C6C7-403F-78AA3540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46033A-9B6D-C3B1-49F8-E0BC7AE7B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CD77DD3-4E4B-F9A2-B566-191796C1C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Важное – на каждый запрос </a:t>
            </a:r>
            <a:r>
              <a:rPr lang="ru-RU" dirty="0" err="1"/>
              <a:t>поулчаем</a:t>
            </a:r>
            <a:r>
              <a:rPr lang="ru-RU" dirty="0"/>
              <a:t> новый </a:t>
            </a:r>
            <a:r>
              <a:rPr lang="en-US" dirty="0"/>
              <a:t>html </a:t>
            </a:r>
            <a:r>
              <a:rPr lang="ru-RU" dirty="0"/>
              <a:t>и рендерим его заново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994E26-989B-AFE6-F105-589F949E5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665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E9F38-BAA7-97D6-6E26-FFEECC8E6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7F9C096-A283-B88E-B75A-88FF541B4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83D1EEF-E664-D864-8BFA-E5FDEFE3C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Получаем пустой </a:t>
            </a:r>
            <a:r>
              <a:rPr lang="en-US" dirty="0"/>
              <a:t>html – </a:t>
            </a:r>
            <a:r>
              <a:rPr lang="ru-RU" dirty="0"/>
              <a:t>через </a:t>
            </a:r>
            <a:r>
              <a:rPr lang="en-US" dirty="0" err="1"/>
              <a:t>js</a:t>
            </a:r>
            <a:r>
              <a:rPr lang="en-US" dirty="0"/>
              <a:t> </a:t>
            </a:r>
            <a:r>
              <a:rPr lang="ru-RU" dirty="0" err="1"/>
              <a:t>ренедрим</a:t>
            </a:r>
            <a:r>
              <a:rPr lang="ru-RU" dirty="0"/>
              <a:t> разметку – отправляем запрос – получаем данные – </a:t>
            </a:r>
            <a:r>
              <a:rPr lang="en-US" dirty="0" err="1"/>
              <a:t>js</a:t>
            </a:r>
            <a:r>
              <a:rPr lang="en-US" dirty="0"/>
              <a:t> </a:t>
            </a:r>
            <a:r>
              <a:rPr lang="ru-RU" dirty="0"/>
              <a:t>меняет отображение без перезагрузки страницы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662244-995A-4214-BBB7-28FC3039D3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114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93903-EA3C-F5FB-5CB7-973004FA4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D58A404-BEEB-2B5B-5192-F6FBDE031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98F53C3-E99B-9396-647A-DFCE9656C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A276D0-DF60-21D1-16E8-12224428C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350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2E40C-224D-C456-BF2C-14B7E1C7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403AC17-E3F8-9119-5B22-086EF304F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A246FEB-A139-5A38-9007-B8A7CE706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3ACEFB-4867-6DA4-8EC1-E8543CDCB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730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96385-D58F-18C5-8B62-5707D86CA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0B5254-C37F-85D1-1BB8-B2CF8F3E7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840EF3-01C9-9A66-3C7F-2D446FC3E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Логика простая – если данные нигде кроме этого компонента не нужны – это локальное состояние</a:t>
            </a:r>
          </a:p>
          <a:p>
            <a:r>
              <a:rPr lang="ru-RU" dirty="0"/>
              <a:t>Если данные не нужно хранить между рендерами – это локальное состояние</a:t>
            </a:r>
          </a:p>
          <a:p>
            <a:r>
              <a:rPr lang="ru-RU" dirty="0"/>
              <a:t>Если значение одно или два – это контекст</a:t>
            </a:r>
          </a:p>
          <a:p>
            <a:endParaRPr lang="ru-RU" dirty="0"/>
          </a:p>
          <a:p>
            <a:r>
              <a:rPr lang="ru-RU" dirty="0"/>
              <a:t>Если нужно менять данные, а компонента использующего эти данные пока нет – это стейт менеджер. Пример - есть график </a:t>
            </a:r>
            <a:r>
              <a:rPr lang="en-US" dirty="0" err="1"/>
              <a:t>helthchek</a:t>
            </a:r>
            <a:r>
              <a:rPr lang="en-US" dirty="0"/>
              <a:t> </a:t>
            </a:r>
            <a:r>
              <a:rPr lang="ru-RU" dirty="0"/>
              <a:t>сервера к которому мы подключены – мы собираем данные раз в 5 минут. Но показываем график мы только в момент открытия окна статистики.</a:t>
            </a:r>
          </a:p>
          <a:p>
            <a:r>
              <a:rPr lang="ru-RU" dirty="0"/>
              <a:t>Если данные из разных мест тесно связаны друг с другом или нужна сложная обработка входных данных перед показом из в компоненте – это стейт менеджер.</a:t>
            </a:r>
          </a:p>
          <a:p>
            <a:r>
              <a:rPr lang="ru-RU" dirty="0"/>
              <a:t>Если данные должны сохраняться между размонтированием и следующем </a:t>
            </a:r>
            <a:r>
              <a:rPr lang="ru-RU" dirty="0" err="1"/>
              <a:t>смонтировании</a:t>
            </a:r>
            <a:r>
              <a:rPr lang="ru-RU" dirty="0"/>
              <a:t> компонента – это стейт менеджер. Пример – есть </a:t>
            </a:r>
            <a:r>
              <a:rPr lang="ru-RU" dirty="0" err="1"/>
              <a:t>модалка</a:t>
            </a:r>
            <a:r>
              <a:rPr lang="ru-RU" dirty="0"/>
              <a:t> с формой – нужно при </a:t>
            </a:r>
            <a:r>
              <a:rPr lang="ru-RU" dirty="0" err="1"/>
              <a:t>переоткрытии</a:t>
            </a:r>
            <a:r>
              <a:rPr lang="ru-RU" dirty="0"/>
              <a:t> </a:t>
            </a:r>
            <a:r>
              <a:rPr lang="ru-RU" dirty="0" err="1"/>
              <a:t>модалки</a:t>
            </a:r>
            <a:r>
              <a:rPr lang="ru-RU" dirty="0"/>
              <a:t> сохранять введенные в нее до этого значения – это стейт менеджер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024990-397A-D842-CE67-C4124AECB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288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5B385-E962-5E08-CE39-CD7A5716F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FF5C6FB-CB19-05D0-6330-A8EAE6500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4180034-7AD7-1757-53E7-30E95DDCA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B07548-81BC-44BA-1379-5021331C5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236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7B86B-274D-3E6E-E23B-C50D7BC31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75429C4-C90C-5997-BA82-56FDA110C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C65DFB7-D3E2-AA4F-FEE5-A0DB8F698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Выбор стейт менеджера – задача сложная и требует анализа всего проекта в целом</a:t>
            </a:r>
          </a:p>
          <a:p>
            <a:endParaRPr lang="ru-RU" dirty="0"/>
          </a:p>
          <a:p>
            <a:r>
              <a:rPr lang="ru-RU" dirty="0"/>
              <a:t>У любого стейт менеджера есть как плюсы так и минусы – пока не попробуешь все, мнения не составишь</a:t>
            </a:r>
          </a:p>
          <a:p>
            <a:endParaRPr lang="ru-RU" dirty="0"/>
          </a:p>
          <a:p>
            <a:r>
              <a:rPr lang="ru-RU" dirty="0"/>
              <a:t>Пример – </a:t>
            </a:r>
            <a:r>
              <a:rPr lang="ru-RU" dirty="0" err="1"/>
              <a:t>редакс</a:t>
            </a:r>
            <a:r>
              <a:rPr lang="ru-RU" dirty="0"/>
              <a:t> очень многие не любят и ругают за </a:t>
            </a:r>
            <a:r>
              <a:rPr lang="ru-RU" dirty="0" err="1"/>
              <a:t>бойлерплейт</a:t>
            </a:r>
            <a:r>
              <a:rPr lang="ru-RU" dirty="0"/>
              <a:t>, называют устаревшим и </a:t>
            </a:r>
            <a:r>
              <a:rPr lang="ru-RU" dirty="0" err="1"/>
              <a:t>тд</a:t>
            </a:r>
            <a:r>
              <a:rPr lang="ru-RU" dirty="0"/>
              <a:t>. Однако все кто так говорит забывают о том, что он реализует подход полного автомата или стейт машин. Если попробовать создать такое же на условном </a:t>
            </a:r>
            <a:r>
              <a:rPr lang="en-US" dirty="0" err="1"/>
              <a:t>mobx</a:t>
            </a:r>
            <a:r>
              <a:rPr lang="en-US" dirty="0"/>
              <a:t> </a:t>
            </a:r>
            <a:r>
              <a:rPr lang="ru-RU" dirty="0"/>
              <a:t>то получим еще больше кода, чем это есть в </a:t>
            </a:r>
            <a:r>
              <a:rPr lang="ru-RU" dirty="0" err="1"/>
              <a:t>редаксе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Выбор стейт менеджера может сказаться на работе проекта в долгой перспективе. Пример – </a:t>
            </a:r>
            <a:r>
              <a:rPr lang="en-US" dirty="0" err="1"/>
              <a:t>mobx</a:t>
            </a:r>
            <a:r>
              <a:rPr lang="en-US" dirty="0"/>
              <a:t> </a:t>
            </a:r>
            <a:r>
              <a:rPr lang="ru-RU" dirty="0"/>
              <a:t>построенный на </a:t>
            </a:r>
            <a:r>
              <a:rPr lang="en-US" dirty="0"/>
              <a:t>proxy </a:t>
            </a:r>
            <a:r>
              <a:rPr lang="ru-RU" dirty="0"/>
              <a:t>не поддерживается новым </a:t>
            </a:r>
            <a:r>
              <a:rPr lang="en-US" dirty="0"/>
              <a:t>react compiler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4B0FC8-7D2C-47A6-76A6-9A150D64D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815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AA639-0F09-7345-B364-53B10AA49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49CF5FC-F197-1AD9-797D-300A9B84B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AC7913D-0B9B-326F-28E5-53DCB4C32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F59906-07ED-8DB9-BC13-E99C60694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591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B9405-675F-CB79-1A4C-13F25941B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68836F5-6D3F-3BC3-189E-16B82B20E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F74A2B-B41D-F86D-CAE2-7947173FD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Есть нюансы с бесплатной версией – показываются только цвета того элемента, который выделен без вложений, в платной версии данных чуть чуть побольше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BBB91B-5C3E-E416-36A4-4D2D372B1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606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12CF7-5151-4BBD-6EC4-274790A43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39FA089-FB2B-1925-FD16-4CCB4D203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B206FDC-5AC9-D46D-38C9-B1D147CAD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95677E-6DFA-71EE-D6A1-F534DA836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809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E2ED2-3A40-5DED-228F-EBDCA7460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961EF4-E0DC-4C59-249B-5DD760805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AC6CC71-6EA7-D0C7-A65E-AD7976670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проекте есть документация о правильном именовании переменных для </a:t>
            </a:r>
            <a:r>
              <a:rPr lang="en-US" dirty="0" err="1"/>
              <a:t>css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764616-BE75-A5A4-BD57-ADDB9A356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817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E1669-2ABB-5AFD-DAF9-593F1442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1F6F2A5-74E8-3ADD-3DB2-3D7945693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8484E5F-8645-782F-A7BE-3BA0FCB3C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B2DA2B-89AF-19CB-018A-401394815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543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164A6-BB37-D04B-3B97-AE31B20D1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B03C96D-3998-D188-C50A-B60EE8C65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931B673-EBA2-9003-B2B4-680244B7E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Ситуация такая же как и с стейт менеджерами – нужно пробовать чтобы понять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2D3E32-E732-5E23-6116-FCD380E0A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4758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5C24D-96B4-384B-E251-C78A8B4D6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2717E5D-4053-3395-5393-2E4122ABA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AD3765A-8F75-1D3F-A943-F34630F97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CF1630-86C0-125D-0A4A-19872A325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25963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6B409-EB71-6F6A-8361-3B48A483E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22E93C9-E587-6CE0-7AA2-F5393B616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49B109-87A4-7876-22C6-37EAD919C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Существует несколько решений, </a:t>
            </a:r>
            <a:r>
              <a:rPr lang="en-US" dirty="0"/>
              <a:t>base-</a:t>
            </a:r>
            <a:r>
              <a:rPr lang="en-US" dirty="0" err="1"/>
              <a:t>ui</a:t>
            </a:r>
            <a:r>
              <a:rPr lang="en-US" dirty="0"/>
              <a:t>, radix etc.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BE152D-ED8E-84CB-FD12-DB3EC2AA0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069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92AE1-85AA-F5CF-91DC-0E78DF673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8453484-BF77-72D4-43A0-A9D985EF5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F4D9CD1-F719-CF95-C774-297F02F7A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Отдельно нужно сказать про </a:t>
            </a:r>
            <a:r>
              <a:rPr lang="en-US" dirty="0"/>
              <a:t>tailwind </a:t>
            </a:r>
            <a:r>
              <a:rPr lang="ru-RU" dirty="0"/>
              <a:t>– это удобное решение, если мы строим весь </a:t>
            </a:r>
            <a:r>
              <a:rPr lang="en-US" dirty="0" err="1"/>
              <a:t>ui</a:t>
            </a:r>
            <a:r>
              <a:rPr lang="en-US" dirty="0"/>
              <a:t>-kit </a:t>
            </a:r>
            <a:r>
              <a:rPr lang="ru-RU" dirty="0"/>
              <a:t>вокруг него, но в большинстве случаев он избыточен. По той же причине </a:t>
            </a:r>
            <a:r>
              <a:rPr lang="en-US" dirty="0" err="1"/>
              <a:t>chadcn</a:t>
            </a:r>
            <a:r>
              <a:rPr lang="en-US" dirty="0"/>
              <a:t> </a:t>
            </a:r>
            <a:r>
              <a:rPr lang="ru-RU" dirty="0"/>
              <a:t>сейчас мы не будем использовать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6DBA2C-77FE-54B7-969D-35AA84305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4220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BE1E2-F99B-6082-1EAC-E83A79C7D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CBD85FB-9043-1035-02AA-400F93BA4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F672EC8-9455-2B9A-590E-292E3E067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база </a:t>
            </a:r>
            <a:r>
              <a:rPr lang="ru-RU" dirty="0" err="1"/>
              <a:t>реакта</a:t>
            </a:r>
            <a:r>
              <a:rPr lang="ru-RU" dirty="0"/>
              <a:t> – весь </a:t>
            </a:r>
            <a:r>
              <a:rPr lang="en-US" u="sng" dirty="0" err="1"/>
              <a:t>ui</a:t>
            </a:r>
            <a:r>
              <a:rPr lang="en-US" u="sng" dirty="0"/>
              <a:t> </a:t>
            </a:r>
            <a:r>
              <a:rPr lang="ru-RU" u="none" dirty="0"/>
              <a:t>состоит из элементов, с которыми пользователь взаимодействует и у большинства элементов есть </a:t>
            </a:r>
            <a:r>
              <a:rPr lang="en-US" sz="1200" dirty="0" err="1">
                <a:solidFill>
                  <a:srgbClr val="1C1B1B"/>
                </a:solidFill>
              </a:rPr>
              <a:t>Uncotrolled</a:t>
            </a:r>
            <a:r>
              <a:rPr lang="ru-RU" sz="1200" dirty="0">
                <a:solidFill>
                  <a:srgbClr val="1C1B1B"/>
                </a:solidFill>
              </a:rPr>
              <a:t> поведение.</a:t>
            </a:r>
          </a:p>
          <a:p>
            <a:endParaRPr lang="ru-RU" sz="1200" u="none" dirty="0">
              <a:solidFill>
                <a:srgbClr val="1C1B1B"/>
              </a:solidFill>
            </a:endParaRPr>
          </a:p>
          <a:p>
            <a:r>
              <a:rPr lang="en-US" sz="1200" dirty="0">
                <a:solidFill>
                  <a:srgbClr val="1C1B1B"/>
                </a:solidFill>
              </a:rPr>
              <a:t>Controlled</a:t>
            </a:r>
            <a:r>
              <a:rPr lang="ru-RU" sz="1200" dirty="0">
                <a:solidFill>
                  <a:srgbClr val="1C1B1B"/>
                </a:solidFill>
              </a:rPr>
              <a:t> оно становится тогда, когда мы начинаем связывать элементы и состояние </a:t>
            </a:r>
            <a:r>
              <a:rPr lang="ru-RU" sz="1200" dirty="0" err="1">
                <a:solidFill>
                  <a:srgbClr val="1C1B1B"/>
                </a:solidFill>
              </a:rPr>
              <a:t>реакта</a:t>
            </a:r>
            <a:endParaRPr lang="ru-RU" u="none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669BC4-4F54-247D-9F23-C8B649416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9303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5D8F6-0FB8-2046-430C-29CD294B1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AA9EAAC-79B2-A61B-5A34-2AA0E07DF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CEA0665-780D-BF22-B739-2E51B4C18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видно - много всякого надо написать чтобы просто форма заработала</a:t>
            </a:r>
          </a:p>
          <a:p>
            <a:endParaRPr lang="ru-RU" dirty="0"/>
          </a:p>
          <a:p>
            <a:r>
              <a:rPr lang="ru-RU" dirty="0"/>
              <a:t>Дополнительно – </a:t>
            </a:r>
            <a:r>
              <a:rPr lang="ru-RU" dirty="0" err="1"/>
              <a:t>ререндеры</a:t>
            </a:r>
            <a:r>
              <a:rPr lang="ru-RU" dirty="0"/>
              <a:t> – общий стейт формы на </a:t>
            </a:r>
            <a:r>
              <a:rPr lang="ru-RU" dirty="0" err="1"/>
              <a:t>измененю</a:t>
            </a:r>
            <a:r>
              <a:rPr lang="ru-RU" dirty="0"/>
              <a:t> любого поля будет производить </a:t>
            </a:r>
            <a:r>
              <a:rPr lang="ru-RU" dirty="0" err="1"/>
              <a:t>перерендер</a:t>
            </a:r>
            <a:r>
              <a:rPr lang="ru-RU" dirty="0"/>
              <a:t> всего компонента и нужно либо дробить элементы формы на атомарные компоненты либо мудрить с </a:t>
            </a:r>
            <a:r>
              <a:rPr lang="ru-RU" dirty="0" err="1"/>
              <a:t>мемоизацией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EE9693-A939-28AE-E2B4-2FAF639D55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9731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265D2-C59C-3E8C-53A9-B57D22F83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49E8465-56CF-8137-E648-008F80178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77DF9A1-81B1-B5A8-9103-58E0B15DB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1C1B1B"/>
                </a:solidFill>
              </a:rPr>
              <a:t>react-hook-form</a:t>
            </a:r>
            <a:r>
              <a:rPr lang="ru-RU" sz="1200" dirty="0">
                <a:solidFill>
                  <a:srgbClr val="1C1B1B"/>
                </a:solidFill>
              </a:rPr>
              <a:t> – современное решение, которое позволяет избежать боли при работе с формами</a:t>
            </a:r>
          </a:p>
          <a:p>
            <a:r>
              <a:rPr lang="ru-RU" sz="1200" dirty="0" err="1">
                <a:solidFill>
                  <a:srgbClr val="1C1B1B"/>
                </a:solidFill>
              </a:rPr>
              <a:t>Зод</a:t>
            </a:r>
            <a:r>
              <a:rPr lang="ru-RU" sz="1200" dirty="0">
                <a:solidFill>
                  <a:srgbClr val="1C1B1B"/>
                </a:solidFill>
              </a:rPr>
              <a:t> – позволяет добавить валидацию и описание схем в формы.</a:t>
            </a:r>
          </a:p>
          <a:p>
            <a:endParaRPr lang="ru-RU" sz="1200" dirty="0">
              <a:solidFill>
                <a:srgbClr val="1C1B1B"/>
              </a:solidFill>
            </a:endParaRPr>
          </a:p>
          <a:p>
            <a:r>
              <a:rPr lang="ru-RU" sz="1200" dirty="0">
                <a:solidFill>
                  <a:srgbClr val="1C1B1B"/>
                </a:solidFill>
              </a:rPr>
              <a:t>По сути мы разделяем формы на 3 части</a:t>
            </a:r>
          </a:p>
          <a:p>
            <a:r>
              <a:rPr lang="ru-RU" sz="1200" dirty="0">
                <a:solidFill>
                  <a:srgbClr val="1C1B1B"/>
                </a:solidFill>
              </a:rPr>
              <a:t>1. </a:t>
            </a:r>
            <a:r>
              <a:rPr lang="en-US" sz="1200" dirty="0" err="1">
                <a:solidFill>
                  <a:srgbClr val="1C1B1B"/>
                </a:solidFill>
              </a:rPr>
              <a:t>ui</a:t>
            </a:r>
            <a:endParaRPr lang="en-US" sz="1200" dirty="0">
              <a:solidFill>
                <a:srgbClr val="1C1B1B"/>
              </a:solidFill>
            </a:endParaRPr>
          </a:p>
          <a:p>
            <a:r>
              <a:rPr lang="en-US" sz="1200" dirty="0">
                <a:solidFill>
                  <a:srgbClr val="1C1B1B"/>
                </a:solidFill>
              </a:rPr>
              <a:t>2. schema</a:t>
            </a:r>
          </a:p>
          <a:p>
            <a:r>
              <a:rPr lang="en-US" sz="1200" dirty="0">
                <a:solidFill>
                  <a:srgbClr val="1C1B1B"/>
                </a:solidFill>
              </a:rPr>
              <a:t>3. </a:t>
            </a:r>
            <a:r>
              <a:rPr lang="ru-RU" sz="1200" dirty="0">
                <a:solidFill>
                  <a:srgbClr val="1C1B1B"/>
                </a:solidFill>
              </a:rPr>
              <a:t>Логика работы формы в </a:t>
            </a:r>
            <a:r>
              <a:rPr lang="en" sz="1200" dirty="0">
                <a:solidFill>
                  <a:srgbClr val="1C1B1B"/>
                </a:solidFill>
              </a:rPr>
              <a:t>react-hook-form</a:t>
            </a:r>
            <a:r>
              <a:rPr lang="ru-RU" sz="1200" dirty="0">
                <a:solidFill>
                  <a:srgbClr val="1C1B1B"/>
                </a:solidFill>
              </a:rPr>
              <a:t> + обработка результата формы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4DEA2E-9FBB-1DC8-5DEB-B9CD8F080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7949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21C52-8ADE-52B2-3CA2-6046DB63C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AC63809-D38A-2529-84B7-864368A31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4EEE641-7108-EEAA-8A5D-2F93D89CB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контролируемой форме каждый ввод часто проходит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setState</a:t>
            </a:r>
            <a:r>
              <a:rPr lang="ru-RU" dirty="0"/>
              <a:t> и </a:t>
            </a:r>
            <a:r>
              <a:rPr lang="ru-RU" dirty="0" err="1"/>
              <a:t>ререндер</a:t>
            </a:r>
            <a:r>
              <a:rPr lang="ru-RU" dirty="0"/>
              <a:t> </a:t>
            </a:r>
            <a:r>
              <a:rPr lang="ru-RU" dirty="0" err="1"/>
              <a:t>React</a:t>
            </a:r>
            <a:r>
              <a:rPr lang="ru-RU" dirty="0"/>
              <a:t>.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Hook</a:t>
            </a:r>
            <a:r>
              <a:rPr lang="ru-RU" dirty="0"/>
              <a:t> Form регистрирует DOM-поле, обрабатывает его события внутри собственного </a:t>
            </a:r>
            <a:r>
              <a:rPr lang="ru-RU" dirty="0" err="1"/>
              <a:t>form</a:t>
            </a:r>
            <a:r>
              <a:rPr lang="ru-RU" dirty="0"/>
              <a:t> </a:t>
            </a:r>
            <a:r>
              <a:rPr lang="ru-RU" dirty="0" err="1"/>
              <a:t>control</a:t>
            </a:r>
            <a:r>
              <a:rPr lang="ru-RU" dirty="0"/>
              <a:t> и уведомляет только заинтересованных подписчиков. Поэтому большие формы обычно выполняют меньше лишних </a:t>
            </a:r>
            <a:r>
              <a:rPr lang="ru-RU" dirty="0" err="1"/>
              <a:t>ререндеров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186B88-B750-E2C9-072D-D10638B44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9012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386D0-F394-517D-D2A8-E863AF1E8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3B7E567-7194-6A4E-39A8-B28BB2524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9224874-25FE-A2A4-72FF-5B967D5B9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Локализация при билде – стандартный подход для дефолтной </a:t>
            </a:r>
            <a:r>
              <a:rPr lang="ru-RU" dirty="0" err="1"/>
              <a:t>ангуляр</a:t>
            </a:r>
            <a:r>
              <a:rPr lang="ru-RU" dirty="0"/>
              <a:t> библиотеки по локализации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EE4155-410A-97E8-39EA-96E0B9D94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8226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4B302-2DF4-E9A7-5B01-18042F98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D9515A4-421B-95B3-2F21-97C58B04C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62EDF8-E56C-8D96-27A6-5E100887B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Отдельно нужно сказать про подход к хранению локализации</a:t>
            </a:r>
          </a:p>
          <a:p>
            <a:pPr marL="228600" indent="-228600">
              <a:buAutoNum type="arabicPeriod"/>
            </a:pPr>
            <a:r>
              <a:rPr lang="ru-RU" dirty="0"/>
              <a:t>Храним в проекте фронта в статике – в целом удобно, но не переиспользуемо</a:t>
            </a:r>
          </a:p>
          <a:p>
            <a:pPr marL="228600" indent="-228600">
              <a:buAutoNum type="arabicPeriod"/>
            </a:pPr>
            <a:r>
              <a:rPr lang="ru-RU" dirty="0"/>
              <a:t>Делаем свой сервер с файлами локализации – не так удобно, но переиспользуемо</a:t>
            </a:r>
          </a:p>
          <a:p>
            <a:pPr marL="228600" indent="-228600">
              <a:buAutoNum type="arabicPeriod"/>
            </a:pPr>
            <a:endParaRPr lang="ru-RU" dirty="0"/>
          </a:p>
          <a:p>
            <a:pPr marL="0" indent="0">
              <a:buNone/>
            </a:pPr>
            <a:r>
              <a:rPr lang="ru-RU" dirty="0"/>
              <a:t>Зачем нам переиспользование?</a:t>
            </a:r>
          </a:p>
          <a:p>
            <a:pPr marL="0" indent="0">
              <a:buNone/>
            </a:pPr>
            <a:r>
              <a:rPr lang="ru-RU" dirty="0"/>
              <a:t>Вы будете делать разные </a:t>
            </a:r>
            <a:r>
              <a:rPr lang="en-US" dirty="0"/>
              <a:t>backend-for-fronted</a:t>
            </a:r>
            <a:r>
              <a:rPr lang="ru-RU" dirty="0"/>
              <a:t>, в частности по выгрузке в </a:t>
            </a:r>
            <a:r>
              <a:rPr lang="en-US" dirty="0"/>
              <a:t>ex</a:t>
            </a:r>
            <a:r>
              <a:rPr lang="ru-RU" dirty="0"/>
              <a:t>с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ru-RU" dirty="0"/>
              <a:t>и там вам тоже понадобится локализация – по этому вынести все в отдельный сервер + сделать библиотеку вокруг </a:t>
            </a:r>
            <a:r>
              <a:rPr lang="en-US" dirty="0"/>
              <a:t>i18n </a:t>
            </a:r>
            <a:r>
              <a:rPr lang="ru-RU" dirty="0"/>
              <a:t>это хорошая идея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46DE6E-1BAE-84F5-DADF-8380AA25B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401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5BACE7-9428-2AF1-3EA5-2FF007EA9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7B4D34-82B2-DC39-44D3-02E379D8F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21286F-92E3-8AE4-EFC6-C5A61542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3A2ABA-8726-E288-442F-148E963F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CDCB54-7BB4-FFB5-3B62-7B431DFF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140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685AC-7CD5-207F-A2C5-1BC3CA6A6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E82F9E-6302-B5BF-9CEF-107AD45DA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74855C-BF6E-4ABB-27E2-0F71A487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22882D-F15E-81B4-DDE2-34A809127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791136-C9B9-85FC-EDED-3DC2CDF5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10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7EA2E-84A6-EDDF-A654-2A14DFC06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0BEAF6-3CE3-8A59-834F-872854F5F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00CFB-CC2D-3A8A-8CCB-8E51E0BE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6A229E-A3CE-1D30-98C4-8A510D2C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F257B9-ADE2-07FF-B407-E72CE7690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0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E618E-6198-865A-56FF-9958526A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7C8A33-FFA4-4CD5-4E31-1BFC5E0D2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527F2C-211A-A479-951C-36955BCE4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F9FBBA-E24A-BFFA-9EDE-ADEB0108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99AF02-9A93-201E-3DE9-32C67CD71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DD4888-EEFA-E9BE-1315-41A4F372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273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73D4E-697B-E3A2-DF91-307A24E13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888E54-4FE1-E53A-1C54-9F79CBEAA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97CC55-6C44-E68A-5F02-545ED0BA4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4F37106-1AA3-3472-5779-15DB329EA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503F18-AE90-3517-668E-97B3FB6F6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9BABB44-7238-2787-D68B-D7411F5D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0B9ADAB-AB91-8A08-09D9-6B7D27316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D150C27-065A-4F31-E0DA-C7A6CB89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49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3DF74-EDD1-1F99-1231-F9755499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974E8B6-0EE2-C5B6-0AF6-1A1D1E42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6218CA-D861-0BEA-F182-C742F560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F1624C-0C2D-E631-EC86-62111111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81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6BFA212-3BA0-0DA8-932F-198B80D8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3004B47-9C30-21D9-1D88-1C0AAFA6F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CF6953-E26C-E099-AD49-0ED985C0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759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9F35B-62D7-B889-CA0D-08120506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887404-DED5-0FCE-D7CB-5B4CFABE6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1C19F2-EB93-EAB7-DD52-70012E04D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38A145-70D4-68EE-1333-EAD5E743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4DD476-D381-85D3-C181-10B6D448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2D3A2A-3A38-BB8F-2427-3415A0B1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658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16ACF-46DF-CE16-0F96-DB58A00B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F54011-85DB-B9A9-323D-ED8A89375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596D56-A821-B247-57D3-87F567AEB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8AD66F-F8E9-BD27-BB00-2D95388D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9CC595-B741-DBBE-9800-55429215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31AB64-1B6A-9718-DE33-1E0E6A50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01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5F309-5A48-FFFB-D914-F02C26B6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832717-A1C5-E77E-EC58-913A52884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E2949A-1053-51A3-6D97-4128FE0C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9DB074-1677-5FA6-6CAE-E7FC55A1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27F633-A0BE-3EE8-4E8D-4262A119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145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05F80B-5FD5-342C-5360-C9C1DCC0F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057294-2D6E-632F-8280-F1A255532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C4FFC8-0D80-F9E0-D1D4-0C9AFA8B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85525C-37E1-6A7F-9562-6589D94F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46354A-4D92-4701-5152-687D31C3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84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5426D-6C08-B5C5-4141-E2403A70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56F41-34FC-C563-F59F-5BB4939F6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F407CD-A116-4711-EC69-7038CD40A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26FD68-587F-A48B-A7CE-1B26A674B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C9E4CD-5013-6699-97B9-16BC8AD1A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46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B22E659-EE2B-00AB-B918-D55C0947EB2F}"/>
              </a:ext>
            </a:extLst>
          </p:cNvPr>
          <p:cNvSpPr txBox="1"/>
          <p:nvPr/>
        </p:nvSpPr>
        <p:spPr>
          <a:xfrm>
            <a:off x="692585" y="1509155"/>
            <a:ext cx="6611746" cy="27515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Лекция 2</a:t>
            </a:r>
            <a:endParaRPr lang="en-US" sz="48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4800" dirty="0">
                <a:solidFill>
                  <a:schemeClr val="bg1"/>
                </a:solidFill>
              </a:rPr>
              <a:t>Router</a:t>
            </a:r>
          </a:p>
          <a:p>
            <a:pPr>
              <a:lnSpc>
                <a:spcPct val="90000"/>
              </a:lnSpc>
            </a:pPr>
            <a:r>
              <a:rPr lang="en-US" sz="4800" dirty="0">
                <a:solidFill>
                  <a:schemeClr val="bg1"/>
                </a:solidFill>
              </a:rPr>
              <a:t>State-manager</a:t>
            </a:r>
          </a:p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Экосистема вокруг </a:t>
            </a:r>
            <a:r>
              <a:rPr lang="en-US" sz="4800" dirty="0">
                <a:solidFill>
                  <a:schemeClr val="bg1"/>
                </a:solidFill>
              </a:rPr>
              <a:t>React</a:t>
            </a:r>
            <a:endParaRPr lang="ru-RU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16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8C615-A1C8-14AC-FF41-8F6C3C60655F}"/>
              </a:ext>
            </a:extLst>
          </p:cNvPr>
          <p:cNvSpPr txBox="1"/>
          <p:nvPr/>
        </p:nvSpPr>
        <p:spPr>
          <a:xfrm>
            <a:off x="485191" y="584717"/>
            <a:ext cx="6599854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6600" dirty="0">
                <a:solidFill>
                  <a:schemeClr val="bg1"/>
                </a:solidFill>
              </a:rPr>
              <a:t>SPA/MPA</a:t>
            </a:r>
          </a:p>
          <a:p>
            <a:pPr>
              <a:lnSpc>
                <a:spcPct val="90000"/>
              </a:lnSpc>
            </a:pPr>
            <a:r>
              <a:rPr lang="en-US" sz="6600" dirty="0">
                <a:solidFill>
                  <a:schemeClr val="bg1"/>
                </a:solidFill>
              </a:rPr>
              <a:t>React-router</a:t>
            </a:r>
            <a:endParaRPr lang="ru-RU" sz="6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1168D2-72F0-B0CA-4725-E3BE325B2FD5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4321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5120C-07F4-C411-78C7-642D706C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A2C39C-9C03-CEFD-63E4-12284B00F64A}"/>
              </a:ext>
            </a:extLst>
          </p:cNvPr>
          <p:cNvSpPr txBox="1"/>
          <p:nvPr/>
        </p:nvSpPr>
        <p:spPr>
          <a:xfrm>
            <a:off x="470912" y="380010"/>
            <a:ext cx="595836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Multi Page Application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446840-1BC1-EC59-61E9-13C27F0EACE0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693DBD-73FB-1FC1-87E2-F1D1D70E9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167" y="1690511"/>
            <a:ext cx="7772400" cy="248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99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42C7C4-103B-DC16-405D-2B42105AE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89EEC4-88C8-01F2-FD7D-8BC13BFFDA8C}"/>
              </a:ext>
            </a:extLst>
          </p:cNvPr>
          <p:cNvSpPr txBox="1"/>
          <p:nvPr/>
        </p:nvSpPr>
        <p:spPr>
          <a:xfrm>
            <a:off x="470912" y="380010"/>
            <a:ext cx="596477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Single Page Application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0C5B70-2141-4D4B-748E-42B6828D442E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9079CD-05E3-A516-0A37-D142462A1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816" y="1843794"/>
            <a:ext cx="7772400" cy="205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97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634821-F2AB-839C-135D-51B034804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3198D4-656D-C8E4-4C44-5CCFF5EE6E8C}"/>
              </a:ext>
            </a:extLst>
          </p:cNvPr>
          <p:cNvSpPr txBox="1"/>
          <p:nvPr/>
        </p:nvSpPr>
        <p:spPr>
          <a:xfrm>
            <a:off x="470912" y="380010"/>
            <a:ext cx="3439468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React-Router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8D7BB1-D8DF-0B5B-2830-87D3EC35B5A2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F3C02E-7FCE-852B-1E2C-626CACACB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041" y="758576"/>
            <a:ext cx="5068657" cy="399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EAC78A-D257-8019-0338-D8333D682AED}"/>
              </a:ext>
            </a:extLst>
          </p:cNvPr>
          <p:cNvSpPr txBox="1"/>
          <p:nvPr/>
        </p:nvSpPr>
        <p:spPr>
          <a:xfrm>
            <a:off x="470912" y="1137140"/>
            <a:ext cx="60980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React</a:t>
            </a:r>
            <a:r>
              <a:rPr lang="ru-RU" dirty="0"/>
              <a:t>-приложение обычно загружает один HTML-файл, а страницы переключаются внутри браузера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Router</a:t>
            </a:r>
            <a:r>
              <a:rPr lang="ru-RU" dirty="0"/>
              <a:t> связывает URL с конкретным компонентом страницы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Маршрут описывает: какой путь открыть и какой компонент показать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переходе </a:t>
            </a:r>
            <a:r>
              <a:rPr lang="ru-RU" dirty="0" err="1"/>
              <a:t>React</a:t>
            </a:r>
            <a:r>
              <a:rPr lang="ru-RU" dirty="0"/>
              <a:t> не перезагружает страницу целиком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Для навигации используется &lt;Link /&gt;, а не обычный &lt;</a:t>
            </a:r>
            <a:r>
              <a:rPr lang="ru-RU" dirty="0" err="1"/>
              <a:t>a</a:t>
            </a:r>
            <a:r>
              <a:rPr lang="ru-RU" dirty="0"/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Динамические части URL можно читать как параметры: /</a:t>
            </a:r>
            <a:r>
              <a:rPr lang="ru-RU" dirty="0" err="1"/>
              <a:t>tickets</a:t>
            </a:r>
            <a:r>
              <a:rPr lang="ru-RU" dirty="0"/>
              <a:t>/:</a:t>
            </a:r>
            <a:r>
              <a:rPr lang="ru-RU" dirty="0" err="1"/>
              <a:t>ticketId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Вложенные маршруты помогают собирать </a:t>
            </a:r>
            <a:r>
              <a:rPr lang="ru-RU" dirty="0" err="1"/>
              <a:t>layout</a:t>
            </a:r>
            <a:r>
              <a:rPr lang="ru-RU" dirty="0"/>
              <a:t> и дочерние страницы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Поддерживаются </a:t>
            </a:r>
            <a:r>
              <a:rPr lang="ru-RU" dirty="0" err="1"/>
              <a:t>лоудеры</a:t>
            </a:r>
            <a:r>
              <a:rPr lang="ru-RU" dirty="0"/>
              <a:t> – можно проверять данные до перехода на страницу</a:t>
            </a:r>
          </a:p>
        </p:txBody>
      </p:sp>
    </p:spTree>
    <p:extLst>
      <p:ext uri="{BB962C8B-B14F-4D97-AF65-F5344CB8AC3E}">
        <p14:creationId xmlns:p14="http://schemas.microsoft.com/office/powerpoint/2010/main" val="2132931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EA2BA-EA1C-5E4A-197A-173A25A44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132445-0881-DB7A-84C4-89EA4BD7456F}"/>
              </a:ext>
            </a:extLst>
          </p:cNvPr>
          <p:cNvSpPr txBox="1"/>
          <p:nvPr/>
        </p:nvSpPr>
        <p:spPr>
          <a:xfrm>
            <a:off x="485191" y="584717"/>
            <a:ext cx="6599854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6600" dirty="0">
                <a:solidFill>
                  <a:schemeClr val="bg1"/>
                </a:solidFill>
              </a:rPr>
              <a:t>State-manager</a:t>
            </a:r>
            <a:endParaRPr lang="ru-RU" sz="6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53DB63-8CEF-97FE-799A-4695A45FDD32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85907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E7B1A-7805-0B88-8EA8-448175321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94DA87-73B0-B6DD-5811-033D3566E5DD}"/>
              </a:ext>
            </a:extLst>
          </p:cNvPr>
          <p:cNvSpPr txBox="1"/>
          <p:nvPr/>
        </p:nvSpPr>
        <p:spPr>
          <a:xfrm>
            <a:off x="470912" y="380010"/>
            <a:ext cx="954472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Какую задачу решает </a:t>
            </a:r>
            <a:r>
              <a:rPr lang="en-US" sz="4800" dirty="0">
                <a:solidFill>
                  <a:srgbClr val="1C1B1B"/>
                </a:solidFill>
              </a:rPr>
              <a:t>state-manager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045118-E59F-BF7B-3E79-6A8CB209BFF2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77FBAF-CF75-C482-4773-A073607EC7D8}"/>
              </a:ext>
            </a:extLst>
          </p:cNvPr>
          <p:cNvSpPr txBox="1"/>
          <p:nvPr/>
        </p:nvSpPr>
        <p:spPr>
          <a:xfrm>
            <a:off x="470911" y="1137140"/>
            <a:ext cx="10452461" cy="37856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В небольшом компоненте состояние удобно хранить через </a:t>
            </a: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useState</a:t>
            </a: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Но часть данных нужна сразу нескольким компонентам: пользователь, роли, фильтры, корзина, настройки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Хранить состояние приходится близко «высоко» в дереве компонентов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Если передавать эти данные через 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props,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появляется длинная цепочка: родитель -&gt; ребенок -&gt; ребенок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Изменение состояния родителя приводит к </a:t>
            </a:r>
            <a:r>
              <a:rPr lang="ru-RU" sz="2000" dirty="0" err="1">
                <a:solidFill>
                  <a:srgbClr val="1C1B1B"/>
                </a:solidFill>
                <a:cs typeface="Arial" panose="020B0604020202020204" pitchFamily="34" charset="0"/>
              </a:rPr>
              <a:t>перерендеру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 всех детей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Если использовать контекст – все еще есть </a:t>
            </a:r>
            <a:r>
              <a:rPr lang="ru-RU" sz="2000" dirty="0" err="1">
                <a:solidFill>
                  <a:srgbClr val="1C1B1B"/>
                </a:solidFill>
                <a:cs typeface="Arial" panose="020B0604020202020204" pitchFamily="34" charset="0"/>
              </a:rPr>
              <a:t>перерендеры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 детей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State-manager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создает единое место, где хранится общее состояние приложения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Компоненты читают нужные данные из 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store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и обновляются при их изменении без изменения всего дерева детей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Логика изменения состояния становится более предсказуемой и проще для отладки</a:t>
            </a: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097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D8AC1A-9682-4C6E-CE84-D47940C53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61DB29-449E-E0A7-42FE-259AF17A9139}"/>
              </a:ext>
            </a:extLst>
          </p:cNvPr>
          <p:cNvSpPr txBox="1"/>
          <p:nvPr/>
        </p:nvSpPr>
        <p:spPr>
          <a:xfrm>
            <a:off x="470912" y="380010"/>
            <a:ext cx="8547276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Всегда ли нужен </a:t>
            </a:r>
            <a:r>
              <a:rPr lang="en-US" sz="4800" dirty="0">
                <a:solidFill>
                  <a:srgbClr val="1C1B1B"/>
                </a:solidFill>
              </a:rPr>
              <a:t>state-manager?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974303-9309-E1B9-DF33-0E9EA3D604F1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8A7F3C-C04E-58DC-62A6-A2C918E6D689}"/>
              </a:ext>
            </a:extLst>
          </p:cNvPr>
          <p:cNvSpPr txBox="1"/>
          <p:nvPr/>
        </p:nvSpPr>
        <p:spPr>
          <a:xfrm>
            <a:off x="1099750" y="1482811"/>
            <a:ext cx="93911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Нет, не всегда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Часто можно решить задачу через </a:t>
            </a:r>
            <a:r>
              <a:rPr lang="en-US" sz="2400" dirty="0" err="1"/>
              <a:t>useState</a:t>
            </a:r>
            <a:r>
              <a:rPr lang="en-US" sz="2400" dirty="0"/>
              <a:t>/</a:t>
            </a:r>
            <a:r>
              <a:rPr lang="en-US" sz="2400" dirty="0" err="1"/>
              <a:t>customHook</a:t>
            </a:r>
            <a:r>
              <a:rPr lang="en-US" sz="2400" dirty="0"/>
              <a:t>/Context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State-manager </a:t>
            </a:r>
            <a:r>
              <a:rPr lang="ru-RU" sz="2400" dirty="0"/>
              <a:t>нужен тогда, когда данные нужны многим частям приложения и у изменения этих данных есть логика</a:t>
            </a:r>
          </a:p>
        </p:txBody>
      </p:sp>
    </p:spTree>
    <p:extLst>
      <p:ext uri="{BB962C8B-B14F-4D97-AF65-F5344CB8AC3E}">
        <p14:creationId xmlns:p14="http://schemas.microsoft.com/office/powerpoint/2010/main" val="2539094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EF7880-533C-F007-B827-EEE766FB2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354EC6-7434-3DBF-B41F-EEA6D3971283}"/>
              </a:ext>
            </a:extLst>
          </p:cNvPr>
          <p:cNvSpPr txBox="1"/>
          <p:nvPr/>
        </p:nvSpPr>
        <p:spPr>
          <a:xfrm>
            <a:off x="470912" y="380010"/>
            <a:ext cx="2947217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UI-BLL-DAL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49AB34-7576-08FA-D53A-7140903248D6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509CB9-B94D-FE01-B5E1-C0A5D088C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520" y="1578404"/>
            <a:ext cx="7327900" cy="2984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E2E3EB-A4C3-D3E8-AF46-7A309A918C33}"/>
              </a:ext>
            </a:extLst>
          </p:cNvPr>
          <p:cNvSpPr txBox="1"/>
          <p:nvPr/>
        </p:nvSpPr>
        <p:spPr>
          <a:xfrm>
            <a:off x="4826717" y="5424616"/>
            <a:ext cx="1563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State-manager</a:t>
            </a:r>
            <a:endParaRPr lang="ru-RU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DD4BF652-2A09-E51C-FC36-75A06571098B}"/>
              </a:ext>
            </a:extLst>
          </p:cNvPr>
          <p:cNvCxnSpPr>
            <a:stCxn id="4" idx="0"/>
            <a:endCxn id="3" idx="2"/>
          </p:cNvCxnSpPr>
          <p:nvPr/>
        </p:nvCxnSpPr>
        <p:spPr>
          <a:xfrm flipV="1">
            <a:off x="5608470" y="4562904"/>
            <a:ext cx="0" cy="861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341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77DAE9-6AC3-1AC8-DDAE-B3342AFE5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CB0463-3572-0276-DD73-17D97C02B7A0}"/>
              </a:ext>
            </a:extLst>
          </p:cNvPr>
          <p:cNvSpPr txBox="1"/>
          <p:nvPr/>
        </p:nvSpPr>
        <p:spPr>
          <a:xfrm>
            <a:off x="470912" y="380010"/>
            <a:ext cx="761535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Какие решения сейчас есть?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B258E8-C7F0-8CAA-3E78-D85AA27A148F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20D4C8-1FB4-C349-B0BB-6B74C6C79E81}"/>
              </a:ext>
            </a:extLst>
          </p:cNvPr>
          <p:cNvSpPr txBox="1"/>
          <p:nvPr/>
        </p:nvSpPr>
        <p:spPr>
          <a:xfrm>
            <a:off x="644006" y="1137140"/>
            <a:ext cx="146623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Redux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Mobx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Effector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Reatom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Recoil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Zustand</a:t>
            </a: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…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417710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F04D5-A47C-6E73-0EF5-CE2D2BB97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8ECB79-D876-1811-BF5C-EE977BA41407}"/>
              </a:ext>
            </a:extLst>
          </p:cNvPr>
          <p:cNvSpPr txBox="1"/>
          <p:nvPr/>
        </p:nvSpPr>
        <p:spPr>
          <a:xfrm>
            <a:off x="485191" y="584717"/>
            <a:ext cx="6599854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6600" dirty="0">
                <a:solidFill>
                  <a:schemeClr val="bg1"/>
                </a:solidFill>
              </a:rPr>
              <a:t>Figma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42E115-4A9F-E110-912B-553A9A72A7E7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38450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576A2A-9A4E-CA8F-69D4-4534A37B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3E8CC2-C306-8E86-8156-E554D41777A1}"/>
              </a:ext>
            </a:extLst>
          </p:cNvPr>
          <p:cNvSpPr txBox="1"/>
          <p:nvPr/>
        </p:nvSpPr>
        <p:spPr>
          <a:xfrm>
            <a:off x="470912" y="380010"/>
            <a:ext cx="2457148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Variables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C5C053-A626-8C3D-5CA9-FC1AA82D327E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89508-0F13-057A-D3A0-425A4DED10DE}"/>
              </a:ext>
            </a:extLst>
          </p:cNvPr>
          <p:cNvSpPr txBox="1"/>
          <p:nvPr/>
        </p:nvSpPr>
        <p:spPr>
          <a:xfrm>
            <a:off x="644006" y="1137140"/>
            <a:ext cx="685672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Variables </a:t>
            </a:r>
            <a:r>
              <a:rPr lang="ru-RU" sz="2000" dirty="0"/>
              <a:t>в </a:t>
            </a:r>
            <a:r>
              <a:rPr lang="en-US" sz="2000" dirty="0"/>
              <a:t>Figma — </a:t>
            </a:r>
            <a:r>
              <a:rPr lang="ru-RU" sz="2000" dirty="0"/>
              <a:t>переиспользуемые значения: цвета, отступы, радиусы, типографика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Primitive (accent-600, neutral-50) — </a:t>
            </a:r>
            <a:r>
              <a:rPr lang="ru-RU" sz="2000" dirty="0"/>
              <a:t>базовые значения палитры; лежат в </a:t>
            </a:r>
            <a:r>
              <a:rPr lang="en-US" sz="2000" dirty="0" err="1"/>
              <a:t>tokens.css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Semantic (Button/</a:t>
            </a:r>
            <a:r>
              <a:rPr lang="en-US" sz="2000" dirty="0" err="1"/>
              <a:t>Bg</a:t>
            </a:r>
            <a:r>
              <a:rPr lang="en-US" sz="2000" dirty="0"/>
              <a:t>, Button/</a:t>
            </a:r>
            <a:r>
              <a:rPr lang="en-US" sz="2000" dirty="0" err="1"/>
              <a:t>Bg</a:t>
            </a:r>
            <a:r>
              <a:rPr lang="en-US" sz="2000" dirty="0"/>
              <a:t>/Hover) — </a:t>
            </a:r>
            <a:r>
              <a:rPr lang="ru-RU" sz="2000" dirty="0"/>
              <a:t>значения для конкретного компонента и состояния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В </a:t>
            </a:r>
            <a:r>
              <a:rPr lang="en-US" sz="2000" dirty="0"/>
              <a:t>CSS </a:t>
            </a:r>
            <a:r>
              <a:rPr lang="ru-RU" sz="2000" dirty="0"/>
              <a:t>это </a:t>
            </a:r>
            <a:r>
              <a:rPr lang="en-US" sz="2000" dirty="0"/>
              <a:t>component tokens: --</a:t>
            </a:r>
            <a:r>
              <a:rPr lang="en-US" sz="2000" dirty="0" err="1"/>
              <a:t>btn-bg</a:t>
            </a:r>
            <a:r>
              <a:rPr lang="en-US" sz="2000" dirty="0"/>
              <a:t>, --</a:t>
            </a:r>
            <a:r>
              <a:rPr lang="en-US" sz="2000" dirty="0" err="1"/>
              <a:t>btn</a:t>
            </a:r>
            <a:r>
              <a:rPr lang="en-US" sz="2000" dirty="0"/>
              <a:t>-hover-</a:t>
            </a:r>
            <a:r>
              <a:rPr lang="en-US" sz="2000" dirty="0" err="1"/>
              <a:t>bg</a:t>
            </a:r>
            <a:r>
              <a:rPr lang="en-US" sz="2000" dirty="0"/>
              <a:t>, --</a:t>
            </a:r>
            <a:r>
              <a:rPr lang="en-US" sz="2000" dirty="0" err="1"/>
              <a:t>btn</a:t>
            </a:r>
            <a:r>
              <a:rPr lang="en-US" sz="2000" dirty="0"/>
              <a:t>-disabled-text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Схема имени: --&lt;</a:t>
            </a:r>
            <a:r>
              <a:rPr lang="en-US" sz="2000" dirty="0"/>
              <a:t>component&gt;[-&lt;part&gt;][-&lt;state&gt;]-&lt;property&gt; → state </a:t>
            </a:r>
            <a:r>
              <a:rPr lang="ru-RU" sz="2000" dirty="0"/>
              <a:t>перед </a:t>
            </a:r>
            <a:r>
              <a:rPr lang="en-US" sz="2000" dirty="0"/>
              <a:t>property (--</a:t>
            </a:r>
            <a:r>
              <a:rPr lang="en-US" sz="2000" dirty="0" err="1"/>
              <a:t>btn</a:t>
            </a:r>
            <a:r>
              <a:rPr lang="en-US" sz="2000" dirty="0"/>
              <a:t>-hover-</a:t>
            </a:r>
            <a:r>
              <a:rPr lang="en-US" sz="2000" dirty="0" err="1"/>
              <a:t>bg</a:t>
            </a:r>
            <a:r>
              <a:rPr lang="en-US" sz="2000" dirty="0"/>
              <a:t>, </a:t>
            </a:r>
            <a:r>
              <a:rPr lang="ru-RU" sz="2000" dirty="0"/>
              <a:t>не --</a:t>
            </a:r>
            <a:r>
              <a:rPr lang="en-US" sz="2000" dirty="0" err="1"/>
              <a:t>btn</a:t>
            </a:r>
            <a:r>
              <a:rPr lang="en-US" sz="2000" dirty="0"/>
              <a:t>-</a:t>
            </a:r>
            <a:r>
              <a:rPr lang="en-US" sz="2000" dirty="0" err="1"/>
              <a:t>bg</a:t>
            </a:r>
            <a:r>
              <a:rPr lang="en-US" sz="2000" dirty="0"/>
              <a:t>-hover)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В стилях всегда </a:t>
            </a:r>
            <a:r>
              <a:rPr lang="en-US" sz="2000" dirty="0"/>
              <a:t>fallback: var(--</a:t>
            </a:r>
            <a:r>
              <a:rPr lang="en-US" sz="2000" dirty="0" err="1"/>
              <a:t>btn-bg</a:t>
            </a:r>
            <a:r>
              <a:rPr lang="en-US" sz="2000" dirty="0"/>
              <a:t>, var(--accent-600)) — </a:t>
            </a:r>
            <a:r>
              <a:rPr lang="ru-RU" sz="2000" dirty="0"/>
              <a:t>токен можно переопределить снаружи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Если в макете только </a:t>
            </a:r>
            <a:r>
              <a:rPr lang="en-US" sz="2000" dirty="0"/>
              <a:t>hex </a:t>
            </a:r>
            <a:r>
              <a:rPr lang="ru-RU" sz="2000" dirty="0"/>
              <a:t>без </a:t>
            </a:r>
            <a:r>
              <a:rPr lang="en-US" sz="2000" dirty="0"/>
              <a:t>Variables — </a:t>
            </a:r>
            <a:r>
              <a:rPr lang="ru-RU" sz="2000" dirty="0"/>
              <a:t>разработчик сам выводит </a:t>
            </a:r>
            <a:r>
              <a:rPr lang="en-US" sz="2000" dirty="0"/>
              <a:t>semantic tokens </a:t>
            </a:r>
            <a:r>
              <a:rPr lang="ru-RU" sz="2000" dirty="0"/>
              <a:t>из всех состояний компонента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7EED06F-4216-0B57-1986-87B3132A0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656" y="380010"/>
            <a:ext cx="2457148" cy="574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896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D41DA-392C-FFEB-E903-B6FFA5CDC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C507AF-CD90-E8A7-E8B7-3196DBB459FC}"/>
              </a:ext>
            </a:extLst>
          </p:cNvPr>
          <p:cNvSpPr txBox="1"/>
          <p:nvPr/>
        </p:nvSpPr>
        <p:spPr>
          <a:xfrm>
            <a:off x="470912" y="380010"/>
            <a:ext cx="2457148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Variables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DDD07F-E93E-1A97-308A-22250694C8FD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8713E80-67A1-9866-362D-0CE350F40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137140"/>
            <a:ext cx="7772400" cy="443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66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994B5-57C3-A93F-E9A6-287668945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F47417-0583-B238-614F-0BA6C867E8E8}"/>
              </a:ext>
            </a:extLst>
          </p:cNvPr>
          <p:cNvSpPr txBox="1"/>
          <p:nvPr/>
        </p:nvSpPr>
        <p:spPr>
          <a:xfrm>
            <a:off x="470912" y="380010"/>
            <a:ext cx="3818096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Variables</a:t>
            </a:r>
            <a:r>
              <a:rPr lang="ru-RU" sz="4800" dirty="0">
                <a:solidFill>
                  <a:srgbClr val="1C1B1B"/>
                </a:solidFill>
              </a:rPr>
              <a:t> - </a:t>
            </a:r>
            <a:r>
              <a:rPr lang="en-US" sz="4800" dirty="0">
                <a:solidFill>
                  <a:srgbClr val="1C1B1B"/>
                </a:solidFill>
              </a:rPr>
              <a:t>CSS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C1E7ED-99FB-66BC-7C11-E6AA4F745B4C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4154693-C4C8-B50B-FB78-678C42397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86" y="1137364"/>
            <a:ext cx="2776453" cy="516308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8E8797-0CE0-BC8B-DB0D-C68C1B61B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313" y="1432908"/>
            <a:ext cx="4076700" cy="4572000"/>
          </a:xfrm>
          <a:prstGeom prst="rect">
            <a:avLst/>
          </a:prstGeom>
        </p:spPr>
      </p:pic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1C9BDAC4-03D7-EB79-E7ED-8DB3182A7EE9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591339" y="3718908"/>
            <a:ext cx="29709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432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F2B904-5C02-F637-73A8-29C854A24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6D7E02-7DB8-61B4-3072-72D95DDA7358}"/>
              </a:ext>
            </a:extLst>
          </p:cNvPr>
          <p:cNvSpPr txBox="1"/>
          <p:nvPr/>
        </p:nvSpPr>
        <p:spPr>
          <a:xfrm>
            <a:off x="470912" y="380010"/>
            <a:ext cx="3511795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Компоненты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B258FA-48B9-D766-9004-CAC9BD033C34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A1AB3FE-459F-E30D-E1F8-B6BEB7321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646" y="1137140"/>
            <a:ext cx="6827825" cy="164079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3903D9-6B63-3DAF-F065-5D51B0FE6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68" y="1459523"/>
            <a:ext cx="4185911" cy="393895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221492B-AB50-B185-F44A-F9A6C6BC1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5190" y="2935588"/>
            <a:ext cx="2743947" cy="322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84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E25280-BF48-4692-744B-580C7818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1024FA-98DE-EBE5-5096-5809E27302C8}"/>
              </a:ext>
            </a:extLst>
          </p:cNvPr>
          <p:cNvSpPr txBox="1"/>
          <p:nvPr/>
        </p:nvSpPr>
        <p:spPr>
          <a:xfrm>
            <a:off x="485191" y="584717"/>
            <a:ext cx="6599854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6600" dirty="0">
                <a:solidFill>
                  <a:schemeClr val="bg1"/>
                </a:solidFill>
              </a:rPr>
              <a:t>UI-kit</a:t>
            </a:r>
          </a:p>
          <a:p>
            <a:pPr>
              <a:lnSpc>
                <a:spcPct val="90000"/>
              </a:lnSpc>
            </a:pPr>
            <a:r>
              <a:rPr lang="en-US" sz="6600" dirty="0">
                <a:solidFill>
                  <a:schemeClr val="bg1"/>
                </a:solidFill>
              </a:rPr>
              <a:t>MUI, </a:t>
            </a:r>
            <a:r>
              <a:rPr lang="en-US" sz="6600" dirty="0" err="1">
                <a:solidFill>
                  <a:schemeClr val="bg1"/>
                </a:solidFill>
              </a:rPr>
              <a:t>Antd</a:t>
            </a:r>
            <a:r>
              <a:rPr lang="en-US" sz="6600" dirty="0">
                <a:solidFill>
                  <a:schemeClr val="bg1"/>
                </a:solidFill>
              </a:rPr>
              <a:t>, etc.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A73D0D-99D8-A59E-1A88-6769798D4409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4</a:t>
            </a:r>
            <a:endParaRPr lang="ru-RU" sz="65000" dirty="0">
              <a:gradFill>
                <a:gsLst>
                  <a:gs pos="22000">
                    <a:srgbClr val="39219E"/>
                  </a:gs>
                  <a:gs pos="78000">
                    <a:srgbClr val="19191A"/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75506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ADFB8-CC57-846F-E45F-5F77F57B7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A4BA32-470B-398C-6B30-6C864C833489}"/>
              </a:ext>
            </a:extLst>
          </p:cNvPr>
          <p:cNvSpPr txBox="1"/>
          <p:nvPr/>
        </p:nvSpPr>
        <p:spPr>
          <a:xfrm>
            <a:off x="470912" y="380010"/>
            <a:ext cx="7632731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Зачем нужны готовые </a:t>
            </a:r>
            <a:r>
              <a:rPr lang="en-US" sz="4800" dirty="0" err="1">
                <a:solidFill>
                  <a:srgbClr val="1C1B1B"/>
                </a:solidFill>
              </a:rPr>
              <a:t>ui</a:t>
            </a:r>
            <a:r>
              <a:rPr lang="en-US" sz="4800" dirty="0">
                <a:solidFill>
                  <a:srgbClr val="1C1B1B"/>
                </a:solidFill>
              </a:rPr>
              <a:t>-kit?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8B37FF-CDDD-902D-CEBF-CE5822561895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7B8317-A5BE-CC58-428E-738F338D7945}"/>
              </a:ext>
            </a:extLst>
          </p:cNvPr>
          <p:cNvSpPr txBox="1"/>
          <p:nvPr/>
        </p:nvSpPr>
        <p:spPr>
          <a:xfrm>
            <a:off x="470911" y="1137140"/>
            <a:ext cx="9315639" cy="489364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Доступность из коробки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 приложении постоянно повторяются одни и те же элементы: кнопки, поля, модальные окна, таблицы, меню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UI-kit </a:t>
            </a:r>
            <a:r>
              <a:rPr lang="ru-RU" sz="2400" dirty="0"/>
              <a:t>дает готовые компоненты, которые уже можно использовать в интерфейсе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Компоненты выглядят единообразно во всем приложении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Не нужно каждый раз заново продумывать стили, состояния и поведение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Обычно в </a:t>
            </a:r>
            <a:r>
              <a:rPr lang="en" sz="2400" dirty="0"/>
              <a:t>UI-kit </a:t>
            </a:r>
            <a:r>
              <a:rPr lang="ru-RU" sz="2400" dirty="0"/>
              <a:t>уже учтены </a:t>
            </a:r>
            <a:r>
              <a:rPr lang="en" sz="2400" dirty="0"/>
              <a:t>hover, focus, disabled, </a:t>
            </a:r>
            <a:r>
              <a:rPr lang="ru-RU" sz="2400" dirty="0"/>
              <a:t>ошибки и адаптивность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Хороший </a:t>
            </a:r>
            <a:r>
              <a:rPr lang="en" sz="2400" dirty="0"/>
              <a:t>UI-kit </a:t>
            </a:r>
            <a:r>
              <a:rPr lang="ru-RU" sz="2400" dirty="0"/>
              <a:t>помогает быстрее собирать сложные экраны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endParaRPr lang="en-US" sz="24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999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241EE-7CDE-B8B9-ADEA-8E850CA3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DD638F-4034-F6F9-AAA1-2692251692D1}"/>
              </a:ext>
            </a:extLst>
          </p:cNvPr>
          <p:cNvSpPr txBox="1"/>
          <p:nvPr/>
        </p:nvSpPr>
        <p:spPr>
          <a:xfrm>
            <a:off x="470912" y="380010"/>
            <a:ext cx="513711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Какие есть сейчас?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FF0A29-55D2-0167-9986-D1E1B738A27B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F876-67B4-9C33-D846-E68E7F6207DC}"/>
              </a:ext>
            </a:extLst>
          </p:cNvPr>
          <p:cNvSpPr txBox="1"/>
          <p:nvPr/>
        </p:nvSpPr>
        <p:spPr>
          <a:xfrm>
            <a:off x="470912" y="1137140"/>
            <a:ext cx="8252958" cy="2369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Ant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Chakra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Mantine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Gravity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Гуглим что существует еще – их много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248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E1540-72F8-138E-2942-80EC6C243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0402468-D980-057B-E638-5DFE04FEF45F}"/>
              </a:ext>
            </a:extLst>
          </p:cNvPr>
          <p:cNvSpPr txBox="1"/>
          <p:nvPr/>
        </p:nvSpPr>
        <p:spPr>
          <a:xfrm>
            <a:off x="470912" y="380010"/>
            <a:ext cx="418730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Какие минусы?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00B846-F01A-A588-7584-B077E8E4C68C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3F1B5F-0FF3-ECE8-5E7A-70809EAFA306}"/>
              </a:ext>
            </a:extLst>
          </p:cNvPr>
          <p:cNvSpPr txBox="1"/>
          <p:nvPr/>
        </p:nvSpPr>
        <p:spPr>
          <a:xfrm>
            <a:off x="470912" y="1137140"/>
            <a:ext cx="5625088" cy="39703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UI-kit </a:t>
            </a:r>
            <a:r>
              <a:rPr lang="ru-RU" dirty="0"/>
              <a:t>задает свои правила внешнего вида и поведения компонентов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Сложный кастомный дизайн может быть трудно встроить в готовые компоненты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Иногда приходится писать много переопределений стилей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Приложение становится зависимым от библиотеки и ее обновлений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Часть компонентов может быть слишком тяжелой или избыточной для проекта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всегда удобно менять внутреннюю логику компонента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глубокой кастомизации можно потерять выгоду от готового </a:t>
            </a:r>
            <a:r>
              <a:rPr lang="en" dirty="0"/>
              <a:t>UI-kit</a:t>
            </a: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4FBD0B-2D1C-7140-7716-9D98F7639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19549"/>
            <a:ext cx="5354687" cy="200495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53A8E2-4CE8-DA22-EBCD-5B714B6A9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288350"/>
            <a:ext cx="5877457" cy="211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32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64604-BF5E-572E-1BAA-4C0B34E6D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E91127D-33C4-0253-BB02-0D5B51627EE2}"/>
              </a:ext>
            </a:extLst>
          </p:cNvPr>
          <p:cNvSpPr txBox="1"/>
          <p:nvPr/>
        </p:nvSpPr>
        <p:spPr>
          <a:xfrm>
            <a:off x="470912" y="380010"/>
            <a:ext cx="3110147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Headless UI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5F30DB-8BAD-B21A-852A-894272569F65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167450-013E-6784-ABC5-EF90F552E353}"/>
              </a:ext>
            </a:extLst>
          </p:cNvPr>
          <p:cNvSpPr txBox="1"/>
          <p:nvPr/>
        </p:nvSpPr>
        <p:spPr>
          <a:xfrm>
            <a:off x="470912" y="1137140"/>
            <a:ext cx="9426850" cy="41549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rgbClr val="1C1B1B"/>
                </a:solidFill>
                <a:cs typeface="Arial" panose="020B0604020202020204" pitchFamily="34" charset="0"/>
              </a:rPr>
              <a:t>Headless UI-kit </a:t>
            </a: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дает готовую логику компонента, но не навязывает внешний вид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Библиотека берет на себя поведение: открытие, закрытие, выбор, фокус, клавиатуру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Разработчик сам пишет разметку, стили и визуальные состояния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Это удобно, когда нужен кастомный дизайн без реализации сложной логики с нуля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Плюсы: контроль внешнего вида, доступность, меньше борьбы с чужими стилями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Минусы: нужно самому собрать визуальную часть и договориться о дизайн-системе</a:t>
            </a:r>
            <a:endParaRPr lang="en-US" sz="24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6722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F4A4A-85C5-39CA-6B57-E7F8C65EF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2FBB98-37A9-D260-2FD4-3C0BE5E2B010}"/>
              </a:ext>
            </a:extLst>
          </p:cNvPr>
          <p:cNvSpPr txBox="1"/>
          <p:nvPr/>
        </p:nvSpPr>
        <p:spPr>
          <a:xfrm>
            <a:off x="470912" y="380010"/>
            <a:ext cx="1166165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CSS, CSS Modules, </a:t>
            </a:r>
            <a:r>
              <a:rPr lang="ru-RU" sz="4800" dirty="0">
                <a:solidFill>
                  <a:srgbClr val="1C1B1B"/>
                </a:solidFill>
              </a:rPr>
              <a:t>Препроцессоры</a:t>
            </a:r>
            <a:r>
              <a:rPr lang="en-US" sz="4800" dirty="0">
                <a:solidFill>
                  <a:srgbClr val="1C1B1B"/>
                </a:solidFill>
              </a:rPr>
              <a:t>, CCS-in-JS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F353C0-F0E5-1FA0-218A-F2F8A6C0918A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1D33B-8F07-E5E2-937F-E9A139B9FE16}"/>
              </a:ext>
            </a:extLst>
          </p:cNvPr>
          <p:cNvSpPr txBox="1"/>
          <p:nvPr/>
        </p:nvSpPr>
        <p:spPr>
          <a:xfrm>
            <a:off x="470912" y="1137140"/>
            <a:ext cx="10304180" cy="526297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C1B1B"/>
                </a:solidFill>
                <a:cs typeface="Arial" panose="020B0604020202020204" pitchFamily="34" charset="0"/>
              </a:rPr>
              <a:t>CSS — </a:t>
            </a: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базовый способ описывать стили через селекторы, классы и каскад. </a:t>
            </a:r>
            <a:r>
              <a:rPr lang="ru-RU" sz="2400" dirty="0"/>
              <a:t>Современный </a:t>
            </a:r>
            <a:r>
              <a:rPr lang="en-US" sz="2400" dirty="0">
                <a:solidFill>
                  <a:srgbClr val="1C1B1B"/>
                </a:solidFill>
                <a:cs typeface="Arial" panose="020B0604020202020204" pitchFamily="34" charset="0"/>
              </a:rPr>
              <a:t>CSS</a:t>
            </a:r>
            <a:r>
              <a:rPr lang="en-US" sz="2400" dirty="0"/>
              <a:t> </a:t>
            </a:r>
            <a:r>
              <a:rPr lang="ru-RU" sz="2400" dirty="0"/>
              <a:t>решает большинство задач из коробки</a:t>
            </a:r>
            <a:endParaRPr lang="ru-RU" sz="24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C1B1B"/>
                </a:solidFill>
                <a:cs typeface="Arial" panose="020B0604020202020204" pitchFamily="34" charset="0"/>
              </a:rPr>
              <a:t>CSS Modules — </a:t>
            </a: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обычный </a:t>
            </a:r>
            <a:r>
              <a:rPr lang="en-US" sz="2400" dirty="0">
                <a:solidFill>
                  <a:srgbClr val="1C1B1B"/>
                </a:solidFill>
                <a:cs typeface="Arial" panose="020B0604020202020204" pitchFamily="34" charset="0"/>
              </a:rPr>
              <a:t>CSS, </a:t>
            </a: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но классы изолированы внутри конкретного компонента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Препроцессоры — расширяют </a:t>
            </a:r>
            <a:r>
              <a:rPr lang="en-US" sz="2400" dirty="0">
                <a:solidFill>
                  <a:srgbClr val="1C1B1B"/>
                </a:solidFill>
                <a:cs typeface="Arial" panose="020B0604020202020204" pitchFamily="34" charset="0"/>
              </a:rPr>
              <a:t>CSS: </a:t>
            </a: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переменные, вложенность, </a:t>
            </a:r>
            <a:r>
              <a:rPr lang="ru-RU" sz="2400" dirty="0" err="1">
                <a:solidFill>
                  <a:srgbClr val="1C1B1B"/>
                </a:solidFill>
                <a:cs typeface="Arial" panose="020B0604020202020204" pitchFamily="34" charset="0"/>
              </a:rPr>
              <a:t>миксины</a:t>
            </a: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, функции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C1B1B"/>
                </a:solidFill>
                <a:cs typeface="Arial" panose="020B0604020202020204" pitchFamily="34" charset="0"/>
              </a:rPr>
              <a:t>CSS-in-JS — </a:t>
            </a: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стили пишутся внутри </a:t>
            </a:r>
            <a:r>
              <a:rPr lang="en-US" sz="2400" dirty="0">
                <a:solidFill>
                  <a:srgbClr val="1C1B1B"/>
                </a:solidFill>
                <a:cs typeface="Arial" panose="020B0604020202020204" pitchFamily="34" charset="0"/>
              </a:rPr>
              <a:t>JavaScript/TypeScript-</a:t>
            </a: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кода компонента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Главная проблема обычного </a:t>
            </a:r>
            <a:r>
              <a:rPr lang="en-US" sz="2400" dirty="0">
                <a:solidFill>
                  <a:srgbClr val="1C1B1B"/>
                </a:solidFill>
                <a:cs typeface="Arial" panose="020B0604020202020204" pitchFamily="34" charset="0"/>
              </a:rPr>
              <a:t>CSS — </a:t>
            </a: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глобальная область видимости и риск конфликтов классов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C1B1B"/>
                </a:solidFill>
                <a:cs typeface="Arial" panose="020B0604020202020204" pitchFamily="34" charset="0"/>
              </a:rPr>
              <a:t>CSS Modules </a:t>
            </a: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решают конфликты имен и хорошо подходят для компонентного подхода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Препроцессоры удобны, когда нужно больше возможностей поверх </a:t>
            </a:r>
            <a:r>
              <a:rPr lang="en-US" sz="2400" dirty="0">
                <a:solidFill>
                  <a:srgbClr val="1C1B1B"/>
                </a:solidFill>
                <a:cs typeface="Arial" panose="020B0604020202020204" pitchFamily="34" charset="0"/>
              </a:rPr>
              <a:t>CSS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C1B1B"/>
                </a:solidFill>
                <a:cs typeface="Arial" panose="020B0604020202020204" pitchFamily="34" charset="0"/>
              </a:rPr>
              <a:t>CSS-in-JS </a:t>
            </a: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удобен, когда стили сильно зависят от </a:t>
            </a:r>
            <a:r>
              <a:rPr lang="en-US" sz="2400" dirty="0">
                <a:solidFill>
                  <a:srgbClr val="1C1B1B"/>
                </a:solidFill>
                <a:cs typeface="Arial" panose="020B0604020202020204" pitchFamily="34" charset="0"/>
              </a:rPr>
              <a:t>props, </a:t>
            </a: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темы или состояния компонента, но современные решения требуют </a:t>
            </a:r>
            <a:r>
              <a:rPr lang="en-US" sz="2400" dirty="0">
                <a:solidFill>
                  <a:srgbClr val="1C1B1B"/>
                </a:solidFill>
                <a:cs typeface="Arial" panose="020B0604020202020204" pitchFamily="34" charset="0"/>
              </a:rPr>
              <a:t>runtime</a:t>
            </a:r>
            <a:r>
              <a:rPr lang="ru-RU" sz="2400" dirty="0">
                <a:solidFill>
                  <a:srgbClr val="1C1B1B"/>
                </a:solidFill>
                <a:cs typeface="Arial" panose="020B0604020202020204" pitchFamily="34" charset="0"/>
              </a:rPr>
              <a:t> кода</a:t>
            </a:r>
            <a:endParaRPr lang="en-US" sz="24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019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EB081A-2E00-8281-D090-6E07EDF5D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E4E795-A7F2-687A-5501-5DD739A4E9BD}"/>
              </a:ext>
            </a:extLst>
          </p:cNvPr>
          <p:cNvSpPr txBox="1"/>
          <p:nvPr/>
        </p:nvSpPr>
        <p:spPr>
          <a:xfrm>
            <a:off x="485191" y="584717"/>
            <a:ext cx="6599854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6600" dirty="0">
                <a:solidFill>
                  <a:schemeClr val="bg1"/>
                </a:solidFill>
              </a:rPr>
              <a:t>Формы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FAB653-EE16-C718-FF9C-17E94A56ACB0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58518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CAF40-E9B7-2CA4-7C1A-1B72C83DC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ED485E-22C7-BCA9-335F-D7F779A3F137}"/>
              </a:ext>
            </a:extLst>
          </p:cNvPr>
          <p:cNvSpPr txBox="1"/>
          <p:nvPr/>
        </p:nvSpPr>
        <p:spPr>
          <a:xfrm>
            <a:off x="470912" y="380010"/>
            <a:ext cx="940738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Controlled/</a:t>
            </a:r>
            <a:r>
              <a:rPr lang="en-US" sz="4800" dirty="0" err="1">
                <a:solidFill>
                  <a:srgbClr val="1C1B1B"/>
                </a:solidFill>
              </a:rPr>
              <a:t>Uncotrolled</a:t>
            </a:r>
            <a:r>
              <a:rPr lang="en-US" sz="4800" dirty="0">
                <a:solidFill>
                  <a:srgbClr val="1C1B1B"/>
                </a:solidFill>
              </a:rPr>
              <a:t> </a:t>
            </a:r>
            <a:r>
              <a:rPr lang="ru-RU" sz="4800" dirty="0">
                <a:solidFill>
                  <a:srgbClr val="1C1B1B"/>
                </a:solidFill>
              </a:rPr>
              <a:t>компоненты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E64226-8873-4B32-EC80-82A5748CD0AC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25D944-D7EC-353C-025E-8A6D5F260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476" y="1314663"/>
            <a:ext cx="6081584" cy="422867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83D4D16-4F62-8E20-7E53-D949F269B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17" y="1314662"/>
            <a:ext cx="5151159" cy="422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6838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2381E-A01F-5955-C39A-A7A9D2641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C15AAAD-0E55-B1F6-451A-A0241006FAE8}"/>
              </a:ext>
            </a:extLst>
          </p:cNvPr>
          <p:cNvSpPr txBox="1"/>
          <p:nvPr/>
        </p:nvSpPr>
        <p:spPr>
          <a:xfrm>
            <a:off x="470912" y="380010"/>
            <a:ext cx="2090637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Формы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CCA92F-F9A9-C532-684F-7CAB19A66A60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1992C55-F866-D825-D7BD-8513194E9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06" y="1137140"/>
            <a:ext cx="5156451" cy="465849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8C95E5-9CAF-6D32-D9F0-751E6FC73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457" y="2029117"/>
            <a:ext cx="5920631" cy="287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138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1E67E-F529-196B-6CC9-3860126F5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68B0E3-128C-D1DC-23D8-29A4B2638D85}"/>
              </a:ext>
            </a:extLst>
          </p:cNvPr>
          <p:cNvSpPr txBox="1"/>
          <p:nvPr/>
        </p:nvSpPr>
        <p:spPr>
          <a:xfrm>
            <a:off x="470912" y="380010"/>
            <a:ext cx="1098730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Современные решения – </a:t>
            </a:r>
            <a:r>
              <a:rPr lang="en-US" sz="4800" dirty="0">
                <a:solidFill>
                  <a:srgbClr val="1C1B1B"/>
                </a:solidFill>
              </a:rPr>
              <a:t>react-hook-form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83F05C-2271-CC5C-FA49-40C122E03E9F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D97F42-6CF9-1C0F-8F37-904304396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06" y="2885780"/>
            <a:ext cx="5275194" cy="147013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6A3B5D-9B51-350D-3B94-5770301A5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185" y="1137140"/>
            <a:ext cx="5400815" cy="496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704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AF3F0-D42B-E57A-ECB9-DE2EEB66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4048E1-22E1-86C2-8F57-91DD38190274}"/>
              </a:ext>
            </a:extLst>
          </p:cNvPr>
          <p:cNvSpPr txBox="1"/>
          <p:nvPr/>
        </p:nvSpPr>
        <p:spPr>
          <a:xfrm>
            <a:off x="470912" y="380010"/>
            <a:ext cx="9187836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react-hook-form</a:t>
            </a:r>
            <a:r>
              <a:rPr lang="ru-RU" sz="4800" dirty="0">
                <a:solidFill>
                  <a:srgbClr val="1C1B1B"/>
                </a:solidFill>
              </a:rPr>
              <a:t> – принцип работы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83AC80-17CB-6537-522B-79A5304C5A38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6E0F76C-90BD-713A-29B7-8154996DD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758" y="1137140"/>
            <a:ext cx="5846439" cy="25734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B383F6-4C48-FBF5-9AF6-CFB42F0E6767}"/>
              </a:ext>
            </a:extLst>
          </p:cNvPr>
          <p:cNvSpPr txBox="1"/>
          <p:nvPr/>
        </p:nvSpPr>
        <p:spPr>
          <a:xfrm>
            <a:off x="768626" y="1510748"/>
            <a:ext cx="506233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Поля преимущественно остаются </a:t>
            </a:r>
            <a:r>
              <a:rPr lang="en" dirty="0"/>
              <a:t>uncontrolled: </a:t>
            </a:r>
            <a:r>
              <a:rPr lang="ru-RU" dirty="0"/>
              <a:t>значение хранится в </a:t>
            </a:r>
            <a:r>
              <a:rPr lang="en" dirty="0"/>
              <a:t>DOM, </a:t>
            </a:r>
            <a:r>
              <a:rPr lang="ru-RU" dirty="0"/>
              <a:t>а не в </a:t>
            </a:r>
            <a:r>
              <a:rPr lang="en" dirty="0"/>
              <a:t>React state </a:t>
            </a:r>
            <a:r>
              <a:rPr lang="ru-RU" dirty="0"/>
              <a:t>компонента.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register() </a:t>
            </a:r>
            <a:r>
              <a:rPr lang="ru-RU" dirty="0"/>
              <a:t>сохраняет ссылку на поле и возвращает </a:t>
            </a:r>
            <a:r>
              <a:rPr lang="en" dirty="0"/>
              <a:t>ref, </a:t>
            </a:r>
            <a:r>
              <a:rPr lang="en" dirty="0" err="1"/>
              <a:t>onChange</a:t>
            </a:r>
            <a:r>
              <a:rPr lang="en" dirty="0"/>
              <a:t>, </a:t>
            </a:r>
            <a:r>
              <a:rPr lang="en" dirty="0" err="1"/>
              <a:t>onBlur</a:t>
            </a:r>
            <a:r>
              <a:rPr lang="en" dirty="0"/>
              <a:t> </a:t>
            </a:r>
            <a:r>
              <a:rPr lang="ru-RU" dirty="0"/>
              <a:t>и </a:t>
            </a:r>
            <a:r>
              <a:rPr lang="en" dirty="0"/>
              <a:t>name.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Событие обновляет внутренние _</a:t>
            </a:r>
            <a:r>
              <a:rPr lang="en" dirty="0" err="1"/>
              <a:t>formValues</a:t>
            </a:r>
            <a:r>
              <a:rPr lang="en" dirty="0"/>
              <a:t>, </a:t>
            </a:r>
            <a:r>
              <a:rPr lang="en" dirty="0" err="1"/>
              <a:t>dirtyFields</a:t>
            </a:r>
            <a:r>
              <a:rPr lang="en" dirty="0"/>
              <a:t>, </a:t>
            </a:r>
            <a:r>
              <a:rPr lang="en" dirty="0" err="1"/>
              <a:t>touchedFields</a:t>
            </a:r>
            <a:r>
              <a:rPr lang="en" dirty="0"/>
              <a:t> </a:t>
            </a:r>
            <a:r>
              <a:rPr lang="ru-RU" dirty="0"/>
              <a:t>и ошибки.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Валидация запускается согласно </a:t>
            </a:r>
            <a:r>
              <a:rPr lang="en" dirty="0"/>
              <a:t>mode </a:t>
            </a:r>
            <a:r>
              <a:rPr lang="ru-RU" dirty="0"/>
              <a:t>или через </a:t>
            </a:r>
            <a:r>
              <a:rPr lang="en" dirty="0"/>
              <a:t>resolver.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Компоненты подписываются только на нужные части состояния.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formState</a:t>
            </a:r>
            <a:r>
              <a:rPr lang="en" dirty="0"/>
              <a:t> </a:t>
            </a:r>
            <a:r>
              <a:rPr lang="ru-RU" dirty="0"/>
              <a:t>отслеживает прочитанные свойства, поэтому изменение одного поля не обязано перерисовывать всю форму.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handleSubmit</a:t>
            </a:r>
            <a:r>
              <a:rPr lang="en" dirty="0"/>
              <a:t>() </a:t>
            </a:r>
            <a:r>
              <a:rPr lang="ru-RU" dirty="0"/>
              <a:t>собирает значения, запускает валидацию и вызывает </a:t>
            </a:r>
            <a:r>
              <a:rPr lang="en" dirty="0" err="1"/>
              <a:t>onValid</a:t>
            </a:r>
            <a:r>
              <a:rPr lang="en" dirty="0"/>
              <a:t> </a:t>
            </a:r>
            <a:r>
              <a:rPr lang="ru-RU" dirty="0"/>
              <a:t>либо </a:t>
            </a:r>
            <a:r>
              <a:rPr lang="en" dirty="0" err="1"/>
              <a:t>onInvalid</a:t>
            </a:r>
            <a:r>
              <a:rPr lang="en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648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FAB8B-00D9-31BD-675B-D5CA2416E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8F2C63-EEAE-51CB-0416-B63977A79C2B}"/>
              </a:ext>
            </a:extLst>
          </p:cNvPr>
          <p:cNvSpPr txBox="1"/>
          <p:nvPr/>
        </p:nvSpPr>
        <p:spPr>
          <a:xfrm>
            <a:off x="485191" y="584717"/>
            <a:ext cx="6599854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6600" dirty="0">
                <a:solidFill>
                  <a:schemeClr val="bg1"/>
                </a:solidFill>
              </a:rPr>
              <a:t>Локализация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E9E1EE-A4E8-6A0E-090D-46E03B46E01C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444162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C9B4A-F04F-65D4-481D-F3C38EA30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27EC37-35FC-4543-61D1-F9AED059E90F}"/>
              </a:ext>
            </a:extLst>
          </p:cNvPr>
          <p:cNvSpPr txBox="1"/>
          <p:nvPr/>
        </p:nvSpPr>
        <p:spPr>
          <a:xfrm>
            <a:off x="470912" y="380010"/>
            <a:ext cx="568925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Какие есть подходы?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5A70EF-FC66-0053-464C-6BFB75089BEE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92F87-C05C-15A4-972F-C2C3530A9350}"/>
              </a:ext>
            </a:extLst>
          </p:cNvPr>
          <p:cNvSpPr txBox="1"/>
          <p:nvPr/>
        </p:nvSpPr>
        <p:spPr>
          <a:xfrm>
            <a:off x="470912" y="1137140"/>
            <a:ext cx="101188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локализовывать и писать текст в разметке – подходит когда локализация не нужна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Локализация при билде – собираем разные билды под разные локали – подходит по большей части для </a:t>
            </a:r>
            <a:r>
              <a:rPr lang="en-US" dirty="0"/>
              <a:t>SSG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Рантайм</a:t>
            </a:r>
            <a:r>
              <a:rPr lang="ru-RU" dirty="0"/>
              <a:t> локализация – грузим локализацию отдельно от </a:t>
            </a:r>
            <a:r>
              <a:rPr lang="en-US" dirty="0" err="1"/>
              <a:t>js</a:t>
            </a:r>
            <a:r>
              <a:rPr lang="en-US" dirty="0"/>
              <a:t> </a:t>
            </a:r>
            <a:r>
              <a:rPr lang="ru-RU" dirty="0"/>
              <a:t>кода и подставляем в шаблон, в зависимости от выбранной локали</a:t>
            </a:r>
          </a:p>
        </p:txBody>
      </p:sp>
    </p:spTree>
    <p:extLst>
      <p:ext uri="{BB962C8B-B14F-4D97-AF65-F5344CB8AC3E}">
        <p14:creationId xmlns:p14="http://schemas.microsoft.com/office/powerpoint/2010/main" val="1343673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74915-1E79-3506-667F-F56A9F606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DB13E73-F90C-C8CD-7A5C-58904950ADA0}"/>
              </a:ext>
            </a:extLst>
          </p:cNvPr>
          <p:cNvSpPr txBox="1"/>
          <p:nvPr/>
        </p:nvSpPr>
        <p:spPr>
          <a:xfrm>
            <a:off x="470912" y="380010"/>
            <a:ext cx="2046266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i18next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DD7FD8-01B0-18F4-8441-4967B9B07700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393DB-9419-28A4-072A-28D82A11A4B5}"/>
              </a:ext>
            </a:extLst>
          </p:cNvPr>
          <p:cNvSpPr txBox="1"/>
          <p:nvPr/>
        </p:nvSpPr>
        <p:spPr>
          <a:xfrm>
            <a:off x="1149178" y="1458097"/>
            <a:ext cx="67829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Файлы локализации могут храниться как статика сайта (в </a:t>
            </a:r>
            <a:r>
              <a:rPr lang="en-US" dirty="0"/>
              <a:t>public)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Файлы можно получить запросом откуда угодно (свой сервер)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Файлы можно загружать динамически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941639-2C61-1D4E-B869-F4717D615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708" y="757130"/>
            <a:ext cx="3647380" cy="534341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4DB5BD-FADC-2691-BA5A-1A5A4DA07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649" y="4177624"/>
            <a:ext cx="6644476" cy="19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3378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6077</TotalTime>
  <Words>1623</Words>
  <Application>Microsoft Macintosh PowerPoint</Application>
  <PresentationFormat>Широкоэкранный</PresentationFormat>
  <Paragraphs>210</Paragraphs>
  <Slides>29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Svetlana Tretyakova</dc:creator>
  <cp:lastModifiedBy>Nikita Markov</cp:lastModifiedBy>
  <cp:revision>45</cp:revision>
  <dcterms:created xsi:type="dcterms:W3CDTF">2025-12-16T07:08:32Z</dcterms:created>
  <dcterms:modified xsi:type="dcterms:W3CDTF">2026-07-02T11:02:45Z</dcterms:modified>
</cp:coreProperties>
</file>