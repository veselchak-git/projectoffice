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74" r:id="rId4"/>
    <p:sldId id="345" r:id="rId5"/>
    <p:sldId id="346" r:id="rId6"/>
    <p:sldId id="347" r:id="rId7"/>
    <p:sldId id="334" r:id="rId8"/>
    <p:sldId id="349" r:id="rId9"/>
    <p:sldId id="350" r:id="rId10"/>
    <p:sldId id="351" r:id="rId11"/>
    <p:sldId id="348" r:id="rId12"/>
    <p:sldId id="35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B1B"/>
    <a:srgbClr val="4E26FA"/>
    <a:srgbClr val="19191A"/>
    <a:srgbClr val="F6F6F6"/>
    <a:srgbClr val="D9D9D9"/>
    <a:srgbClr val="A692FC"/>
    <a:srgbClr val="323131"/>
    <a:srgbClr val="C5C5C5"/>
    <a:srgbClr val="A9A9A9"/>
    <a:srgbClr val="3921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82603"/>
  </p:normalViewPr>
  <p:slideViewPr>
    <p:cSldViewPr snapToGrid="0">
      <p:cViewPr varScale="1">
        <p:scale>
          <a:sx n="104" d="100"/>
          <a:sy n="104" d="100"/>
        </p:scale>
        <p:origin x="3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FBA31-585B-4D2B-A560-AD3613F6F5E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CE8D3-2344-4F0F-BC9A-302BB8DB5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52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D0DC2-B488-C6C7-403F-78AA3540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46033A-9B6D-C3B1-49F8-E0BC7AE7B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D77DD3-4E4B-F9A2-B566-191796C1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994E26-989B-AFE6-F105-589F949E5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665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8689-1A36-7F88-DD6F-20CB84FD1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4F64E5D-C265-70A7-A8BC-95CBE2F62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6004BDE-ABF2-5AE4-86A0-FD5449E4D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92FA52-AC70-9431-FC64-719DFCB4C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136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44B4-E6B8-9B22-B493-E915AA08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33D5D0-B1F3-7F8E-550C-B7331C9F8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2F0097-C0C6-704E-3942-59FCD28E9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914BCA-ACA6-1467-84D6-9E1A8207E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456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388E-0FB1-7CBA-35CC-1B67601D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D11CA36-763C-1362-AADA-3B55590B4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FBEDB4-7B45-C757-75F4-AF7D284AF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4ACB70-CEB7-38D3-5E3C-F0B5B762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87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9EE2A-21F6-A18B-71E4-3961F28BF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1D22F85-9512-F6B9-EA50-0907303CD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3A007B5-CC94-B98A-D67D-A1190AD4F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5BBCDF-D21D-D517-C717-64C9D51F1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16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3560C-608D-FB0B-1686-59363186F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E4D7B46-244F-65D4-6FD7-C0064E3EA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BC4E0BF-0496-FAF2-D5B7-596765BF0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B664C6-72C6-62A6-0548-8A6AC89B0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130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F1B63-3FD2-C5E3-B9F8-79F3859C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B462523-C6A0-F747-36E2-F4E2654A6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99107C8-7214-B818-C078-04FD2EC72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FE2CB9-6213-45E5-F929-9DC1C6110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042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77B96-D320-253C-221E-755D015BB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145CC12-701C-C8C8-9C63-47CA96B45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CE4ABC6-D654-6185-9946-AECFD9C8A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20D965-3141-EA30-5016-2BA516709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955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DEDB1-C4C5-7887-E028-6A2CD2D9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DBEA533-A54F-9C0F-95B7-DA5451F23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327907-FE76-F630-7436-6011B42A7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Можете сами попробовать подключить дополнительные генераторы к примеру для </a:t>
            </a:r>
            <a:r>
              <a:rPr lang="en-US" dirty="0"/>
              <a:t>type provider</a:t>
            </a:r>
            <a:r>
              <a:rPr lang="ru-RU" dirty="0"/>
              <a:t>, но помните, что схема базы данных очень часто сильно отличается от того, что мы отправляем </a:t>
            </a:r>
            <a:r>
              <a:rPr lang="ru-RU"/>
              <a:t>в запросе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B0EEB6-25DB-0CE4-D711-1DB25DF4E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364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BACE7-9428-2AF1-3EA5-2FF007EA9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7B4D34-82B2-DC39-44D3-02E379D8F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1286F-92E3-8AE4-EFC6-C5A61542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3A2ABA-8726-E288-442F-148E963F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DCB54-7BB4-FFB5-3B62-7B431DFF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14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685AC-7CD5-207F-A2C5-1BC3CA6A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E82F9E-6302-B5BF-9CEF-107AD45D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74855C-BF6E-4ABB-27E2-0F71A487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2882D-F15E-81B4-DDE2-34A80912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791136-C9B9-85FC-EDED-3DC2CDF5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10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7EA2E-84A6-EDDF-A654-2A14DFC0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BEAF6-3CE3-8A59-834F-872854F5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00CFB-CC2D-3A8A-8CCB-8E51E0BE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A229E-A3CE-1D30-98C4-8A510D2C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257B9-ADE2-07FF-B407-E72CE769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0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E618E-6198-865A-56FF-9958526A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7C8A33-FFA4-4CD5-4E31-1BFC5E0D2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527F2C-211A-A479-951C-36955BCE4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F9FBBA-E24A-BFFA-9EDE-ADEB010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99AF02-9A93-201E-3DE9-32C67CD7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DD4888-EEFA-E9BE-1315-41A4F372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27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73D4E-697B-E3A2-DF91-307A24E1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888E54-4FE1-E53A-1C54-9F79CBEA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97CC55-6C44-E68A-5F02-545ED0BA4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F37106-1AA3-3472-5779-15DB329EA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503F18-AE90-3517-668E-97B3FB6F6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BABB44-7238-2787-D68B-D7411F5D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B9ADAB-AB91-8A08-09D9-6B7D2731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150C27-065A-4F31-E0DA-C7A6CB89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49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3DF74-EDD1-1F99-1231-F9755499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74E8B6-0EE2-C5B6-0AF6-1A1D1E42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6218CA-D861-0BEA-F182-C742F560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1624C-0C2D-E631-EC86-62111111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81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BFA212-3BA0-0DA8-932F-198B80D8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004B47-9C30-21D9-1D88-1C0AAFA6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CF6953-E26C-E099-AD49-0ED985C0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75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9F35B-62D7-B889-CA0D-08120506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87404-DED5-0FCE-D7CB-5B4CFABE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C19F2-EB93-EAB7-DD52-70012E04D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38A145-70D4-68EE-1333-EAD5E743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4DD476-D381-85D3-C181-10B6D448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2D3A2A-3A38-BB8F-2427-3415A0B1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65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16ACF-46DF-CE16-0F96-DB58A00B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F54011-85DB-B9A9-323D-ED8A89375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596D56-A821-B247-57D3-87F567AEB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8AD66F-F8E9-BD27-BB00-2D95388D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9CC595-B741-DBBE-9800-55429215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31AB64-1B6A-9718-DE33-1E0E6A50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01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5F309-5A48-FFFB-D914-F02C26B6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832717-A1C5-E77E-EC58-913A52884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E2949A-1053-51A3-6D97-4128FE0C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9DB074-1677-5FA6-6CAE-E7FC55A1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7F633-A0BE-3EE8-4E8D-4262A119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14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05F80B-5FD5-342C-5360-C9C1DCC0F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057294-2D6E-632F-8280-F1A255532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C4FFC8-0D80-F9E0-D1D4-0C9AFA8B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85525C-37E1-6A7F-9562-6589D94F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46354A-4D92-4701-5152-687D31C3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84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5426D-6C08-B5C5-4141-E2403A70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56F41-34FC-C563-F59F-5BB4939F6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F407CD-A116-4711-EC69-7038CD40A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D51-AA56-4D0B-BE5E-8435701EB57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6FD68-587F-A48B-A7CE-1B26A674B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C9E4CD-5013-6699-97B9-16BC8AD1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4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B22E659-EE2B-00AB-B918-D55C0947EB2F}"/>
              </a:ext>
            </a:extLst>
          </p:cNvPr>
          <p:cNvSpPr txBox="1"/>
          <p:nvPr/>
        </p:nvSpPr>
        <p:spPr>
          <a:xfrm>
            <a:off x="692585" y="1509155"/>
            <a:ext cx="3591048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Лекция 6</a:t>
            </a:r>
            <a:endParaRPr lang="en-US" sz="4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64016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8C615-A1C8-14AC-FF41-8F6C3C60655F}"/>
              </a:ext>
            </a:extLst>
          </p:cNvPr>
          <p:cNvSpPr txBox="1"/>
          <p:nvPr/>
        </p:nvSpPr>
        <p:spPr>
          <a:xfrm>
            <a:off x="485191" y="584717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SQL, </a:t>
            </a:r>
            <a:r>
              <a:rPr lang="en-US" sz="6600" dirty="0" err="1">
                <a:solidFill>
                  <a:schemeClr val="bg1"/>
                </a:solidFill>
              </a:rPr>
              <a:t>NoSql</a:t>
            </a:r>
            <a:endParaRPr lang="ru-RU" sz="6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168D2-72F0-B0CA-4725-E3BE325B2FD5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432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5120C-07F4-C411-78C7-642D706C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A2C39C-9C03-CEFD-63E4-12284B00F64A}"/>
              </a:ext>
            </a:extLst>
          </p:cNvPr>
          <p:cNvSpPr txBox="1"/>
          <p:nvPr/>
        </p:nvSpPr>
        <p:spPr>
          <a:xfrm>
            <a:off x="470913" y="353287"/>
            <a:ext cx="455567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Зачем нужны БД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46840-1BC1-EC59-61E9-13C27F0EACE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8E008A-30A1-67C7-ACA3-9208E28B6E60}"/>
              </a:ext>
            </a:extLst>
          </p:cNvPr>
          <p:cNvSpPr txBox="1"/>
          <p:nvPr/>
        </p:nvSpPr>
        <p:spPr>
          <a:xfrm>
            <a:off x="470913" y="1120676"/>
            <a:ext cx="106501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Приложению нужно хранить данные дольше, чем живет процесс сервера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База данных сохраняет данные постоянно: пользователи, заявки, заказы, настройки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БД позволяет быстро находить нужные записи по условиям и индексам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Можно безопасно изменять данные: создавать, обновлять, удалять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БД помогает работать с большим количеством данных и пользователей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Транзакции защищают от частично выполненных операций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Ограничения и связи помогают сохранять целостность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Бэкапы и репликация защищают данные от потери</a:t>
            </a:r>
          </a:p>
        </p:txBody>
      </p:sp>
    </p:spTree>
    <p:extLst>
      <p:ext uri="{BB962C8B-B14F-4D97-AF65-F5344CB8AC3E}">
        <p14:creationId xmlns:p14="http://schemas.microsoft.com/office/powerpoint/2010/main" val="3462399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08E4E-40E8-CC8B-CD5F-D18D3E6A2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327FDF-AAB5-390B-CD2A-82423026EC27}"/>
              </a:ext>
            </a:extLst>
          </p:cNvPr>
          <p:cNvSpPr txBox="1"/>
          <p:nvPr/>
        </p:nvSpPr>
        <p:spPr>
          <a:xfrm>
            <a:off x="470913" y="353287"/>
            <a:ext cx="697178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" sz="4800" dirty="0">
                <a:solidFill>
                  <a:srgbClr val="1C1B1B"/>
                </a:solidFill>
              </a:rPr>
              <a:t>SQL </a:t>
            </a:r>
            <a:r>
              <a:rPr lang="ru-RU" sz="4800" dirty="0">
                <a:solidFill>
                  <a:srgbClr val="1C1B1B"/>
                </a:solidFill>
              </a:rPr>
              <a:t>и </a:t>
            </a:r>
            <a:r>
              <a:rPr lang="en" sz="4800" dirty="0">
                <a:solidFill>
                  <a:srgbClr val="1C1B1B"/>
                </a:solidFill>
              </a:rPr>
              <a:t>NoSQL </a:t>
            </a:r>
            <a:r>
              <a:rPr lang="ru-RU" sz="4800" dirty="0">
                <a:solidFill>
                  <a:srgbClr val="1C1B1B"/>
                </a:solidFill>
              </a:rPr>
              <a:t>базы данных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6FB3E1-4624-F452-F17F-8BD4D0D7CB8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6DD788-3813-4EBC-CBE3-ED1B907CE58E}"/>
              </a:ext>
            </a:extLst>
          </p:cNvPr>
          <p:cNvSpPr txBox="1"/>
          <p:nvPr/>
        </p:nvSpPr>
        <p:spPr>
          <a:xfrm>
            <a:off x="470913" y="1120676"/>
            <a:ext cx="1065016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Базы данных отличаются тем, как они хранят и организуют данные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SQL-</a:t>
            </a:r>
            <a:r>
              <a:rPr lang="ru-RU" sz="2400" dirty="0"/>
              <a:t>базы обычно реляционные: данные хранятся в таблицах со строками и колонками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 </a:t>
            </a:r>
            <a:r>
              <a:rPr lang="en" sz="2400" dirty="0"/>
              <a:t>SQL-</a:t>
            </a:r>
            <a:r>
              <a:rPr lang="ru-RU" sz="2400" dirty="0"/>
              <a:t>базах заранее описывается структура таблиц: поля, типы, связи, ограничения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Данные можно связывать между таблицами через ключи и </a:t>
            </a:r>
            <a:r>
              <a:rPr lang="en" sz="2400" dirty="0"/>
              <a:t>JOIN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Примеры </a:t>
            </a:r>
            <a:r>
              <a:rPr lang="en" sz="2400" dirty="0"/>
              <a:t>SQL-</a:t>
            </a:r>
            <a:r>
              <a:rPr lang="ru-RU" sz="2400" dirty="0"/>
              <a:t>БД: </a:t>
            </a:r>
            <a:r>
              <a:rPr lang="en" sz="2400" dirty="0"/>
              <a:t>PostgreSQL, MySQL, SQLite, MS SQL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NoSQL-</a:t>
            </a:r>
            <a:r>
              <a:rPr lang="ru-RU" sz="2400" dirty="0"/>
              <a:t>базы используют другие модели данных: документы, ключ-значение, графы, колонки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NoSQL </a:t>
            </a:r>
            <a:r>
              <a:rPr lang="ru-RU" sz="2400" dirty="0"/>
              <a:t>часто выбирают, когда структура данных гибкая или нужны специфические сценарии масштабирования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Примеры </a:t>
            </a:r>
            <a:r>
              <a:rPr lang="en" sz="2400" dirty="0"/>
              <a:t>NoSQL-</a:t>
            </a:r>
            <a:r>
              <a:rPr lang="ru-RU" sz="2400" dirty="0"/>
              <a:t>БД: </a:t>
            </a:r>
            <a:r>
              <a:rPr lang="en" sz="2400" dirty="0"/>
              <a:t>MongoDB, Redis, Cassandra, Neo4j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Выбор зависит от данных, запросов, консистентности, нагрузки и требований к развитию схемы</a:t>
            </a:r>
          </a:p>
        </p:txBody>
      </p:sp>
    </p:spTree>
    <p:extLst>
      <p:ext uri="{BB962C8B-B14F-4D97-AF65-F5344CB8AC3E}">
        <p14:creationId xmlns:p14="http://schemas.microsoft.com/office/powerpoint/2010/main" val="661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F321C-595B-F082-7F39-E0CDC829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A6FCD9-3C15-E701-71EB-BFC717F44FF5}"/>
              </a:ext>
            </a:extLst>
          </p:cNvPr>
          <p:cNvSpPr txBox="1"/>
          <p:nvPr/>
        </p:nvSpPr>
        <p:spPr>
          <a:xfrm>
            <a:off x="470913" y="353287"/>
            <a:ext cx="859863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ORM - Object-Relational Mapping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C88333-70B3-A1F3-CB4A-452C9129153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4612AF-CA28-9749-E82B-4FDBBC437C4A}"/>
              </a:ext>
            </a:extLst>
          </p:cNvPr>
          <p:cNvSpPr txBox="1"/>
          <p:nvPr/>
        </p:nvSpPr>
        <p:spPr>
          <a:xfrm>
            <a:off x="470913" y="1120676"/>
            <a:ext cx="106501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ORM — </a:t>
            </a:r>
            <a:r>
              <a:rPr lang="ru-RU" sz="2400" dirty="0"/>
              <a:t>способ работать с базой через объекты и методы в коде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Таблица в БД сопоставляется с моделью/классом/сущностью в приложении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Строка таблицы становится объектом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Колонки таблицы становятся полями объекта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ORM </a:t>
            </a:r>
            <a:r>
              <a:rPr lang="ru-RU" sz="2400" dirty="0"/>
              <a:t>генерирует </a:t>
            </a:r>
            <a:r>
              <a:rPr lang="en" sz="2400" dirty="0"/>
              <a:t>SQL-</a:t>
            </a:r>
            <a:r>
              <a:rPr lang="ru-RU" sz="2400" dirty="0"/>
              <a:t>запросы вместо ручного написания </a:t>
            </a:r>
            <a:r>
              <a:rPr lang="en" sz="2400" dirty="0"/>
              <a:t>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ORM </a:t>
            </a:r>
            <a:r>
              <a:rPr lang="ru-RU" sz="2400" dirty="0"/>
              <a:t>помогает описывать связи: </a:t>
            </a:r>
            <a:r>
              <a:rPr lang="en" sz="2400" dirty="0"/>
              <a:t>user -&gt; tickets, order -&gt; items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Часто </a:t>
            </a:r>
            <a:r>
              <a:rPr lang="en" sz="2400" dirty="0"/>
              <a:t>ORM </a:t>
            </a:r>
            <a:r>
              <a:rPr lang="ru-RU" sz="2400" dirty="0"/>
              <a:t>управляет миграциями, схемой БД и типами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Минус: сложные запросы и производительность всё равно требуют понимания </a:t>
            </a:r>
            <a:r>
              <a:rPr lang="en" sz="2400" dirty="0"/>
              <a:t>SQL</a:t>
            </a:r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FC0F86-4FB9-D44E-C650-116603B23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6" y="4547255"/>
            <a:ext cx="4419600" cy="1270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5CFB0A-D53F-8A5F-F9D6-A1874E5BE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6997" y="4515505"/>
            <a:ext cx="53086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0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F7D735-722A-D4F8-5F3B-29C6D762E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1D9FFC-78D9-4408-D71A-CD88903A65DB}"/>
              </a:ext>
            </a:extLst>
          </p:cNvPr>
          <p:cNvSpPr txBox="1"/>
          <p:nvPr/>
        </p:nvSpPr>
        <p:spPr>
          <a:xfrm>
            <a:off x="485191" y="584717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Prisma</a:t>
            </a:r>
            <a:endParaRPr lang="ru-RU" sz="6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D38E9-3195-2FFB-2CDD-BE5A0856735D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2</a:t>
            </a:r>
            <a:endParaRPr lang="ru-RU" sz="65000" dirty="0">
              <a:gradFill>
                <a:gsLst>
                  <a:gs pos="22000">
                    <a:srgbClr val="39219E"/>
                  </a:gs>
                  <a:gs pos="78000">
                    <a:srgbClr val="19191A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10326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DAA58-B8EC-3659-B80A-6C8AB058A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8A2764-F726-50BA-030E-A66033B7EF6A}"/>
              </a:ext>
            </a:extLst>
          </p:cNvPr>
          <p:cNvSpPr txBox="1"/>
          <p:nvPr/>
        </p:nvSpPr>
        <p:spPr>
          <a:xfrm>
            <a:off x="470913" y="353287"/>
            <a:ext cx="329288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Prisma ORM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E7D3C9-41FC-0F31-C7D1-F609CCEE535F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DA8647-046C-2C76-5068-A8D90CE805E1}"/>
              </a:ext>
            </a:extLst>
          </p:cNvPr>
          <p:cNvSpPr txBox="1"/>
          <p:nvPr/>
        </p:nvSpPr>
        <p:spPr>
          <a:xfrm>
            <a:off x="470913" y="1120676"/>
            <a:ext cx="677014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Prisma — ORM </a:t>
            </a:r>
            <a:r>
              <a:rPr lang="ru-RU" sz="2000" dirty="0"/>
              <a:t>и набор инструментов для работы с базой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Позволяет описывать модели данных в файле </a:t>
            </a:r>
            <a:r>
              <a:rPr lang="en" sz="2000" dirty="0" err="1"/>
              <a:t>schema.prisma</a:t>
            </a:r>
            <a:endParaRPr lang="e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На основе схемы генерирует </a:t>
            </a:r>
            <a:r>
              <a:rPr lang="ru-RU" sz="2000" dirty="0" err="1"/>
              <a:t>типобезопасный</a:t>
            </a:r>
            <a:r>
              <a:rPr lang="ru-RU" sz="2000" dirty="0"/>
              <a:t> клиент для </a:t>
            </a:r>
            <a:r>
              <a:rPr lang="en" sz="2000" dirty="0"/>
              <a:t>TypeScript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Вместо ручного </a:t>
            </a:r>
            <a:r>
              <a:rPr lang="en" sz="2000" dirty="0"/>
              <a:t>SQL </a:t>
            </a:r>
            <a:r>
              <a:rPr lang="ru-RU" sz="2000" dirty="0"/>
              <a:t>можно вызывать методы: </a:t>
            </a:r>
            <a:r>
              <a:rPr lang="en" sz="2000" dirty="0" err="1"/>
              <a:t>findMany</a:t>
            </a:r>
            <a:r>
              <a:rPr lang="en" sz="2000" dirty="0"/>
              <a:t>, create, update, delete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Prisma </a:t>
            </a:r>
            <a:r>
              <a:rPr lang="ru-RU" sz="2000" dirty="0"/>
              <a:t>помогает управлять структурой БД через миграции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Поддерживает связи между моделями: </a:t>
            </a:r>
            <a:r>
              <a:rPr lang="en" sz="2000" dirty="0"/>
              <a:t>User, Ticket, Comment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Работает с </a:t>
            </a:r>
            <a:r>
              <a:rPr lang="en" sz="2000" dirty="0"/>
              <a:t>PostgreSQL, MySQL, SQLite, SQL Server, MongoDB </a:t>
            </a:r>
            <a:r>
              <a:rPr lang="ru-RU" sz="2000" dirty="0"/>
              <a:t>и другими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Главная идея: схема БД, типы и запросы связаны между собой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22B977-59A4-73CA-2811-F5C44AB7F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578" y="831776"/>
            <a:ext cx="4501979" cy="15859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E4572F-8063-1608-4E13-D60B20E3E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493" y="3238893"/>
            <a:ext cx="4501979" cy="152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62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6AD3D-BF34-11A2-6AC2-CBC249DB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13C223-899E-28EF-BE35-947015EAE9E1}"/>
              </a:ext>
            </a:extLst>
          </p:cNvPr>
          <p:cNvSpPr txBox="1"/>
          <p:nvPr/>
        </p:nvSpPr>
        <p:spPr>
          <a:xfrm>
            <a:off x="470913" y="353287"/>
            <a:ext cx="364715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Prisma Model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576DF2-4774-424E-AA6B-C442BE19FD38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114497-CDD8-37B3-D0C6-E88AED51C66E}"/>
              </a:ext>
            </a:extLst>
          </p:cNvPr>
          <p:cNvSpPr txBox="1"/>
          <p:nvPr/>
        </p:nvSpPr>
        <p:spPr>
          <a:xfrm>
            <a:off x="470913" y="1120676"/>
            <a:ext cx="522555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Модель </a:t>
            </a:r>
            <a:r>
              <a:rPr lang="en" sz="2000" dirty="0"/>
              <a:t>Prisma </a:t>
            </a:r>
            <a:r>
              <a:rPr lang="ru-RU" sz="2000" dirty="0"/>
              <a:t>описывает сущность предметной области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 реляционной БД модель обычно превращается в таблицу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Поля модели становятся колонками таблицы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Каждое поле имеет тип: </a:t>
            </a:r>
            <a:r>
              <a:rPr lang="en" sz="2000" dirty="0"/>
              <a:t>String, Int, Boolean, </a:t>
            </a:r>
            <a:r>
              <a:rPr lang="en" sz="2000" dirty="0" err="1"/>
              <a:t>DateTime</a:t>
            </a:r>
            <a:endParaRPr lang="e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@id </a:t>
            </a:r>
            <a:r>
              <a:rPr lang="ru-RU" sz="2000" dirty="0"/>
              <a:t>помечает первичный ключ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default(...) </a:t>
            </a:r>
            <a:r>
              <a:rPr lang="ru-RU" sz="2000" dirty="0"/>
              <a:t>задает значение по умолчанию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@</a:t>
            </a:r>
            <a:r>
              <a:rPr lang="en" sz="2000" dirty="0"/>
              <a:t>unique </a:t>
            </a:r>
            <a:r>
              <a:rPr lang="ru-RU" sz="2000" dirty="0"/>
              <a:t>добавляет ограничение уникальности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Связи между моделями описываются через </a:t>
            </a:r>
            <a:r>
              <a:rPr lang="en" sz="2000" dirty="0"/>
              <a:t>relation fields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По моделям </a:t>
            </a:r>
            <a:r>
              <a:rPr lang="en" sz="2000" dirty="0"/>
              <a:t>Prisma </a:t>
            </a:r>
            <a:r>
              <a:rPr lang="ru-RU" sz="2000" dirty="0"/>
              <a:t>генерирует типы и методы клиента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0C0418-01F3-7921-6C0D-8BF5A5B99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420" y="1120676"/>
            <a:ext cx="6054985" cy="39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98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1CCE7-060B-7FDD-D34C-C58CD155E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568AB8F-EB9E-2209-60A3-A222ED2B516B}"/>
              </a:ext>
            </a:extLst>
          </p:cNvPr>
          <p:cNvSpPr txBox="1"/>
          <p:nvPr/>
        </p:nvSpPr>
        <p:spPr>
          <a:xfrm>
            <a:off x="470913" y="353287"/>
            <a:ext cx="447039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Prisma Migration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6F707B-BE79-49A2-4F8C-00BE145C5624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775745-659B-7D57-A0F4-918805C80092}"/>
              </a:ext>
            </a:extLst>
          </p:cNvPr>
          <p:cNvSpPr txBox="1"/>
          <p:nvPr/>
        </p:nvSpPr>
        <p:spPr>
          <a:xfrm>
            <a:off x="470912" y="1120676"/>
            <a:ext cx="562508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Миграция — файл с изменениями структуры базы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Она описывает, что нужно создать, изменить или удалить в схеме БД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Например: добавить таблицу, колонку, индекс, связь или ограничение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Миграции позволяют синхронизировать БД у всех разработчиков и на сервере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История миграций хранится в проекте вместе с кодом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Каждая миграция применяется один раз и фиксирует конкретный шаг изменения схемы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Без миграций сложно понять, какая структура БД должна быть в окружении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 </a:t>
            </a:r>
            <a:r>
              <a:rPr lang="en" sz="2000" dirty="0"/>
              <a:t>Prisma </a:t>
            </a:r>
            <a:r>
              <a:rPr lang="ru-RU" sz="2000" dirty="0"/>
              <a:t>миграции создаются на основе изменений в </a:t>
            </a:r>
            <a:r>
              <a:rPr lang="en" sz="2000" dirty="0" err="1"/>
              <a:t>schema.prisma</a:t>
            </a:r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B03921-0E32-3BAF-237F-723A0CE4A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20676"/>
            <a:ext cx="51562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96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0EACA-48A8-CCCB-59E7-95C59470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78518F-82B7-6FDF-5FB2-2A2FC69E4B8D}"/>
              </a:ext>
            </a:extLst>
          </p:cNvPr>
          <p:cNvSpPr txBox="1"/>
          <p:nvPr/>
        </p:nvSpPr>
        <p:spPr>
          <a:xfrm>
            <a:off x="470913" y="353287"/>
            <a:ext cx="432310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Prisma Relations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6BFBE9-CC3F-F9ED-19C9-B1025F163063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0CB4B4-B6FF-4189-BDD6-B26940873F15}"/>
              </a:ext>
            </a:extLst>
          </p:cNvPr>
          <p:cNvSpPr txBox="1"/>
          <p:nvPr/>
        </p:nvSpPr>
        <p:spPr>
          <a:xfrm>
            <a:off x="470912" y="1120676"/>
            <a:ext cx="562508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Relation — </a:t>
            </a:r>
            <a:r>
              <a:rPr lang="ru-RU" sz="2000" dirty="0"/>
              <a:t>связь между сущностями в базе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Связи помогают описывать реальные зависимости: пользователь создает заявки, заявка имеет комментарии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 реляционной БД связь обычно строится через внешний ключ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 </a:t>
            </a:r>
            <a:r>
              <a:rPr lang="en" sz="2000" dirty="0"/>
              <a:t>Prisma relation </a:t>
            </a:r>
            <a:r>
              <a:rPr lang="ru-RU" sz="2000" dirty="0"/>
              <a:t>описывается полями моделей и @</a:t>
            </a:r>
            <a:r>
              <a:rPr lang="en" sz="2000" dirty="0"/>
              <a:t>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One-to-one: </a:t>
            </a:r>
            <a:r>
              <a:rPr lang="ru-RU" sz="2000" dirty="0"/>
              <a:t>одна запись связана с одной записью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One-to-many: </a:t>
            </a:r>
            <a:r>
              <a:rPr lang="ru-RU" sz="2000" dirty="0"/>
              <a:t>одна запись связана со многими записями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000" dirty="0"/>
              <a:t>Many-to-many: </a:t>
            </a:r>
            <a:r>
              <a:rPr lang="ru-RU" sz="2000" dirty="0"/>
              <a:t>многие записи связаны со многими записями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Через </a:t>
            </a:r>
            <a:r>
              <a:rPr lang="en" sz="2000" dirty="0"/>
              <a:t>relation </a:t>
            </a:r>
            <a:r>
              <a:rPr lang="ru-RU" sz="2000" dirty="0"/>
              <a:t>можно загружать связанные данные вместе с основной сущностью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7ADD94-2C06-8B4C-7406-A7674BB7F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21437"/>
            <a:ext cx="5986660" cy="492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79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05AE5F-4A23-8B99-1361-4A170B8A4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4D6873A-483C-EB9A-920D-98E7EF556CAA}"/>
              </a:ext>
            </a:extLst>
          </p:cNvPr>
          <p:cNvSpPr txBox="1"/>
          <p:nvPr/>
        </p:nvSpPr>
        <p:spPr>
          <a:xfrm>
            <a:off x="470913" y="353287"/>
            <a:ext cx="666374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Prisma </a:t>
            </a:r>
            <a:r>
              <a:rPr lang="ru-RU" sz="4800" dirty="0">
                <a:solidFill>
                  <a:srgbClr val="1C1B1B"/>
                </a:solidFill>
              </a:rPr>
              <a:t>+ </a:t>
            </a:r>
            <a:r>
              <a:rPr lang="en-US" sz="4800" dirty="0" err="1">
                <a:solidFill>
                  <a:srgbClr val="1C1B1B"/>
                </a:solidFill>
              </a:rPr>
              <a:t>Fastify</a:t>
            </a:r>
            <a:r>
              <a:rPr lang="en-US" sz="4800" dirty="0">
                <a:solidFill>
                  <a:srgbClr val="1C1B1B"/>
                </a:solidFill>
              </a:rPr>
              <a:t> decorator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B1F6C7-35DD-01E3-33B1-4FF699AD6F31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DF2AED-02B0-C749-7AFE-9DF48B611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5" y="1110417"/>
            <a:ext cx="9548527" cy="469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69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C960-1157-B17F-E0FD-97E442364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9ACBC-C344-65B6-DEA6-148B12044E83}"/>
              </a:ext>
            </a:extLst>
          </p:cNvPr>
          <p:cNvSpPr txBox="1"/>
          <p:nvPr/>
        </p:nvSpPr>
        <p:spPr>
          <a:xfrm>
            <a:off x="470913" y="353287"/>
            <a:ext cx="447847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Prisma generator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A48E9C-B320-8839-AE44-8E161274E578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1EE3C-D60F-D79D-91CB-95BCD7151856}"/>
              </a:ext>
            </a:extLst>
          </p:cNvPr>
          <p:cNvSpPr txBox="1"/>
          <p:nvPr/>
        </p:nvSpPr>
        <p:spPr>
          <a:xfrm>
            <a:off x="470913" y="1110417"/>
            <a:ext cx="731384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prisma</a:t>
            </a:r>
            <a:r>
              <a:rPr lang="en" dirty="0"/>
              <a:t> generate </a:t>
            </a:r>
            <a:r>
              <a:rPr lang="ru-RU" dirty="0"/>
              <a:t>запускает все генераторы из </a:t>
            </a:r>
            <a:r>
              <a:rPr lang="en" dirty="0" err="1"/>
              <a:t>schema.prisma</a:t>
            </a:r>
            <a:r>
              <a:rPr lang="e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Prisma Client — </a:t>
            </a:r>
            <a:r>
              <a:rPr lang="ru-RU" dirty="0"/>
              <a:t>стандартный, но не единственный генератор.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Генератор читает метаданные </a:t>
            </a:r>
            <a:r>
              <a:rPr lang="en" dirty="0"/>
              <a:t>Prisma-</a:t>
            </a:r>
            <a:r>
              <a:rPr lang="ru-RU" dirty="0"/>
              <a:t>моделей и создаёт код во время сборки.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Можно генерировать </a:t>
            </a:r>
            <a:r>
              <a:rPr lang="en" dirty="0"/>
              <a:t>TypeScript-</a:t>
            </a:r>
            <a:r>
              <a:rPr lang="ru-RU" dirty="0"/>
              <a:t>типы, </a:t>
            </a:r>
            <a:r>
              <a:rPr lang="en" dirty="0" err="1"/>
              <a:t>TypeBox</a:t>
            </a:r>
            <a:r>
              <a:rPr lang="en" dirty="0"/>
              <a:t>/Zod-</a:t>
            </a:r>
            <a:r>
              <a:rPr lang="ru-RU" dirty="0"/>
              <a:t>схемы, </a:t>
            </a:r>
            <a:r>
              <a:rPr lang="en" dirty="0"/>
              <a:t>DTO </a:t>
            </a:r>
            <a:r>
              <a:rPr lang="ru-RU" dirty="0"/>
              <a:t>и документацию.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Генерация идёт из </a:t>
            </a:r>
            <a:r>
              <a:rPr lang="en" dirty="0" err="1"/>
              <a:t>schema.prisma</a:t>
            </a:r>
            <a:r>
              <a:rPr lang="en" dirty="0"/>
              <a:t>, </a:t>
            </a:r>
            <a:r>
              <a:rPr lang="ru-RU" dirty="0"/>
              <a:t>а не из </a:t>
            </a:r>
            <a:r>
              <a:rPr lang="en" dirty="0"/>
              <a:t>TypeScript-</a:t>
            </a:r>
            <a:r>
              <a:rPr lang="ru-RU" dirty="0"/>
              <a:t>типов </a:t>
            </a:r>
            <a:r>
              <a:rPr lang="en" dirty="0"/>
              <a:t>Prisma Client.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Несколько генераторов могут работать параллельно от одной модели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Сгенерированные </a:t>
            </a:r>
            <a:r>
              <a:rPr lang="en" dirty="0"/>
              <a:t>runtime-</a:t>
            </a:r>
            <a:r>
              <a:rPr lang="ru-RU" dirty="0"/>
              <a:t>схемы можно использовать в </a:t>
            </a:r>
            <a:r>
              <a:rPr lang="en" dirty="0" err="1"/>
              <a:t>Fastify</a:t>
            </a:r>
            <a:r>
              <a:rPr lang="en" dirty="0"/>
              <a:t> </a:t>
            </a:r>
            <a:r>
              <a:rPr lang="ru-RU" dirty="0"/>
              <a:t>и </a:t>
            </a:r>
            <a:r>
              <a:rPr lang="en" dirty="0"/>
              <a:t>Swagger.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API DTO </a:t>
            </a:r>
            <a:r>
              <a:rPr lang="ru-RU" dirty="0"/>
              <a:t>всё равно требуют контроля: поля БД не равны публичному контракту.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После изменения </a:t>
            </a:r>
            <a:r>
              <a:rPr lang="en" dirty="0"/>
              <a:t>Prisma-</a:t>
            </a:r>
            <a:r>
              <a:rPr lang="ru-RU" dirty="0"/>
              <a:t>модели необходимо повторно выполнить </a:t>
            </a:r>
            <a:r>
              <a:rPr lang="en" dirty="0" err="1"/>
              <a:t>prisma</a:t>
            </a:r>
            <a:r>
              <a:rPr lang="en" dirty="0"/>
              <a:t> generate.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Сторонний генератор — дополнительная зависимость и риск несовместимости версий.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8079A1-1FD1-E27B-8E1F-0911B93B4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689" y="1110417"/>
            <a:ext cx="4321311" cy="286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58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2667</TotalTime>
  <Words>765</Words>
  <Application>Microsoft Macintosh PowerPoint</Application>
  <PresentationFormat>Широкоэкранный</PresentationFormat>
  <Paragraphs>102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Svetlana Tretyakova</dc:creator>
  <cp:lastModifiedBy>Nikita Markov</cp:lastModifiedBy>
  <cp:revision>53</cp:revision>
  <dcterms:created xsi:type="dcterms:W3CDTF">2025-12-16T07:08:32Z</dcterms:created>
  <dcterms:modified xsi:type="dcterms:W3CDTF">2026-06-23T16:14:52Z</dcterms:modified>
</cp:coreProperties>
</file>