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345" r:id="rId4"/>
    <p:sldId id="346" r:id="rId5"/>
    <p:sldId id="352" r:id="rId6"/>
    <p:sldId id="353" r:id="rId7"/>
    <p:sldId id="354" r:id="rId8"/>
    <p:sldId id="357" r:id="rId9"/>
    <p:sldId id="356" r:id="rId10"/>
    <p:sldId id="358" r:id="rId11"/>
    <p:sldId id="359" r:id="rId12"/>
    <p:sldId id="360" r:id="rId13"/>
    <p:sldId id="36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82603"/>
  </p:normalViewPr>
  <p:slideViewPr>
    <p:cSldViewPr snapToGrid="0">
      <p:cViewPr varScale="1">
        <p:scale>
          <a:sx n="104" d="100"/>
          <a:sy n="104" d="100"/>
        </p:scale>
        <p:origin x="3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8689-1A36-7F88-DD6F-20CB84FD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F64E5D-C265-70A7-A8BC-95CBE2F62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6004BDE-ABF2-5AE4-86A0-FD5449E4D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92FA52-AC70-9431-FC64-719DFCB4C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13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44B4-E6B8-9B22-B493-E915AA08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33D5D0-B1F3-7F8E-550C-B7331C9F8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2F0097-C0C6-704E-3942-59FCD28E9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914BCA-ACA6-1467-84D6-9E1A8207E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45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5218-C6FC-4767-3503-FD3228FD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ADC0E8-B91A-E3F8-5E85-AF573094C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0E403CD-65F2-D484-4D13-489169076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EA06DA-78D6-59C7-3A43-876185CDA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282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BA44-6DAA-9613-8E85-C060FAE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AB540E-143D-DF92-CF5E-B4F0972C1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409D9B5-5FE4-28D4-65DE-400430593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5CD607-F284-0A51-5D8A-6340E49DC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21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7600-6140-0BD4-C312-86B489F2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903B5B-33CB-9EAA-4A7D-4D2815063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75CD7A-1978-E211-4BB5-6C487E6DC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810E47-1A09-6065-CC1E-BCA37AF98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733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52A9-0154-293C-EBD6-E2F83C5F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874597-30D3-F1BE-1EED-6CD598757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5CE21F-3B74-E13D-1046-62EAE5A01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9BAB00-B3A5-A13E-9E63-8E951927C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720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8DDB-1758-36B9-921B-6DF903E6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04CDFB-C679-690F-4892-1AD1BD9BE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4080A77-CE06-A410-564B-61ED0F24F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409F20-3CFE-2B89-66EE-C3B8C21F9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259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A00E-0BCF-3F41-C2BA-89CAEB08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DEBCF2-5EC8-F16B-853F-B744A738E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7FFA11-5F37-5733-9C09-28E875DB4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830B3-96F6-9A9E-DAFD-DB26252F0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808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EF83-0225-9DA2-F39D-E6F1152F9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F9B53F-10CE-1702-3B10-001478773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E8518C-28BF-87BC-1D86-BC6BBEEA1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81962E-43F4-E4C7-37EB-994D8B7B4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16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803F-4FAA-3221-AE5E-309798E2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209C75A-C156-2F72-7011-EEC1F449F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FA0E4C-C2FD-B30A-E168-A8BCC89DE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Отдельно стоит проговорить про ошибки и локализацию – частый вариант когда вместо с информацией об ошибки с </a:t>
            </a:r>
            <a:r>
              <a:rPr lang="ru-RU" dirty="0" err="1"/>
              <a:t>бекенда</a:t>
            </a:r>
            <a:r>
              <a:rPr lang="ru-RU" dirty="0"/>
              <a:t> уходит что то вроде </a:t>
            </a:r>
            <a:r>
              <a:rPr lang="en-US" dirty="0" err="1"/>
              <a:t>localizationKey</a:t>
            </a:r>
            <a:r>
              <a:rPr lang="en-US" dirty="0"/>
              <a:t> </a:t>
            </a:r>
            <a:r>
              <a:rPr lang="ru-RU" dirty="0"/>
              <a:t>который потом используется в </a:t>
            </a:r>
            <a:r>
              <a:rPr lang="en-US" dirty="0"/>
              <a:t>i18next </a:t>
            </a:r>
            <a:r>
              <a:rPr lang="ru-RU" dirty="0"/>
              <a:t>для показа </a:t>
            </a:r>
            <a:r>
              <a:rPr lang="ru-RU" dirty="0" err="1"/>
              <a:t>модалки</a:t>
            </a:r>
            <a:r>
              <a:rPr lang="ru-RU" dirty="0"/>
              <a:t> или другого действия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81EF44-0737-1DB9-8920-EB2E01A61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291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532C-7061-E354-BB36-3487254DE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E7FB2A1-1A77-8D9B-CD3B-7199D0A52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3D6098-88A4-113C-9C1D-1FEA07BA9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6AC6CE-8290-FAFB-2693-133C28AAF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31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8099205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</a:t>
            </a:r>
            <a:r>
              <a:rPr lang="en-US" sz="4800" dirty="0">
                <a:solidFill>
                  <a:schemeClr val="bg1"/>
                </a:solidFill>
              </a:rPr>
              <a:t>7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Аутентификация, авторизация</a:t>
            </a: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3" y="353287"/>
            <a:ext cx="793159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Authentication </a:t>
            </a:r>
            <a:r>
              <a:rPr lang="ru-RU" sz="4800" dirty="0">
                <a:solidFill>
                  <a:srgbClr val="1C1B1B"/>
                </a:solidFill>
              </a:rPr>
              <a:t>и </a:t>
            </a:r>
            <a:r>
              <a:rPr lang="en" sz="4800" dirty="0">
                <a:solidFill>
                  <a:srgbClr val="1C1B1B"/>
                </a:solidFill>
              </a:rPr>
              <a:t>Authorization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E008A-30A1-67C7-ACA3-9208E28B6E60}"/>
              </a:ext>
            </a:extLst>
          </p:cNvPr>
          <p:cNvSpPr txBox="1"/>
          <p:nvPr/>
        </p:nvSpPr>
        <p:spPr>
          <a:xfrm>
            <a:off x="470913" y="1120676"/>
            <a:ext cx="106501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Приложению нужно понимать, кто пользователь и что ему разрешено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Authentication </a:t>
            </a:r>
            <a:r>
              <a:rPr lang="ru-RU" sz="2400" dirty="0"/>
              <a:t>отвечает на вопрос: «Кто ты?»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Пример: пользователь вводит </a:t>
            </a:r>
            <a:r>
              <a:rPr lang="en" sz="2400" dirty="0"/>
              <a:t>email/password </a:t>
            </a:r>
            <a:r>
              <a:rPr lang="ru-RU" sz="2400" dirty="0"/>
              <a:t>и подтверждает свою личность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Authorization </a:t>
            </a:r>
            <a:r>
              <a:rPr lang="ru-RU" sz="2400" dirty="0"/>
              <a:t>отвечает на вопрос: «Что тебе можно делать?»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Пример: пользователь вошел в систему, но не может открыть админку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Backend </a:t>
            </a:r>
            <a:r>
              <a:rPr lang="ru-RU" sz="2400" dirty="0"/>
              <a:t>обязан проверять и личность, и права доступа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Frontend </a:t>
            </a:r>
            <a:r>
              <a:rPr lang="ru-RU" sz="2400" dirty="0"/>
              <a:t>использует </a:t>
            </a:r>
            <a:r>
              <a:rPr lang="en" sz="2400" dirty="0"/>
              <a:t>auth-</a:t>
            </a:r>
            <a:r>
              <a:rPr lang="ru-RU" sz="2400" dirty="0"/>
              <a:t>данные для </a:t>
            </a:r>
            <a:r>
              <a:rPr lang="en" sz="2400" dirty="0"/>
              <a:t>UX: </a:t>
            </a:r>
            <a:r>
              <a:rPr lang="ru-RU" sz="2400" dirty="0"/>
              <a:t>скрывает страницы, кнопки и недоступные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08E4E-40E8-CC8B-CD5F-D18D3E6A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327FDF-AAB5-390B-CD2A-82423026EC27}"/>
              </a:ext>
            </a:extLst>
          </p:cNvPr>
          <p:cNvSpPr txBox="1"/>
          <p:nvPr/>
        </p:nvSpPr>
        <p:spPr>
          <a:xfrm>
            <a:off x="470913" y="353287"/>
            <a:ext cx="275505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Login flow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6FB3E1-4624-F452-F17F-8BD4D0D7CB8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DD788-3813-4EBC-CBE3-ED1B907CE58E}"/>
              </a:ext>
            </a:extLst>
          </p:cNvPr>
          <p:cNvSpPr txBox="1"/>
          <p:nvPr/>
        </p:nvSpPr>
        <p:spPr>
          <a:xfrm>
            <a:off x="470913" y="1120676"/>
            <a:ext cx="106501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Пользователь вводит </a:t>
            </a:r>
            <a:r>
              <a:rPr lang="en" sz="2400" dirty="0"/>
              <a:t>email </a:t>
            </a:r>
            <a:r>
              <a:rPr lang="ru-RU" sz="2400" dirty="0"/>
              <a:t>и </a:t>
            </a:r>
            <a:r>
              <a:rPr lang="en" sz="2400" dirty="0"/>
              <a:t>password </a:t>
            </a:r>
            <a:r>
              <a:rPr lang="ru-RU" sz="2400" dirty="0"/>
              <a:t>на </a:t>
            </a:r>
            <a:r>
              <a:rPr lang="en" sz="2400" dirty="0"/>
              <a:t>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Frontend </a:t>
            </a:r>
            <a:r>
              <a:rPr lang="ru-RU" sz="2400" dirty="0"/>
              <a:t>отправляет </a:t>
            </a:r>
            <a:r>
              <a:rPr lang="en" sz="2400" dirty="0"/>
              <a:t>credentials </a:t>
            </a:r>
            <a:r>
              <a:rPr lang="ru-RU" sz="2400" dirty="0"/>
              <a:t>на </a:t>
            </a:r>
            <a:r>
              <a:rPr lang="en" sz="2400" dirty="0"/>
              <a:t>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Backend </a:t>
            </a:r>
            <a:r>
              <a:rPr lang="ru-RU" sz="2400" dirty="0"/>
              <a:t>находит пользователя по </a:t>
            </a:r>
            <a:r>
              <a:rPr lang="en" sz="2400" dirty="0"/>
              <a:t>email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Backend </a:t>
            </a:r>
            <a:r>
              <a:rPr lang="ru-RU" sz="2400" dirty="0"/>
              <a:t>сравнивает </a:t>
            </a:r>
            <a:r>
              <a:rPr lang="en" sz="2400" dirty="0"/>
              <a:t>password </a:t>
            </a:r>
            <a:r>
              <a:rPr lang="ru-RU" sz="2400" dirty="0"/>
              <a:t>с сохраненным </a:t>
            </a:r>
            <a:r>
              <a:rPr lang="en" sz="2400" dirty="0"/>
              <a:t>password hash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данные неверные, </a:t>
            </a:r>
            <a:r>
              <a:rPr lang="en" sz="2400" dirty="0"/>
              <a:t>backend </a:t>
            </a:r>
            <a:r>
              <a:rPr lang="ru-RU" sz="2400" dirty="0"/>
              <a:t>возвращает ошибку авторизации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данные верные, </a:t>
            </a:r>
            <a:r>
              <a:rPr lang="en" sz="2400" dirty="0"/>
              <a:t>backend </a:t>
            </a:r>
            <a:r>
              <a:rPr lang="ru-RU" sz="2400" dirty="0"/>
              <a:t>создает </a:t>
            </a:r>
            <a:r>
              <a:rPr lang="en" sz="2400" dirty="0"/>
              <a:t>session </a:t>
            </a:r>
            <a:r>
              <a:rPr lang="ru-RU" sz="2400" dirty="0"/>
              <a:t>или выдает </a:t>
            </a:r>
            <a:r>
              <a:rPr lang="en" sz="2400" dirty="0"/>
              <a:t>tokens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Frontend </a:t>
            </a:r>
            <a:r>
              <a:rPr lang="ru-RU" sz="2400" dirty="0"/>
              <a:t>сохраняет </a:t>
            </a:r>
            <a:r>
              <a:rPr lang="en" sz="2400" dirty="0"/>
              <a:t>auth state </a:t>
            </a:r>
            <a:r>
              <a:rPr lang="ru-RU" sz="2400" dirty="0"/>
              <a:t>и понимает, что пользователь вошел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Следующие запросы отправляются уже как </a:t>
            </a:r>
            <a:r>
              <a:rPr lang="en" sz="2400" dirty="0"/>
              <a:t>authenticated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61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F321C-595B-F082-7F39-E0CDC829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A6FCD9-3C15-E701-71EB-BFC717F44FF5}"/>
              </a:ext>
            </a:extLst>
          </p:cNvPr>
          <p:cNvSpPr txBox="1"/>
          <p:nvPr/>
        </p:nvSpPr>
        <p:spPr>
          <a:xfrm>
            <a:off x="470913" y="353287"/>
            <a:ext cx="214815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Пароли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C88333-70B3-A1F3-CB4A-452C9129153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4612AF-CA28-9749-E82B-4FDBBC437C4A}"/>
              </a:ext>
            </a:extLst>
          </p:cNvPr>
          <p:cNvSpPr txBox="1"/>
          <p:nvPr/>
        </p:nvSpPr>
        <p:spPr>
          <a:xfrm>
            <a:off x="470913" y="1120676"/>
            <a:ext cx="106501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Пароль нельзя хранить в базе в открытом виде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Пароль не шифруют для хранения, а </a:t>
            </a:r>
            <a:r>
              <a:rPr lang="ru-RU" sz="2400" dirty="0" err="1"/>
              <a:t>хешируют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Hash — </a:t>
            </a:r>
            <a:r>
              <a:rPr lang="ru-RU" sz="2400" dirty="0"/>
              <a:t>необратимое преобразование: из </a:t>
            </a:r>
            <a:r>
              <a:rPr lang="en" sz="2400" dirty="0"/>
              <a:t>hash </a:t>
            </a:r>
            <a:r>
              <a:rPr lang="ru-RU" sz="2400" dirty="0"/>
              <a:t>нельзя получить исходный пароль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 </a:t>
            </a:r>
            <a:r>
              <a:rPr lang="en" sz="2400" dirty="0"/>
              <a:t>login backend </a:t>
            </a:r>
            <a:r>
              <a:rPr lang="ru-RU" sz="2400" dirty="0"/>
              <a:t>проверяет: подходит ли введенный пароль к сохраненному </a:t>
            </a:r>
            <a:r>
              <a:rPr lang="en" sz="2400" dirty="0"/>
              <a:t>hash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Salt </a:t>
            </a:r>
            <a:r>
              <a:rPr lang="ru-RU" sz="2400" dirty="0"/>
              <a:t>делает </a:t>
            </a:r>
            <a:r>
              <a:rPr lang="en" sz="2400" dirty="0"/>
              <a:t>hash </a:t>
            </a:r>
            <a:r>
              <a:rPr lang="ru-RU" sz="2400" dirty="0"/>
              <a:t>уникальным даже для одинаковых паролей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md5, sha256 </a:t>
            </a:r>
            <a:r>
              <a:rPr lang="ru-RU" sz="2400" dirty="0"/>
              <a:t>и похожие алгоритмы созданы для быстрой проверки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паролей скорость — проблема: атакующий может проверять миллионы вариантов в секунду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 err="1"/>
              <a:t>bcrypt</a:t>
            </a:r>
            <a:r>
              <a:rPr lang="en" sz="2400" dirty="0"/>
              <a:t>, argon2, </a:t>
            </a:r>
            <a:r>
              <a:rPr lang="en" sz="2400" dirty="0" err="1"/>
              <a:t>scrypt</a:t>
            </a:r>
            <a:r>
              <a:rPr lang="en" sz="2400" dirty="0"/>
              <a:t> </a:t>
            </a:r>
            <a:r>
              <a:rPr lang="ru-RU" sz="2400" dirty="0"/>
              <a:t>специально делают подбор дорогим по времени и/или памяти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пользователя одна проверка почти незаметна, а массовый </a:t>
            </a:r>
            <a:r>
              <a:rPr lang="en" sz="2400" dirty="0"/>
              <a:t>brute force </a:t>
            </a:r>
            <a:r>
              <a:rPr lang="ru-RU" sz="2400" dirty="0"/>
              <a:t>становится намного сложнее</a:t>
            </a:r>
          </a:p>
        </p:txBody>
      </p:sp>
    </p:spTree>
    <p:extLst>
      <p:ext uri="{BB962C8B-B14F-4D97-AF65-F5344CB8AC3E}">
        <p14:creationId xmlns:p14="http://schemas.microsoft.com/office/powerpoint/2010/main" val="37720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AA537-6C46-ED08-8CEA-AD8BFCA8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BBCD79-D9D0-253D-4D71-ACD411908B39}"/>
              </a:ext>
            </a:extLst>
          </p:cNvPr>
          <p:cNvSpPr txBox="1"/>
          <p:nvPr/>
        </p:nvSpPr>
        <p:spPr>
          <a:xfrm>
            <a:off x="470913" y="353287"/>
            <a:ext cx="403347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Варианты </a:t>
            </a:r>
            <a:r>
              <a:rPr lang="en" sz="4800" dirty="0">
                <a:solidFill>
                  <a:srgbClr val="1C1B1B"/>
                </a:solidFill>
              </a:rPr>
              <a:t>auth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7BF64-5665-B010-F96D-4D7940B2892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73EA1A-312D-67EC-5DE0-11582CFBA924}"/>
              </a:ext>
            </a:extLst>
          </p:cNvPr>
          <p:cNvSpPr txBox="1"/>
          <p:nvPr/>
        </p:nvSpPr>
        <p:spPr>
          <a:xfrm>
            <a:off x="470913" y="1120676"/>
            <a:ext cx="1065016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dirty="0"/>
              <a:t>Session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Backend </a:t>
            </a:r>
            <a:r>
              <a:rPr lang="ru-RU" dirty="0"/>
              <a:t>хранит </a:t>
            </a:r>
            <a:r>
              <a:rPr lang="en" dirty="0"/>
              <a:t>session </a:t>
            </a:r>
            <a:r>
              <a:rPr lang="ru-RU" dirty="0"/>
              <a:t>в базе, </a:t>
            </a:r>
            <a:r>
              <a:rPr lang="en" dirty="0"/>
              <a:t>Redis </a:t>
            </a:r>
            <a:r>
              <a:rPr lang="ru-RU" dirty="0"/>
              <a:t>или памяти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Browser </a:t>
            </a:r>
            <a:r>
              <a:rPr lang="ru-RU" dirty="0"/>
              <a:t>хранит только </a:t>
            </a:r>
            <a:r>
              <a:rPr lang="en" dirty="0" err="1"/>
              <a:t>session_id</a:t>
            </a:r>
            <a:r>
              <a:rPr lang="en" dirty="0"/>
              <a:t>, </a:t>
            </a:r>
            <a:r>
              <a:rPr lang="ru-RU" dirty="0"/>
              <a:t>чаще всего в </a:t>
            </a:r>
            <a:r>
              <a:rPr lang="en" dirty="0"/>
              <a:t>cookie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На каждый запрос </a:t>
            </a:r>
            <a:r>
              <a:rPr lang="en" dirty="0"/>
              <a:t>backend </a:t>
            </a:r>
            <a:r>
              <a:rPr lang="ru-RU" dirty="0"/>
              <a:t>ищет </a:t>
            </a:r>
            <a:r>
              <a:rPr lang="en" dirty="0"/>
              <a:t>session </a:t>
            </a:r>
            <a:r>
              <a:rPr lang="ru-RU" dirty="0"/>
              <a:t>и понимает, кто пользователь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dirty="0"/>
              <a:t>JWT access token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Backend </a:t>
            </a:r>
            <a:r>
              <a:rPr lang="ru-RU" dirty="0"/>
              <a:t>выдает подписанный </a:t>
            </a:r>
            <a:r>
              <a:rPr lang="en" dirty="0"/>
              <a:t>token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Клиент хранит </a:t>
            </a:r>
            <a:r>
              <a:rPr lang="en" dirty="0"/>
              <a:t>token </a:t>
            </a:r>
            <a:r>
              <a:rPr lang="ru-RU" dirty="0"/>
              <a:t>и отправляет его в </a:t>
            </a:r>
            <a:r>
              <a:rPr lang="en" dirty="0"/>
              <a:t>Authorization: Bearer ...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Backend </a:t>
            </a:r>
            <a:r>
              <a:rPr lang="ru-RU" dirty="0"/>
              <a:t>проверяет подпись и читает данные из </a:t>
            </a:r>
            <a:r>
              <a:rPr lang="en" dirty="0"/>
              <a:t>token </a:t>
            </a:r>
            <a:r>
              <a:rPr lang="ru-RU" dirty="0"/>
              <a:t>без поиска </a:t>
            </a:r>
            <a:r>
              <a:rPr lang="en" dirty="0"/>
              <a:t>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dirty="0"/>
              <a:t>Access + refresh tokens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Access token </a:t>
            </a:r>
            <a:r>
              <a:rPr lang="ru-RU" dirty="0"/>
              <a:t>живет недолго и используется для </a:t>
            </a:r>
            <a:r>
              <a:rPr lang="en" dirty="0"/>
              <a:t>API-</a:t>
            </a:r>
            <a:r>
              <a:rPr lang="ru-RU" dirty="0"/>
              <a:t>запросов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Refresh token </a:t>
            </a:r>
            <a:r>
              <a:rPr lang="ru-RU" dirty="0"/>
              <a:t>живет дольше и нужен для получения нового </a:t>
            </a:r>
            <a:r>
              <a:rPr lang="en" dirty="0"/>
              <a:t>access token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Refresh token </a:t>
            </a:r>
            <a:r>
              <a:rPr lang="ru-RU" dirty="0"/>
              <a:t>часто хранят в </a:t>
            </a:r>
            <a:r>
              <a:rPr lang="en" dirty="0" err="1"/>
              <a:t>httpOnly</a:t>
            </a:r>
            <a:r>
              <a:rPr lang="en" dirty="0"/>
              <a:t> cookie </a:t>
            </a:r>
            <a:r>
              <a:rPr lang="ru-RU" dirty="0"/>
              <a:t>или серверном хранилище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dirty="0"/>
              <a:t>Cookie-based auth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dirty="0"/>
              <a:t>Browser </a:t>
            </a:r>
            <a:r>
              <a:rPr lang="ru-RU" dirty="0"/>
              <a:t>автоматически отправляет </a:t>
            </a:r>
            <a:r>
              <a:rPr lang="en" dirty="0"/>
              <a:t>cookie </a:t>
            </a:r>
            <a:r>
              <a:rPr lang="ru-RU" dirty="0"/>
              <a:t>на </a:t>
            </a:r>
            <a:r>
              <a:rPr lang="en" dirty="0"/>
              <a:t>backend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В </a:t>
            </a:r>
            <a:r>
              <a:rPr lang="en" dirty="0"/>
              <a:t>cookie </a:t>
            </a:r>
            <a:r>
              <a:rPr lang="ru-RU" dirty="0"/>
              <a:t>может лежать </a:t>
            </a:r>
            <a:r>
              <a:rPr lang="en" dirty="0" err="1"/>
              <a:t>session_id</a:t>
            </a:r>
            <a:r>
              <a:rPr lang="en" dirty="0"/>
              <a:t> </a:t>
            </a:r>
            <a:r>
              <a:rPr lang="ru-RU" dirty="0"/>
              <a:t>или </a:t>
            </a:r>
            <a:r>
              <a:rPr lang="en" dirty="0"/>
              <a:t>token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Требует настройки </a:t>
            </a:r>
            <a:r>
              <a:rPr lang="en" dirty="0" err="1"/>
              <a:t>httpOnly</a:t>
            </a:r>
            <a:r>
              <a:rPr lang="en" dirty="0"/>
              <a:t>, secure, </a:t>
            </a:r>
            <a:r>
              <a:rPr lang="en" dirty="0" err="1"/>
              <a:t>sameSite</a:t>
            </a:r>
            <a:r>
              <a:rPr lang="en" dirty="0"/>
              <a:t> </a:t>
            </a:r>
            <a:r>
              <a:rPr lang="ru-RU" dirty="0"/>
              <a:t>и защиты от </a:t>
            </a:r>
            <a:r>
              <a:rPr lang="en" dirty="0"/>
              <a:t>CSRF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504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1644E-4289-88CB-7926-6FA3209A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014645-A211-0106-A7FF-B65F89737802}"/>
              </a:ext>
            </a:extLst>
          </p:cNvPr>
          <p:cNvSpPr txBox="1"/>
          <p:nvPr/>
        </p:nvSpPr>
        <p:spPr>
          <a:xfrm>
            <a:off x="470913" y="353287"/>
            <a:ext cx="122822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JWT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7AD922-BFE8-73F0-ACB7-3180927E43B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4CBEAB-66A2-37A4-8121-4ECE1D0F2E85}"/>
              </a:ext>
            </a:extLst>
          </p:cNvPr>
          <p:cNvSpPr txBox="1"/>
          <p:nvPr/>
        </p:nvSpPr>
        <p:spPr>
          <a:xfrm>
            <a:off x="470913" y="1120676"/>
            <a:ext cx="106501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JWT — </a:t>
            </a:r>
            <a:r>
              <a:rPr lang="ru-RU" sz="2400" dirty="0"/>
              <a:t>подписанный </a:t>
            </a:r>
            <a:r>
              <a:rPr lang="en" sz="2400" dirty="0"/>
              <a:t>token, </a:t>
            </a:r>
            <a:r>
              <a:rPr lang="ru-RU" sz="2400" dirty="0"/>
              <a:t>который </a:t>
            </a:r>
            <a:r>
              <a:rPr lang="en" sz="2400" dirty="0"/>
              <a:t>backend </a:t>
            </a:r>
            <a:r>
              <a:rPr lang="ru-RU" sz="2400" dirty="0"/>
              <a:t>выдает после успешного </a:t>
            </a:r>
            <a:r>
              <a:rPr lang="en" sz="2400" dirty="0"/>
              <a:t>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Token </a:t>
            </a:r>
            <a:r>
              <a:rPr lang="ru-RU" sz="2400" dirty="0"/>
              <a:t>обычно состоит из трех частей: </a:t>
            </a:r>
            <a:r>
              <a:rPr lang="en" sz="2400" dirty="0" err="1"/>
              <a:t>header.payload.signature</a:t>
            </a: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Header </a:t>
            </a:r>
            <a:r>
              <a:rPr lang="ru-RU" sz="2400" dirty="0"/>
              <a:t>описывает тип токена и алгоритм подписи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Payload </a:t>
            </a:r>
            <a:r>
              <a:rPr lang="ru-RU" sz="2400" dirty="0"/>
              <a:t>хранит </a:t>
            </a:r>
            <a:r>
              <a:rPr lang="en" sz="2400" dirty="0"/>
              <a:t>claims: </a:t>
            </a:r>
            <a:r>
              <a:rPr lang="en" sz="2400" dirty="0" err="1"/>
              <a:t>userId</a:t>
            </a:r>
            <a:r>
              <a:rPr lang="en" sz="2400" dirty="0"/>
              <a:t>, role, exp, </a:t>
            </a:r>
            <a:r>
              <a:rPr lang="en" sz="2400" dirty="0" err="1"/>
              <a:t>iat</a:t>
            </a:r>
            <a:r>
              <a:rPr lang="en" sz="2400" dirty="0"/>
              <a:t> </a:t>
            </a:r>
            <a:r>
              <a:rPr lang="ru-RU" sz="2400" dirty="0"/>
              <a:t>и другие данные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Signature </a:t>
            </a:r>
            <a:r>
              <a:rPr lang="ru-RU" sz="2400" dirty="0"/>
              <a:t>защищает </a:t>
            </a:r>
            <a:r>
              <a:rPr lang="en" sz="2400" dirty="0"/>
              <a:t>token </a:t>
            </a:r>
            <a:r>
              <a:rPr lang="ru-RU" sz="2400" dirty="0"/>
              <a:t>от подмены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JWT </a:t>
            </a:r>
            <a:r>
              <a:rPr lang="ru-RU" sz="2400" dirty="0"/>
              <a:t>можно прочитать, но нельзя безопасно изменить без </a:t>
            </a:r>
            <a:r>
              <a:rPr lang="en" sz="2400" dirty="0"/>
              <a:t>secret/private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Backend </a:t>
            </a:r>
            <a:r>
              <a:rPr lang="ru-RU" sz="2400" dirty="0"/>
              <a:t>не обязан хранить </a:t>
            </a:r>
            <a:r>
              <a:rPr lang="en" sz="2400" dirty="0"/>
              <a:t>access token </a:t>
            </a:r>
            <a:r>
              <a:rPr lang="ru-RU" sz="2400" dirty="0"/>
              <a:t>у себя: он проверяет подпись и срок жизни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Клиент хранит </a:t>
            </a:r>
            <a:r>
              <a:rPr lang="en" sz="2400" dirty="0"/>
              <a:t>JWT </a:t>
            </a:r>
            <a:r>
              <a:rPr lang="ru-RU" sz="2400" dirty="0"/>
              <a:t>и отправляет его в следующих запросах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Обычно </a:t>
            </a:r>
            <a:r>
              <a:rPr lang="en" sz="2400" dirty="0"/>
              <a:t>JWT </a:t>
            </a:r>
            <a:r>
              <a:rPr lang="ru-RU" sz="2400" dirty="0"/>
              <a:t>отправляют в </a:t>
            </a:r>
            <a:r>
              <a:rPr lang="en" sz="2400" dirty="0"/>
              <a:t>header: Authorization: Bearer &lt;token&gt;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2735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F52D0-18A1-3297-C4BB-C48391EC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651EB3-E390-6717-918B-9826D5641805}"/>
              </a:ext>
            </a:extLst>
          </p:cNvPr>
          <p:cNvSpPr txBox="1"/>
          <p:nvPr/>
        </p:nvSpPr>
        <p:spPr>
          <a:xfrm>
            <a:off x="470913" y="353287"/>
            <a:ext cx="659142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Authorization </a:t>
            </a:r>
            <a:r>
              <a:rPr lang="ru-RU" sz="4800" dirty="0">
                <a:solidFill>
                  <a:srgbClr val="1C1B1B"/>
                </a:solidFill>
              </a:rPr>
              <a:t>на </a:t>
            </a:r>
            <a:r>
              <a:rPr lang="en-US" sz="4800" dirty="0">
                <a:solidFill>
                  <a:srgbClr val="1C1B1B"/>
                </a:solidFill>
              </a:rPr>
              <a:t>backend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CF86C4-C29E-428F-B38C-DBCEF558F69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4A32CE-A0A4-E9ED-7C8B-B86C40476973}"/>
              </a:ext>
            </a:extLst>
          </p:cNvPr>
          <p:cNvSpPr txBox="1"/>
          <p:nvPr/>
        </p:nvSpPr>
        <p:spPr>
          <a:xfrm>
            <a:off x="470913" y="1120676"/>
            <a:ext cx="106501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Запрос приходит на защищенный </a:t>
            </a:r>
            <a:r>
              <a:rPr lang="en" sz="2400" dirty="0"/>
              <a:t>endpoint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Backend </a:t>
            </a:r>
            <a:r>
              <a:rPr lang="ru-RU" sz="2400" dirty="0"/>
              <a:t>проверяет </a:t>
            </a:r>
            <a:r>
              <a:rPr lang="en" sz="2400" dirty="0"/>
              <a:t>authentication: </a:t>
            </a:r>
            <a:r>
              <a:rPr lang="ru-RU" sz="2400" dirty="0"/>
              <a:t>есть ли валидная </a:t>
            </a:r>
            <a:r>
              <a:rPr lang="en" sz="2400" dirty="0"/>
              <a:t>session/JWT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Из </a:t>
            </a:r>
            <a:r>
              <a:rPr lang="en" sz="2400" dirty="0"/>
              <a:t>session/JWT </a:t>
            </a:r>
            <a:r>
              <a:rPr lang="ru-RU" sz="2400" dirty="0"/>
              <a:t>определяется текущий пользователь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Backend </a:t>
            </a:r>
            <a:r>
              <a:rPr lang="ru-RU" sz="2400" dirty="0"/>
              <a:t>понимает, какое действие хочет выполнить пользователь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Backend </a:t>
            </a:r>
            <a:r>
              <a:rPr lang="ru-RU" sz="2400" dirty="0"/>
              <a:t>загружает нужный ресурс, если права зависят от конкретной записи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Проверяются роли, </a:t>
            </a:r>
            <a:r>
              <a:rPr lang="en" sz="2400" dirty="0"/>
              <a:t>permissions </a:t>
            </a:r>
            <a:r>
              <a:rPr lang="ru-RU" sz="2400" dirty="0"/>
              <a:t>или </a:t>
            </a:r>
            <a:r>
              <a:rPr lang="en" sz="2400" dirty="0"/>
              <a:t>ownership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пользователь не вошел — 401 </a:t>
            </a:r>
            <a:r>
              <a:rPr lang="en" sz="2400" dirty="0"/>
              <a:t>Unauthorized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пользователь вошел, но прав недостаточно — 403 </a:t>
            </a:r>
            <a:r>
              <a:rPr lang="en" sz="2400" dirty="0"/>
              <a:t>Forbidden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проверка пройдена, </a:t>
            </a:r>
            <a:r>
              <a:rPr lang="en" sz="2400" dirty="0"/>
              <a:t>backend </a:t>
            </a:r>
            <a:r>
              <a:rPr lang="ru-RU" sz="2400" dirty="0"/>
              <a:t>выполняет </a:t>
            </a:r>
            <a:r>
              <a:rPr lang="en" sz="2400" dirty="0"/>
              <a:t>handler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8819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31891-D4C9-4C00-7F2B-464D3E68F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E7B69B-BEDD-56CF-0A3E-8EAC16DF0DE8}"/>
              </a:ext>
            </a:extLst>
          </p:cNvPr>
          <p:cNvSpPr txBox="1"/>
          <p:nvPr/>
        </p:nvSpPr>
        <p:spPr>
          <a:xfrm>
            <a:off x="470913" y="353287"/>
            <a:ext cx="116230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Код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EC4FD4-3613-258A-1369-5167EB2FCB7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F03F5A-2512-450F-FADA-6FB54262B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6" y="1110417"/>
            <a:ext cx="7772400" cy="488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43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5971D-CF1A-8296-42A4-EAC2C148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F5CA41-C0C0-AE33-ECFC-0666284B31C3}"/>
              </a:ext>
            </a:extLst>
          </p:cNvPr>
          <p:cNvSpPr txBox="1"/>
          <p:nvPr/>
        </p:nvSpPr>
        <p:spPr>
          <a:xfrm>
            <a:off x="470913" y="353287"/>
            <a:ext cx="668836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Authorization </a:t>
            </a:r>
            <a:r>
              <a:rPr lang="ru-RU" sz="4800" dirty="0">
                <a:solidFill>
                  <a:srgbClr val="1C1B1B"/>
                </a:solidFill>
              </a:rPr>
              <a:t>на </a:t>
            </a:r>
            <a:r>
              <a:rPr lang="en-US" sz="4800" dirty="0">
                <a:solidFill>
                  <a:srgbClr val="1C1B1B"/>
                </a:solidFill>
              </a:rPr>
              <a:t>frontend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D3AE6C-C946-1F57-CA6D-08F7BA7F9A47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7A53A6-0772-69FA-3CD2-E36C677D30F2}"/>
              </a:ext>
            </a:extLst>
          </p:cNvPr>
          <p:cNvSpPr txBox="1"/>
          <p:nvPr/>
        </p:nvSpPr>
        <p:spPr>
          <a:xfrm>
            <a:off x="470913" y="1120676"/>
            <a:ext cx="106501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Frontend </a:t>
            </a:r>
            <a:r>
              <a:rPr lang="ru-RU" sz="2400" dirty="0"/>
              <a:t>получает информацию о пользователе после </a:t>
            </a:r>
            <a:r>
              <a:rPr lang="en" sz="2400" dirty="0"/>
              <a:t>login </a:t>
            </a:r>
            <a:r>
              <a:rPr lang="ru-RU" sz="2400" dirty="0"/>
              <a:t>или через /</a:t>
            </a:r>
            <a:r>
              <a:rPr lang="en" sz="2400" dirty="0"/>
              <a:t>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 </a:t>
            </a:r>
            <a:r>
              <a:rPr lang="en" sz="2400" dirty="0"/>
              <a:t>auth state </a:t>
            </a:r>
            <a:r>
              <a:rPr lang="ru-RU" sz="2400" dirty="0"/>
              <a:t>хранятся роль, </a:t>
            </a:r>
            <a:r>
              <a:rPr lang="en" sz="2400" dirty="0"/>
              <a:t>permissions </a:t>
            </a:r>
            <a:r>
              <a:rPr lang="ru-RU" sz="2400" dirty="0"/>
              <a:t>и статус входа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Router </a:t>
            </a:r>
            <a:r>
              <a:rPr lang="ru-RU" sz="2400" dirty="0"/>
              <a:t>проверяет, можно ли открыть защищенную страницу – можно использовать вложенные </a:t>
            </a:r>
            <a:r>
              <a:rPr lang="en-US" sz="2400" dirty="0"/>
              <a:t>layout </a:t>
            </a:r>
            <a:r>
              <a:rPr lang="ru-RU" sz="2400" dirty="0"/>
              <a:t>для этого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UI </a:t>
            </a:r>
            <a:r>
              <a:rPr lang="ru-RU" sz="2400" dirty="0"/>
              <a:t>скрывает или блокирует недоступные кнопки и действия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Компоненты могут проверять </a:t>
            </a:r>
            <a:r>
              <a:rPr lang="en" sz="2400" dirty="0"/>
              <a:t>permissions </a:t>
            </a:r>
            <a:r>
              <a:rPr lang="ru-RU" sz="2400" dirty="0"/>
              <a:t>перед рендером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 401 </a:t>
            </a:r>
            <a:r>
              <a:rPr lang="en" sz="2400" dirty="0"/>
              <a:t>frontend </a:t>
            </a:r>
            <a:r>
              <a:rPr lang="ru-RU" sz="2400" dirty="0"/>
              <a:t>переводит пользователя на </a:t>
            </a:r>
            <a:r>
              <a:rPr lang="en" sz="2400" dirty="0"/>
              <a:t>login </a:t>
            </a:r>
            <a:r>
              <a:rPr lang="ru-RU" sz="2400" dirty="0"/>
              <a:t>или запускает </a:t>
            </a:r>
            <a:r>
              <a:rPr lang="en" sz="2400" dirty="0"/>
              <a:t>refresh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 403 показывает экран «нет доступа» или скрывает конкретное действие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Frontend-</a:t>
            </a:r>
            <a:r>
              <a:rPr lang="ru-RU" sz="2400" dirty="0"/>
              <a:t>проверки нужны для удобства пользователя, но не заменяют </a:t>
            </a:r>
            <a:r>
              <a:rPr lang="en" sz="2400" dirty="0"/>
              <a:t>backend authorization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1571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8CAF7-D735-E99E-5934-10E52794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6EFEB2-9FE2-BF9F-7F81-C3026A46A398}"/>
              </a:ext>
            </a:extLst>
          </p:cNvPr>
          <p:cNvSpPr txBox="1"/>
          <p:nvPr/>
        </p:nvSpPr>
        <p:spPr>
          <a:xfrm>
            <a:off x="470913" y="353287"/>
            <a:ext cx="825245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Frontend </a:t>
            </a:r>
            <a:r>
              <a:rPr lang="ru-RU" sz="4800" dirty="0">
                <a:solidFill>
                  <a:srgbClr val="1C1B1B"/>
                </a:solidFill>
              </a:rPr>
              <a:t>– защищенные </a:t>
            </a:r>
            <a:r>
              <a:rPr lang="ru-RU" sz="4800" dirty="0" err="1">
                <a:solidFill>
                  <a:srgbClr val="1C1B1B"/>
                </a:solidFill>
              </a:rPr>
              <a:t>роуты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C27F00-FA0A-4F1B-FE7D-C4C1BE1AF6DA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8D3A6B-C1F8-DC5D-6BAD-746288A7C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3" y="1110417"/>
            <a:ext cx="6296864" cy="28437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6E16C0-4FED-1386-21E5-6963B4168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817" y="3327480"/>
            <a:ext cx="6971270" cy="304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8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64731-AAFD-512B-5121-A0A13AE0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D24AD5-F6F2-E5CF-35D3-31CF899D5E53}"/>
              </a:ext>
            </a:extLst>
          </p:cNvPr>
          <p:cNvSpPr txBox="1"/>
          <p:nvPr/>
        </p:nvSpPr>
        <p:spPr>
          <a:xfrm>
            <a:off x="470913" y="353287"/>
            <a:ext cx="621195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Frontend </a:t>
            </a:r>
            <a:r>
              <a:rPr lang="ru-RU" sz="4800" dirty="0">
                <a:solidFill>
                  <a:srgbClr val="1C1B1B"/>
                </a:solidFill>
              </a:rPr>
              <a:t>– </a:t>
            </a:r>
            <a:r>
              <a:rPr lang="en-US" sz="4800" dirty="0">
                <a:solidFill>
                  <a:srgbClr val="1C1B1B"/>
                </a:solidFill>
              </a:rPr>
              <a:t>access token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3A0FC1-BE88-7623-2BAB-8B367905D999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C160C6-2253-D6AF-5FCC-A6C910DE9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3" y="1110417"/>
            <a:ext cx="7772400" cy="26465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E33E4B-05C6-330D-D520-C6F63A323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314" y="3160900"/>
            <a:ext cx="6252070" cy="357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13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FD31E-2BF2-D9A5-9D1F-9971F6991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796256-A534-856C-B075-C43D0182ABAE}"/>
              </a:ext>
            </a:extLst>
          </p:cNvPr>
          <p:cNvSpPr txBox="1"/>
          <p:nvPr/>
        </p:nvSpPr>
        <p:spPr>
          <a:xfrm>
            <a:off x="470913" y="353287"/>
            <a:ext cx="232146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Ошибки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065622-4A6C-F3B4-36F5-2344B6D3BFF6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FC59C4-998D-ABD4-8887-4FCF78963357}"/>
              </a:ext>
            </a:extLst>
          </p:cNvPr>
          <p:cNvSpPr txBox="1"/>
          <p:nvPr/>
        </p:nvSpPr>
        <p:spPr>
          <a:xfrm>
            <a:off x="939115" y="1260389"/>
            <a:ext cx="90204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Backend </a:t>
            </a:r>
            <a:r>
              <a:rPr lang="ru-RU" sz="2000" dirty="0"/>
              <a:t>определяет причину ошибки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нет валидной </a:t>
            </a:r>
            <a:r>
              <a:rPr lang="en" sz="2000" dirty="0"/>
              <a:t>session/JWT — </a:t>
            </a:r>
            <a:r>
              <a:rPr lang="ru-RU" sz="2000" dirty="0"/>
              <a:t>возвращает 401 </a:t>
            </a:r>
            <a:r>
              <a:rPr lang="en" sz="2000" dirty="0"/>
              <a:t>Unauthorized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пользователь валиден, но прав недостаточно — возвращает 403 </a:t>
            </a:r>
            <a:r>
              <a:rPr lang="en" sz="2000" dirty="0"/>
              <a:t>Forbidden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ресурс не найден или его нельзя раскрывать — может вернуть 404 </a:t>
            </a:r>
            <a:r>
              <a:rPr lang="en" sz="2000" dirty="0"/>
              <a:t>Not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Backend </a:t>
            </a:r>
            <a:r>
              <a:rPr lang="ru-RU" sz="2000" dirty="0"/>
              <a:t>должен возвращать единый формат ошибки: </a:t>
            </a:r>
            <a:r>
              <a:rPr lang="en" sz="2000" dirty="0"/>
              <a:t>code, message, </a:t>
            </a:r>
            <a:r>
              <a:rPr lang="ru-RU" sz="2000" dirty="0"/>
              <a:t>детали при необходимости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Frontend </a:t>
            </a:r>
            <a:r>
              <a:rPr lang="ru-RU" sz="2000" dirty="0"/>
              <a:t>интерпретирует ошибку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 401 — отправляет на </a:t>
            </a:r>
            <a:r>
              <a:rPr lang="en" sz="2000" dirty="0"/>
              <a:t>login </a:t>
            </a:r>
            <a:r>
              <a:rPr lang="ru-RU" sz="2000" dirty="0"/>
              <a:t>или запускает </a:t>
            </a:r>
            <a:r>
              <a:rPr lang="en" sz="2000" dirty="0"/>
              <a:t>refresh token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 403 — показывает «нет доступа» или блокирует действие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 404 — показывает «не найдено»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Frontend </a:t>
            </a:r>
            <a:r>
              <a:rPr lang="ru-RU" sz="2000" dirty="0"/>
              <a:t>не должен угадывать права вместо </a:t>
            </a:r>
            <a:r>
              <a:rPr lang="en" sz="2000" dirty="0"/>
              <a:t>backend, </a:t>
            </a:r>
            <a:r>
              <a:rPr lang="ru-RU" sz="2000" dirty="0"/>
              <a:t>он только реагирует на ответ</a:t>
            </a:r>
          </a:p>
        </p:txBody>
      </p:sp>
    </p:spTree>
    <p:extLst>
      <p:ext uri="{BB962C8B-B14F-4D97-AF65-F5344CB8AC3E}">
        <p14:creationId xmlns:p14="http://schemas.microsoft.com/office/powerpoint/2010/main" val="2654819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EEEEE-EAE1-7EC3-FE3D-1A7EA2B6B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F226A4-9C84-734B-6025-69D95E40D994}"/>
              </a:ext>
            </a:extLst>
          </p:cNvPr>
          <p:cNvSpPr txBox="1"/>
          <p:nvPr/>
        </p:nvSpPr>
        <p:spPr>
          <a:xfrm>
            <a:off x="470913" y="353287"/>
            <a:ext cx="474495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refresh token flow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D54D1-24C1-4879-5E01-3218A474784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03DB8-5ACF-1FD7-0814-635EE2BF83BA}"/>
              </a:ext>
            </a:extLst>
          </p:cNvPr>
          <p:cNvSpPr txBox="1"/>
          <p:nvPr/>
        </p:nvSpPr>
        <p:spPr>
          <a:xfrm>
            <a:off x="939115" y="1260389"/>
            <a:ext cx="902043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Backend </a:t>
            </a:r>
            <a:r>
              <a:rPr lang="ru-RU" sz="2000" dirty="0"/>
              <a:t>выдает два токена после </a:t>
            </a:r>
            <a:r>
              <a:rPr lang="en" sz="2000" dirty="0"/>
              <a:t>login: </a:t>
            </a:r>
            <a:r>
              <a:rPr lang="ru-RU" sz="2000" dirty="0"/>
              <a:t>короткий </a:t>
            </a:r>
            <a:r>
              <a:rPr lang="en" sz="2000" dirty="0"/>
              <a:t>access token </a:t>
            </a:r>
            <a:r>
              <a:rPr lang="ru-RU" sz="2000" dirty="0"/>
              <a:t>и более долгий </a:t>
            </a:r>
            <a:r>
              <a:rPr lang="en" sz="2000" dirty="0"/>
              <a:t>refresh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Frontend </a:t>
            </a:r>
            <a:r>
              <a:rPr lang="ru-RU" sz="2000" dirty="0"/>
              <a:t>использует </a:t>
            </a:r>
            <a:r>
              <a:rPr lang="en" sz="2000" dirty="0"/>
              <a:t>access token </a:t>
            </a:r>
            <a:r>
              <a:rPr lang="ru-RU" sz="2000" dirty="0"/>
              <a:t>для обычных </a:t>
            </a:r>
            <a:r>
              <a:rPr lang="en" sz="2000" dirty="0"/>
              <a:t>API-</a:t>
            </a:r>
            <a:r>
              <a:rPr lang="ru-RU" sz="2000" dirty="0"/>
              <a:t>запросов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Когда </a:t>
            </a:r>
            <a:r>
              <a:rPr lang="en" sz="2000" dirty="0"/>
              <a:t>access token </a:t>
            </a:r>
            <a:r>
              <a:rPr lang="ru-RU" sz="2000" dirty="0"/>
              <a:t>истекает, </a:t>
            </a:r>
            <a:r>
              <a:rPr lang="en" sz="2000" dirty="0"/>
              <a:t>backend </a:t>
            </a:r>
            <a:r>
              <a:rPr lang="ru-RU" sz="2000" dirty="0"/>
              <a:t>возвращает 401 </a:t>
            </a:r>
            <a:r>
              <a:rPr lang="en" sz="2000" dirty="0"/>
              <a:t>Unauthorized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Frontend </a:t>
            </a:r>
            <a:r>
              <a:rPr lang="ru-RU" sz="2000" dirty="0"/>
              <a:t>отправляет запрос на /</a:t>
            </a:r>
            <a:r>
              <a:rPr lang="en" sz="2000" dirty="0"/>
              <a:t>auth/refresh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Backend </a:t>
            </a:r>
            <a:r>
              <a:rPr lang="ru-RU" sz="2000" dirty="0"/>
              <a:t>проверяет </a:t>
            </a:r>
            <a:r>
              <a:rPr lang="en" sz="2000" dirty="0"/>
              <a:t>refresh token: </a:t>
            </a:r>
            <a:r>
              <a:rPr lang="ru-RU" sz="2000" dirty="0"/>
              <a:t>подпись, срок жизни, наличие в хранилище или </a:t>
            </a:r>
            <a:r>
              <a:rPr lang="en" sz="2000" dirty="0"/>
              <a:t>revoke-list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</a:t>
            </a:r>
            <a:r>
              <a:rPr lang="en" sz="2000" dirty="0"/>
              <a:t>refresh token </a:t>
            </a:r>
            <a:r>
              <a:rPr lang="ru-RU" sz="2000" dirty="0"/>
              <a:t>валиден, </a:t>
            </a:r>
            <a:r>
              <a:rPr lang="en" sz="2000" dirty="0"/>
              <a:t>backend </a:t>
            </a:r>
            <a:r>
              <a:rPr lang="ru-RU" sz="2000" dirty="0"/>
              <a:t>выдает новый </a:t>
            </a:r>
            <a:r>
              <a:rPr lang="en" sz="2000" dirty="0"/>
              <a:t>access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Frontend </a:t>
            </a:r>
            <a:r>
              <a:rPr lang="ru-RU" sz="2000" dirty="0"/>
              <a:t>повторяет исходный запрос уже с новым </a:t>
            </a:r>
            <a:r>
              <a:rPr lang="en" sz="2000" dirty="0"/>
              <a:t>access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</a:t>
            </a:r>
            <a:r>
              <a:rPr lang="en" sz="2000" dirty="0"/>
              <a:t>refresh token </a:t>
            </a:r>
            <a:r>
              <a:rPr lang="ru-RU" sz="2000" dirty="0" err="1"/>
              <a:t>невалиден</a:t>
            </a:r>
            <a:r>
              <a:rPr lang="ru-RU" sz="2000" dirty="0"/>
              <a:t> или истек, </a:t>
            </a:r>
            <a:r>
              <a:rPr lang="en" sz="2000" dirty="0"/>
              <a:t>frontend </a:t>
            </a:r>
            <a:r>
              <a:rPr lang="ru-RU" sz="2000" dirty="0"/>
              <a:t>очищает </a:t>
            </a:r>
            <a:r>
              <a:rPr lang="en" sz="2000" dirty="0"/>
              <a:t>auth state </a:t>
            </a:r>
            <a:r>
              <a:rPr lang="ru-RU" sz="2000" dirty="0"/>
              <a:t>и отправляет пользователя на </a:t>
            </a:r>
            <a:r>
              <a:rPr lang="en" sz="2000" dirty="0"/>
              <a:t>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При </a:t>
            </a:r>
            <a:r>
              <a:rPr lang="en" sz="2000" dirty="0"/>
              <a:t>logout backend </a:t>
            </a:r>
            <a:r>
              <a:rPr lang="ru-RU" sz="2000" dirty="0" err="1"/>
              <a:t>инвалидирует</a:t>
            </a:r>
            <a:r>
              <a:rPr lang="ru-RU" sz="2000" dirty="0"/>
              <a:t> </a:t>
            </a:r>
            <a:r>
              <a:rPr lang="en" sz="2000" dirty="0"/>
              <a:t>refresh token, </a:t>
            </a:r>
            <a:r>
              <a:rPr lang="ru-RU" sz="2000" dirty="0"/>
              <a:t>а </a:t>
            </a:r>
            <a:r>
              <a:rPr lang="en" sz="2000" dirty="0"/>
              <a:t>frontend </a:t>
            </a:r>
            <a:r>
              <a:rPr lang="ru-RU" sz="2000" dirty="0"/>
              <a:t>очищает локальное состояние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Важно - </a:t>
            </a:r>
            <a:r>
              <a:rPr lang="en" sz="2000" dirty="0"/>
              <a:t>refresh token</a:t>
            </a:r>
            <a:r>
              <a:rPr lang="ru-RU" sz="2000" dirty="0"/>
              <a:t> только </a:t>
            </a:r>
            <a:r>
              <a:rPr lang="en-US" sz="2000" dirty="0" err="1"/>
              <a:t>httpOnly</a:t>
            </a:r>
            <a:r>
              <a:rPr lang="en-US" sz="2000" dirty="0"/>
              <a:t> cookie </a:t>
            </a:r>
            <a:r>
              <a:rPr lang="ru-RU" sz="2000" dirty="0"/>
              <a:t>для </a:t>
            </a:r>
            <a:r>
              <a:rPr lang="ru-RU" sz="2000" dirty="0" err="1"/>
              <a:t>безопастности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 основе </a:t>
            </a:r>
            <a:r>
              <a:rPr lang="en" sz="2000" dirty="0"/>
              <a:t>refresh token</a:t>
            </a:r>
            <a:r>
              <a:rPr lang="ru-RU" sz="2000" dirty="0"/>
              <a:t> можно контролировать количество активных сессий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41005454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2720</TotalTime>
  <Words>922</Words>
  <Application>Microsoft Macintosh PowerPoint</Application>
  <PresentationFormat>Широкоэкранный</PresentationFormat>
  <Paragraphs>130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54</cp:revision>
  <dcterms:created xsi:type="dcterms:W3CDTF">2025-12-16T07:08:32Z</dcterms:created>
  <dcterms:modified xsi:type="dcterms:W3CDTF">2026-06-23T16:49:56Z</dcterms:modified>
</cp:coreProperties>
</file>